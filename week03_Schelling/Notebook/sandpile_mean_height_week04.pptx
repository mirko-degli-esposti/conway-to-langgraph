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BTW Sandpile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Mean Height  ⟨z⟩∞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578608"/>
            <a:ext cx="502920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simulation to spanning trees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Bak, Tang &amp; Wiesenfeld (1987)  ·  </a:t>
            </a:r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Priezzhev (1994)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puzzle: simulation vs. naive estimate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Bak, Tang &amp; Wiesenfeld, Phys. Rev. Lett. 59, 381 (1987)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749040" cy="338328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329184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⟨z⟩sim ≈ 2.100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2395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100×100 grid, steady state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Heights z ∈ {0, 1, 2, 3}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boundary conditions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00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grain added per step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097280"/>
            <a:ext cx="3749040" cy="338328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261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estimate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57800" y="1572768"/>
            <a:ext cx="3291840" cy="27432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⟨z⟩naive = 1.5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03520" y="23957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uniform distribution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all values {0, 1, 2, 3}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29992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 + 1 + 2 + 3) / 4 = 1.5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0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all configs. are reachable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33088" y="2514600"/>
            <a:ext cx="877824" cy="2743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12848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20624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configurations — Majumdar &amp; Dhar (1992)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Majumdar &amp; Dhar, Physica A 185, 129 (1992)  ·  FSC characterization theorem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51760" cy="352044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0700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" y="1554480"/>
            <a:ext cx="2322576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66420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stationary distribution 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210312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over recurrent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54203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 ℛ  —  not over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298094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4^N² possible configs.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651760" cy="352044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20700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 configs. (FSC)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10712" y="1554480"/>
            <a:ext cx="2322576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66420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S of sites is forbidden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10712" y="210312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site i∈S has z(i) &lt;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10712" y="254203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neighbours of i in 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10712" y="298094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config. in ℛ contains an FSC.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051560"/>
            <a:ext cx="2651760" cy="352044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120700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heights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36792" y="1554480"/>
            <a:ext cx="2322576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1664208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with many z=0 or z=1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36792" y="210312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 to be FSC 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36792" y="254203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ℛ.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36792" y="2980944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shifts toward z=2,3.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4617720"/>
            <a:ext cx="8503920" cy="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no-FSC condition systematically excludes low-height configurations → ⟨z⟩ rises well above 1.5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 — Formal definition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Dhar, Phys. Rev. Lett. 64, 1613 (1990)  ·  Majumdar &amp; Dhar, Physica A 185, 129 (1992)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029200" cy="356616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070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(Forbidden Sub-Configuration)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4572000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642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 S ⊆ Λ  is an FSC if and only if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∀ i ∈ S :  z(i) &lt; |{ j ∈ S : j ~ i }|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33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j ~ i  denotes lattice adjacency.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3580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words: every site in S has fewer grains than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its neighbours that lie inside 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71246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configuration is recurrent ⟺ it contains no FSC.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1051560"/>
            <a:ext cx="3246120" cy="356616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12070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test (Dhar 1990)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79008" y="1554480"/>
            <a:ext cx="2834640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9008" y="16642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Add a sink node at the boundary.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79008" y="2331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Burn sites iteratively: burn 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if z(i) ≥ unburnt neighbours.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79008" y="29992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All burnt → recurrent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79008" y="3666744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Remaining S unburnable → S is FSC ✗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 — Examples on the 2D lattice  (z_crit = 4)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2D lattice each bulk site has 4 neighbours; boundary sites have 2 or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365760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{ i },  z(i) =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08176" y="2011680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08176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901952" y="2011680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01952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2505456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08176" y="2505456"/>
            <a:ext cx="475488" cy="475488"/>
          </a:xfrm>
          <a:prstGeom prst="rect">
            <a:avLst/>
          </a:prstGeom>
          <a:solidFill>
            <a:srgbClr val="EEFFEE"/>
          </a:solidFill>
          <a:ln w="19050">
            <a:solidFill>
              <a:srgbClr val="44AA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08176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A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901952" y="2505456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01952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408176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08176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901952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" y="3611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|{j ∈ S : j~i}|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z(i) = 0  &lt;  0  ?   NO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142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A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 an FSC — isolated site at 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4A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has no neighbours in 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08960" y="1051560"/>
            <a:ext cx="2743200" cy="365760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46120" y="15819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{ i, j },  z(i)=z(j)=0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66160" y="2011680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059936" y="2011680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59936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53712" y="2011680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53712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566160" y="2505456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59936" y="2505456"/>
            <a:ext cx="475488" cy="475488"/>
          </a:xfrm>
          <a:prstGeom prst="rect">
            <a:avLst/>
          </a:prstGeom>
          <a:solidFill>
            <a:srgbClr val="FFEEEE"/>
          </a:solidFill>
          <a:ln w="19050">
            <a:solidFill>
              <a:srgbClr val="CC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9936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53712" y="2505456"/>
            <a:ext cx="475488" cy="475488"/>
          </a:xfrm>
          <a:prstGeom prst="rect">
            <a:avLst/>
          </a:prstGeom>
          <a:solidFill>
            <a:srgbClr val="FFEEEE"/>
          </a:solidFill>
          <a:ln w="19050">
            <a:solidFill>
              <a:srgbClr val="CC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53712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566160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66160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059936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59936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553712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53712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246120" y="3611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|{j∈S:j~i}| = 1  for both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z(i)=0  &lt;  1 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z(j)=0  &lt;  1  ✓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246120" y="42336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Minimal FSC on the 2D lattice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852160" y="1051560"/>
            <a:ext cx="2926080" cy="365760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8932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989320" y="15819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2×2 cluster,  z=1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327648" y="2011680"/>
            <a:ext cx="475488" cy="475488"/>
          </a:xfrm>
          <a:prstGeom prst="rect">
            <a:avLst/>
          </a:prstGeom>
          <a:solidFill>
            <a:srgbClr val="FFEEEE"/>
          </a:solidFill>
          <a:ln w="19050">
            <a:solidFill>
              <a:srgbClr val="CC44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27648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821424" y="2011680"/>
            <a:ext cx="475488" cy="475488"/>
          </a:xfrm>
          <a:prstGeom prst="rect">
            <a:avLst/>
          </a:prstGeom>
          <a:solidFill>
            <a:srgbClr val="FFEEEE"/>
          </a:solidFill>
          <a:ln w="19050">
            <a:solidFill>
              <a:srgbClr val="CC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1424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15200" y="2011680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0" y="210312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27648" y="2505456"/>
            <a:ext cx="475488" cy="475488"/>
          </a:xfrm>
          <a:prstGeom prst="rect">
            <a:avLst/>
          </a:prstGeom>
          <a:solidFill>
            <a:srgbClr val="FFEEEE"/>
          </a:solidFill>
          <a:ln w="19050">
            <a:solidFill>
              <a:srgbClr val="CC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27648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821424" y="2505456"/>
            <a:ext cx="475488" cy="475488"/>
          </a:xfrm>
          <a:prstGeom prst="rect">
            <a:avLst/>
          </a:prstGeom>
          <a:solidFill>
            <a:srgbClr val="FFEEEE"/>
          </a:solidFill>
          <a:ln w="19050">
            <a:solidFill>
              <a:srgbClr val="CC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21424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C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315200" y="2505456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0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27648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27648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821424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821424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7315200" y="2999232"/>
            <a:ext cx="475488" cy="475488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0" y="309067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5989320" y="36118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Corner sites: 1 neighbour in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sites: 2 neighbours in 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z=1  &lt;  2  ✓  for edge sites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989320" y="42336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Connected cluster is forbidden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trees &amp; Green's function — Priezzhev (1994)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Priezzhev, J. Stat. Phys. 74, 955 (1994)  ·  Dhar, Phys. Rev. Lett. 64, 1613 (1990)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3977640" cy="356616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070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bijection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20440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ℛ  ←→  spanning trees of the graph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sink node at boundary (Dhar's theorem)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|ℛ| is computed via the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79806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Kirchhoff matrix-tree theorem: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8211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|ℛ| = det 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3694176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discrete Laplacian (Dirichlet boundary)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1051560"/>
            <a:ext cx="4343400" cy="356616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20700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via Green's function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554480"/>
            <a:ext cx="3886200" cy="22860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6916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⟨z⟩ over ℛ is obtained by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199339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differentiating log det Δ w.r.t. an auxiliary field.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29514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involves Catalan's constant: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6700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≈ 0.9159656  (Σ (-1)^k/(2k+1)²)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145536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height distributions: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4564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P(z=1) </a:t>
            </a:r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P(z=2) </a:t>
            </a:r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P(z=3)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7490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expressible in terms of G/π²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result and comparison with simulation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Priezzhev (1994)  ·  Finite-size corrections O(1/N) from boundary sites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1115568"/>
            <a:ext cx="4572000" cy="1417320"/>
          </a:xfrm>
          <a:prstGeom prst="rect">
            <a:avLst/>
          </a:prstGeom>
          <a:solidFill>
            <a:srgbClr val="F7F7F7"/>
          </a:solidFill>
          <a:ln w="1524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26187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⟨z⟩∞ ≈ 2.125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286000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thermodynamic limit  N → ∞   (Priezzhev, 1994)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697480"/>
            <a:ext cx="2651760" cy="210312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estimate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36392"/>
            <a:ext cx="2377440" cy="20117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186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4632" y="3749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distribution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{0,1,2,3}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43159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ignores ℛ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2697480"/>
            <a:ext cx="2651760" cy="210312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Priezzhev (1994)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0" y="3136392"/>
            <a:ext cx="2377440" cy="20117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2186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410712" y="3749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trees +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Green's function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10712" y="43159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exact (N→∞)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2697480"/>
            <a:ext cx="2651760" cy="2103120"/>
          </a:xfrm>
          <a:prstGeom prst="rect">
            <a:avLst/>
          </a:prstGeom>
          <a:solidFill>
            <a:srgbClr val="F7F7F7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3136392"/>
            <a:ext cx="2377440" cy="20117"/>
          </a:xfrm>
          <a:prstGeom prst="rect">
            <a:avLst/>
          </a:prstGeom>
          <a:solidFill>
            <a:srgbClr val="DEDED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2186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336792" y="3749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100×100 grid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36792" y="43159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finite-size effects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4681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2.125 → 2.100 reflects O(1/N) corrections: boundary sites have ⟨z⟩ systematically lower than the bulk value.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of depth — from statistical physics to combinatorics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 (1990)  ·  Majumdar &amp; Dhar (1992)  ·  Priezzhev (1994)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38404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247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124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1124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11247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11247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481328"/>
            <a:ext cx="8503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0934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argument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1609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⟨z⟩ &gt; 0, stationary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16093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16093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fix ⟨z⟩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139696"/>
            <a:ext cx="8503920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6771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22677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dist. over {0..3}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22677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⟨z⟩ = 1.5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2677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2677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wrong: ignores ℛ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798064"/>
            <a:ext cx="8503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92608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2926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No-FSC condition (Majumdar-Dhar)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108960" y="2926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⟨z⟩ &gt; 1.5, pushed upward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2926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456432"/>
            <a:ext cx="8503920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58444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" y="35844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trees + Green's function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108960" y="35844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⟨z⟩∞ ≈ 2.125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3584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3584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(Priezzhev 1994)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4114800"/>
            <a:ext cx="85039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24281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8368" y="4242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simulation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108960" y="42428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⟨z⟩ ≈ 2.100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0" y="42428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58000" y="42428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size N=100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BTW Sandpile — Steady-State Mean Height</dc:title>
  <dc:subject>PptxGenJS Presentation</dc:subject>
  <dc:creator>PptxGenJS</dc:creator>
  <cp:lastModifiedBy>PptxGenJS</cp:lastModifiedBy>
  <cp:revision>1</cp:revision>
  <dcterms:created xsi:type="dcterms:W3CDTF">2026-03-17T14:25:13Z</dcterms:created>
  <dcterms:modified xsi:type="dcterms:W3CDTF">2026-03-17T14:25:13Z</dcterms:modified>
</cp:coreProperties>
</file>