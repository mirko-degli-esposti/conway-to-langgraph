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Titolo Testo</a:t>
            </a:r>
          </a:p>
        </p:txBody>
      </p:sp>
      <p:sp>
        <p:nvSpPr>
          <p:cNvPr id="3" name="Corpo livello uno…"/>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20" name="Shape 0"/>
          <p:cNvSpPr/>
          <p:nvPr/>
        </p:nvSpPr>
        <p:spPr>
          <a:xfrm>
            <a:off x="4164143" y="2665515"/>
            <a:ext cx="109729" cy="109729"/>
          </a:xfrm>
          <a:prstGeom prst="rect">
            <a:avLst/>
          </a:prstGeom>
          <a:solidFill>
            <a:srgbClr val="4A9ECC">
              <a:alpha val="15000"/>
            </a:srgbClr>
          </a:solidFill>
          <a:ln w="12700">
            <a:miter lim="400000"/>
          </a:ln>
        </p:spPr>
        <p:txBody>
          <a:bodyPr lIns="45719" rIns="45719"/>
          <a:lstStyle/>
          <a:p>
            <a:endParaRPr/>
          </a:p>
        </p:txBody>
      </p:sp>
      <p:sp>
        <p:nvSpPr>
          <p:cNvPr id="21" name="Shape 1"/>
          <p:cNvSpPr/>
          <p:nvPr/>
        </p:nvSpPr>
        <p:spPr>
          <a:xfrm>
            <a:off x="7190953" y="2473928"/>
            <a:ext cx="109729" cy="109729"/>
          </a:xfrm>
          <a:prstGeom prst="rect">
            <a:avLst/>
          </a:prstGeom>
          <a:solidFill>
            <a:srgbClr val="4A9ECC">
              <a:alpha val="15000"/>
            </a:srgbClr>
          </a:solidFill>
          <a:ln w="12700">
            <a:miter lim="400000"/>
          </a:ln>
        </p:spPr>
        <p:txBody>
          <a:bodyPr lIns="45719" rIns="45719"/>
          <a:lstStyle/>
          <a:p>
            <a:endParaRPr/>
          </a:p>
        </p:txBody>
      </p:sp>
      <p:sp>
        <p:nvSpPr>
          <p:cNvPr id="22" name="Shape 2"/>
          <p:cNvSpPr/>
          <p:nvPr/>
        </p:nvSpPr>
        <p:spPr>
          <a:xfrm>
            <a:off x="6267791" y="4633121"/>
            <a:ext cx="109729" cy="109729"/>
          </a:xfrm>
          <a:prstGeom prst="rect">
            <a:avLst/>
          </a:prstGeom>
          <a:solidFill>
            <a:srgbClr val="4A9ECC">
              <a:alpha val="15000"/>
            </a:srgbClr>
          </a:solidFill>
          <a:ln w="12700">
            <a:miter lim="400000"/>
          </a:ln>
        </p:spPr>
        <p:txBody>
          <a:bodyPr lIns="45719" rIns="45719"/>
          <a:lstStyle/>
          <a:p>
            <a:endParaRPr/>
          </a:p>
        </p:txBody>
      </p:sp>
      <p:sp>
        <p:nvSpPr>
          <p:cNvPr id="23" name="Shape 3"/>
          <p:cNvSpPr/>
          <p:nvPr/>
        </p:nvSpPr>
        <p:spPr>
          <a:xfrm>
            <a:off x="3818337" y="2711548"/>
            <a:ext cx="109729" cy="109729"/>
          </a:xfrm>
          <a:prstGeom prst="rect">
            <a:avLst/>
          </a:prstGeom>
          <a:solidFill>
            <a:srgbClr val="4A9ECC">
              <a:alpha val="15000"/>
            </a:srgbClr>
          </a:solidFill>
          <a:ln w="12700">
            <a:miter lim="400000"/>
          </a:ln>
        </p:spPr>
        <p:txBody>
          <a:bodyPr lIns="45719" rIns="45719"/>
          <a:lstStyle/>
          <a:p>
            <a:endParaRPr/>
          </a:p>
        </p:txBody>
      </p:sp>
      <p:sp>
        <p:nvSpPr>
          <p:cNvPr id="24" name="Shape 4"/>
          <p:cNvSpPr/>
          <p:nvPr/>
        </p:nvSpPr>
        <p:spPr>
          <a:xfrm>
            <a:off x="5746996" y="29292"/>
            <a:ext cx="109729" cy="109728"/>
          </a:xfrm>
          <a:prstGeom prst="rect">
            <a:avLst/>
          </a:prstGeom>
          <a:solidFill>
            <a:srgbClr val="4A9ECC">
              <a:alpha val="15000"/>
            </a:srgbClr>
          </a:solidFill>
          <a:ln w="12700">
            <a:miter lim="400000"/>
          </a:ln>
        </p:spPr>
        <p:txBody>
          <a:bodyPr lIns="45719" rIns="45719"/>
          <a:lstStyle/>
          <a:p>
            <a:endParaRPr/>
          </a:p>
        </p:txBody>
      </p:sp>
      <p:sp>
        <p:nvSpPr>
          <p:cNvPr id="25" name="Shape 5"/>
          <p:cNvSpPr/>
          <p:nvPr/>
        </p:nvSpPr>
        <p:spPr>
          <a:xfrm>
            <a:off x="820631" y="3470116"/>
            <a:ext cx="109729" cy="109729"/>
          </a:xfrm>
          <a:prstGeom prst="rect">
            <a:avLst/>
          </a:prstGeom>
          <a:solidFill>
            <a:srgbClr val="4A9ECC">
              <a:alpha val="15000"/>
            </a:srgbClr>
          </a:solidFill>
          <a:ln w="12700">
            <a:miter lim="400000"/>
          </a:ln>
        </p:spPr>
        <p:txBody>
          <a:bodyPr lIns="45719" rIns="45719"/>
          <a:lstStyle/>
          <a:p>
            <a:endParaRPr/>
          </a:p>
        </p:txBody>
      </p:sp>
      <p:sp>
        <p:nvSpPr>
          <p:cNvPr id="26" name="Shape 6"/>
          <p:cNvSpPr/>
          <p:nvPr/>
        </p:nvSpPr>
        <p:spPr>
          <a:xfrm>
            <a:off x="8153320" y="2163989"/>
            <a:ext cx="109729" cy="109729"/>
          </a:xfrm>
          <a:prstGeom prst="rect">
            <a:avLst/>
          </a:prstGeom>
          <a:solidFill>
            <a:srgbClr val="4A9ECC">
              <a:alpha val="15000"/>
            </a:srgbClr>
          </a:solidFill>
          <a:ln w="12700">
            <a:miter lim="400000"/>
          </a:ln>
        </p:spPr>
        <p:txBody>
          <a:bodyPr lIns="45719" rIns="45719"/>
          <a:lstStyle/>
          <a:p>
            <a:endParaRPr/>
          </a:p>
        </p:txBody>
      </p:sp>
      <p:sp>
        <p:nvSpPr>
          <p:cNvPr id="27" name="Shape 7"/>
          <p:cNvSpPr/>
          <p:nvPr/>
        </p:nvSpPr>
        <p:spPr>
          <a:xfrm>
            <a:off x="8708438" y="2295343"/>
            <a:ext cx="109729" cy="109729"/>
          </a:xfrm>
          <a:prstGeom prst="rect">
            <a:avLst/>
          </a:prstGeom>
          <a:solidFill>
            <a:srgbClr val="4A9ECC">
              <a:alpha val="15000"/>
            </a:srgbClr>
          </a:solidFill>
          <a:ln w="12700">
            <a:miter lim="400000"/>
          </a:ln>
        </p:spPr>
        <p:txBody>
          <a:bodyPr lIns="45719" rIns="45719"/>
          <a:lstStyle/>
          <a:p>
            <a:endParaRPr/>
          </a:p>
        </p:txBody>
      </p:sp>
      <p:sp>
        <p:nvSpPr>
          <p:cNvPr id="28" name="Shape 8"/>
          <p:cNvSpPr/>
          <p:nvPr/>
        </p:nvSpPr>
        <p:spPr>
          <a:xfrm>
            <a:off x="8657714" y="808612"/>
            <a:ext cx="109729" cy="109729"/>
          </a:xfrm>
          <a:prstGeom prst="rect">
            <a:avLst/>
          </a:prstGeom>
          <a:solidFill>
            <a:srgbClr val="4A9ECC">
              <a:alpha val="15000"/>
            </a:srgbClr>
          </a:solidFill>
          <a:ln w="12700">
            <a:miter lim="400000"/>
          </a:ln>
        </p:spPr>
        <p:txBody>
          <a:bodyPr lIns="45719" rIns="45719"/>
          <a:lstStyle/>
          <a:p>
            <a:endParaRPr/>
          </a:p>
        </p:txBody>
      </p:sp>
      <p:sp>
        <p:nvSpPr>
          <p:cNvPr id="29" name="Shape 9"/>
          <p:cNvSpPr/>
          <p:nvPr/>
        </p:nvSpPr>
        <p:spPr>
          <a:xfrm>
            <a:off x="4214059" y="5123662"/>
            <a:ext cx="109729" cy="109729"/>
          </a:xfrm>
          <a:prstGeom prst="rect">
            <a:avLst/>
          </a:prstGeom>
          <a:solidFill>
            <a:srgbClr val="4A9ECC">
              <a:alpha val="15000"/>
            </a:srgbClr>
          </a:solidFill>
          <a:ln w="12700">
            <a:miter lim="400000"/>
          </a:ln>
        </p:spPr>
        <p:txBody>
          <a:bodyPr lIns="45719" rIns="45719"/>
          <a:lstStyle/>
          <a:p>
            <a:endParaRPr/>
          </a:p>
        </p:txBody>
      </p:sp>
      <p:sp>
        <p:nvSpPr>
          <p:cNvPr id="30" name="Shape 10"/>
          <p:cNvSpPr/>
          <p:nvPr/>
        </p:nvSpPr>
        <p:spPr>
          <a:xfrm>
            <a:off x="1317821" y="2960077"/>
            <a:ext cx="109729" cy="109729"/>
          </a:xfrm>
          <a:prstGeom prst="rect">
            <a:avLst/>
          </a:prstGeom>
          <a:solidFill>
            <a:srgbClr val="4A9ECC">
              <a:alpha val="15000"/>
            </a:srgbClr>
          </a:solidFill>
          <a:ln w="12700">
            <a:miter lim="400000"/>
          </a:ln>
        </p:spPr>
        <p:txBody>
          <a:bodyPr lIns="45719" rIns="45719"/>
          <a:lstStyle/>
          <a:p>
            <a:endParaRPr/>
          </a:p>
        </p:txBody>
      </p:sp>
      <p:sp>
        <p:nvSpPr>
          <p:cNvPr id="31" name="Shape 11"/>
          <p:cNvSpPr/>
          <p:nvPr/>
        </p:nvSpPr>
        <p:spPr>
          <a:xfrm>
            <a:off x="7692714" y="4155804"/>
            <a:ext cx="109729" cy="109729"/>
          </a:xfrm>
          <a:prstGeom prst="rect">
            <a:avLst/>
          </a:prstGeom>
          <a:solidFill>
            <a:srgbClr val="4A9ECC">
              <a:alpha val="15000"/>
            </a:srgbClr>
          </a:solidFill>
          <a:ln w="12700">
            <a:miter lim="400000"/>
          </a:ln>
        </p:spPr>
        <p:txBody>
          <a:bodyPr lIns="45719" rIns="45719"/>
          <a:lstStyle/>
          <a:p>
            <a:endParaRPr/>
          </a:p>
        </p:txBody>
      </p:sp>
      <p:sp>
        <p:nvSpPr>
          <p:cNvPr id="32" name="Shape 12"/>
          <p:cNvSpPr/>
          <p:nvPr/>
        </p:nvSpPr>
        <p:spPr>
          <a:xfrm>
            <a:off x="4909820" y="819629"/>
            <a:ext cx="109729" cy="109729"/>
          </a:xfrm>
          <a:prstGeom prst="rect">
            <a:avLst/>
          </a:prstGeom>
          <a:solidFill>
            <a:srgbClr val="4A9ECC">
              <a:alpha val="15000"/>
            </a:srgbClr>
          </a:solidFill>
          <a:ln w="12700">
            <a:miter lim="400000"/>
          </a:ln>
        </p:spPr>
        <p:txBody>
          <a:bodyPr lIns="45719" rIns="45719"/>
          <a:lstStyle/>
          <a:p>
            <a:endParaRPr/>
          </a:p>
        </p:txBody>
      </p:sp>
      <p:sp>
        <p:nvSpPr>
          <p:cNvPr id="33" name="Shape 13"/>
          <p:cNvSpPr/>
          <p:nvPr/>
        </p:nvSpPr>
        <p:spPr>
          <a:xfrm>
            <a:off x="8631343" y="641183"/>
            <a:ext cx="109729" cy="109728"/>
          </a:xfrm>
          <a:prstGeom prst="rect">
            <a:avLst/>
          </a:prstGeom>
          <a:solidFill>
            <a:srgbClr val="4A9ECC">
              <a:alpha val="15000"/>
            </a:srgbClr>
          </a:solidFill>
          <a:ln w="12700">
            <a:miter lim="400000"/>
          </a:ln>
        </p:spPr>
        <p:txBody>
          <a:bodyPr lIns="45719" rIns="45719"/>
          <a:lstStyle/>
          <a:p>
            <a:endParaRPr/>
          </a:p>
        </p:txBody>
      </p:sp>
      <p:sp>
        <p:nvSpPr>
          <p:cNvPr id="34" name="Shape 14"/>
          <p:cNvSpPr/>
          <p:nvPr/>
        </p:nvSpPr>
        <p:spPr>
          <a:xfrm>
            <a:off x="723263" y="4871287"/>
            <a:ext cx="109729" cy="109729"/>
          </a:xfrm>
          <a:prstGeom prst="rect">
            <a:avLst/>
          </a:prstGeom>
          <a:solidFill>
            <a:srgbClr val="4A9ECC">
              <a:alpha val="15000"/>
            </a:srgbClr>
          </a:solidFill>
          <a:ln w="12700">
            <a:miter lim="400000"/>
          </a:ln>
        </p:spPr>
        <p:txBody>
          <a:bodyPr lIns="45719" rIns="45719"/>
          <a:lstStyle/>
          <a:p>
            <a:endParaRPr/>
          </a:p>
        </p:txBody>
      </p:sp>
      <p:sp>
        <p:nvSpPr>
          <p:cNvPr id="35" name="Shape 15"/>
          <p:cNvSpPr/>
          <p:nvPr/>
        </p:nvSpPr>
        <p:spPr>
          <a:xfrm>
            <a:off x="282539" y="325428"/>
            <a:ext cx="109728" cy="109728"/>
          </a:xfrm>
          <a:prstGeom prst="rect">
            <a:avLst/>
          </a:prstGeom>
          <a:solidFill>
            <a:srgbClr val="4A9ECC">
              <a:alpha val="15000"/>
            </a:srgbClr>
          </a:solidFill>
          <a:ln w="12700">
            <a:miter lim="400000"/>
          </a:ln>
        </p:spPr>
        <p:txBody>
          <a:bodyPr lIns="45719" rIns="45719"/>
          <a:lstStyle/>
          <a:p>
            <a:endParaRPr/>
          </a:p>
        </p:txBody>
      </p:sp>
      <p:sp>
        <p:nvSpPr>
          <p:cNvPr id="36" name="Shape 16"/>
          <p:cNvSpPr/>
          <p:nvPr/>
        </p:nvSpPr>
        <p:spPr>
          <a:xfrm>
            <a:off x="4008899" y="4513998"/>
            <a:ext cx="109729" cy="109729"/>
          </a:xfrm>
          <a:prstGeom prst="rect">
            <a:avLst/>
          </a:prstGeom>
          <a:solidFill>
            <a:srgbClr val="4A9ECC">
              <a:alpha val="15000"/>
            </a:srgbClr>
          </a:solidFill>
          <a:ln w="12700">
            <a:miter lim="400000"/>
          </a:ln>
        </p:spPr>
        <p:txBody>
          <a:bodyPr lIns="45719" rIns="45719"/>
          <a:lstStyle/>
          <a:p>
            <a:endParaRPr/>
          </a:p>
        </p:txBody>
      </p:sp>
      <p:sp>
        <p:nvSpPr>
          <p:cNvPr id="37" name="Shape 17"/>
          <p:cNvSpPr/>
          <p:nvPr/>
        </p:nvSpPr>
        <p:spPr>
          <a:xfrm>
            <a:off x="6025083" y="102605"/>
            <a:ext cx="109729" cy="109729"/>
          </a:xfrm>
          <a:prstGeom prst="rect">
            <a:avLst/>
          </a:prstGeom>
          <a:solidFill>
            <a:srgbClr val="4A9ECC">
              <a:alpha val="15000"/>
            </a:srgbClr>
          </a:solidFill>
          <a:ln w="12700">
            <a:miter lim="400000"/>
          </a:ln>
        </p:spPr>
        <p:txBody>
          <a:bodyPr lIns="45719" rIns="45719"/>
          <a:lstStyle/>
          <a:p>
            <a:endParaRPr/>
          </a:p>
        </p:txBody>
      </p:sp>
      <p:sp>
        <p:nvSpPr>
          <p:cNvPr id="38" name="Shape 18"/>
          <p:cNvSpPr/>
          <p:nvPr/>
        </p:nvSpPr>
        <p:spPr>
          <a:xfrm>
            <a:off x="457200" y="1280160"/>
            <a:ext cx="8229600" cy="2560321"/>
          </a:xfrm>
          <a:prstGeom prst="rect">
            <a:avLst/>
          </a:prstGeom>
          <a:solidFill>
            <a:srgbClr val="0F0F0F">
              <a:alpha val="80000"/>
            </a:srgbClr>
          </a:solidFill>
          <a:ln w="12700">
            <a:miter lim="400000"/>
          </a:ln>
        </p:spPr>
        <p:txBody>
          <a:bodyPr lIns="45719" rIns="45719"/>
          <a:lstStyle/>
          <a:p>
            <a:endParaRPr/>
          </a:p>
        </p:txBody>
      </p:sp>
      <p:sp>
        <p:nvSpPr>
          <p:cNvPr id="39" name="Text 19"/>
          <p:cNvSpPr txBox="1"/>
          <p:nvPr/>
        </p:nvSpPr>
        <p:spPr>
          <a:xfrm>
            <a:off x="731520" y="1463040"/>
            <a:ext cx="7680960" cy="12801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110000"/>
              </a:lnSpc>
              <a:defRPr sz="4000" b="1">
                <a:solidFill>
                  <a:srgbClr val="FFFFFF"/>
                </a:solidFill>
                <a:latin typeface="Consolas"/>
                <a:ea typeface="Consolas"/>
                <a:cs typeface="Consolas"/>
                <a:sym typeface="Consolas"/>
              </a:defRPr>
            </a:pPr>
            <a:r>
              <a:t>Entropy in Conway's</a:t>
            </a:r>
          </a:p>
          <a:p>
            <a:pPr>
              <a:lnSpc>
                <a:spcPct val="110000"/>
              </a:lnSpc>
              <a:defRPr sz="4000" b="1">
                <a:solidFill>
                  <a:srgbClr val="FFFFFF"/>
                </a:solidFill>
                <a:latin typeface="Consolas"/>
                <a:ea typeface="Consolas"/>
                <a:cs typeface="Consolas"/>
                <a:sym typeface="Consolas"/>
              </a:defRPr>
            </a:pPr>
            <a:r>
              <a:t>Game of Life</a:t>
            </a:r>
          </a:p>
        </p:txBody>
      </p:sp>
      <p:sp>
        <p:nvSpPr>
          <p:cNvPr id="40" name="Text 20"/>
          <p:cNvSpPr txBox="1"/>
          <p:nvPr/>
        </p:nvSpPr>
        <p:spPr>
          <a:xfrm>
            <a:off x="731520" y="3001010"/>
            <a:ext cx="7680960"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a:solidFill>
                  <a:srgbClr val="4A9ECC"/>
                </a:solidFill>
              </a:defRPr>
            </a:lvl1pPr>
          </a:lstStyle>
          <a:p>
            <a:r>
              <a:t>Measuring Information, Order, and Complexity in 2D Cellular Automata</a:t>
            </a:r>
          </a:p>
        </p:txBody>
      </p:sp>
      <p:sp>
        <p:nvSpPr>
          <p:cNvPr id="41" name="Text 21"/>
          <p:cNvSpPr txBox="1"/>
          <p:nvPr/>
        </p:nvSpPr>
        <p:spPr>
          <a:xfrm>
            <a:off x="731519" y="3500120"/>
            <a:ext cx="36576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707070"/>
                </a:solidFill>
              </a:defRPr>
            </a:lvl1pPr>
          </a:lstStyle>
          <a:p>
            <a:r>
              <a:t>From Conway to LangGraph  •  Week 2</a:t>
            </a:r>
          </a:p>
        </p:txBody>
      </p:sp>
      <p:sp>
        <p:nvSpPr>
          <p:cNvPr id="42" name="Shape 22"/>
          <p:cNvSpPr/>
          <p:nvPr/>
        </p:nvSpPr>
        <p:spPr>
          <a:xfrm>
            <a:off x="0" y="4709159"/>
            <a:ext cx="9144000" cy="434341"/>
          </a:xfrm>
          <a:prstGeom prst="rect">
            <a:avLst/>
          </a:prstGeom>
          <a:solidFill>
            <a:srgbClr val="080808"/>
          </a:solidFill>
          <a:ln w="12700">
            <a:miter lim="400000"/>
          </a:ln>
        </p:spPr>
        <p:txBody>
          <a:bodyPr lIns="45719" rIns="45719"/>
          <a:lstStyle/>
          <a:p>
            <a:endParaRPr/>
          </a:p>
        </p:txBody>
      </p:sp>
      <p:sp>
        <p:nvSpPr>
          <p:cNvPr id="43" name="Text 23"/>
          <p:cNvSpPr txBox="1"/>
          <p:nvPr/>
        </p:nvSpPr>
        <p:spPr>
          <a:xfrm>
            <a:off x="457200" y="4805680"/>
            <a:ext cx="82296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707070"/>
                </a:solidFill>
              </a:defRPr>
            </a:lvl1pPr>
          </a:lstStyle>
          <a:p>
            <a:r>
              <a:t>Prof. Mirko Degli Esposti  •  Dept. of Physics  •  University of Bologna</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45"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46"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47"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Why Entropy for the Game of Life?</a:t>
            </a:r>
          </a:p>
        </p:txBody>
      </p:sp>
      <p:sp>
        <p:nvSpPr>
          <p:cNvPr id="48" name="Shape 3"/>
          <p:cNvSpPr/>
          <p:nvPr/>
        </p:nvSpPr>
        <p:spPr>
          <a:xfrm>
            <a:off x="548640" y="1051559"/>
            <a:ext cx="3840480" cy="3291842"/>
          </a:xfrm>
          <a:prstGeom prst="rect">
            <a:avLst/>
          </a:prstGeom>
          <a:solidFill>
            <a:srgbClr val="2D2D2D"/>
          </a:solidFill>
          <a:ln w="12700">
            <a:miter lim="400000"/>
          </a:ln>
        </p:spPr>
        <p:txBody>
          <a:bodyPr lIns="45719" rIns="45719"/>
          <a:lstStyle/>
          <a:p>
            <a:endParaRPr/>
          </a:p>
        </p:txBody>
      </p:sp>
      <p:sp>
        <p:nvSpPr>
          <p:cNvPr id="49" name="Shape 4"/>
          <p:cNvSpPr/>
          <p:nvPr/>
        </p:nvSpPr>
        <p:spPr>
          <a:xfrm>
            <a:off x="548640" y="1051560"/>
            <a:ext cx="3840480" cy="54865"/>
          </a:xfrm>
          <a:prstGeom prst="rect">
            <a:avLst/>
          </a:prstGeom>
          <a:solidFill>
            <a:srgbClr val="4A9ECC"/>
          </a:solidFill>
          <a:ln w="12700">
            <a:miter lim="400000"/>
          </a:ln>
        </p:spPr>
        <p:txBody>
          <a:bodyPr lIns="45719" rIns="45719"/>
          <a:lstStyle/>
          <a:p>
            <a:endParaRPr/>
          </a:p>
        </p:txBody>
      </p:sp>
      <p:sp>
        <p:nvSpPr>
          <p:cNvPr id="50" name="Text 5"/>
          <p:cNvSpPr txBox="1"/>
          <p:nvPr/>
        </p:nvSpPr>
        <p:spPr>
          <a:xfrm>
            <a:off x="777240" y="1296669"/>
            <a:ext cx="3383280"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4A9ECC"/>
                </a:solidFill>
                <a:latin typeface="Consolas"/>
                <a:ea typeface="Consolas"/>
                <a:cs typeface="Consolas"/>
                <a:sym typeface="Consolas"/>
              </a:defRPr>
            </a:lvl1pPr>
          </a:lstStyle>
          <a:p>
            <a:r>
              <a:t>The Question</a:t>
            </a:r>
          </a:p>
        </p:txBody>
      </p:sp>
      <p:sp>
        <p:nvSpPr>
          <p:cNvPr id="51" name="Text 6"/>
          <p:cNvSpPr txBox="1"/>
          <p:nvPr/>
        </p:nvSpPr>
        <p:spPr>
          <a:xfrm>
            <a:off x="777240" y="1691639"/>
            <a:ext cx="3383280" cy="1333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300">
                <a:solidFill>
                  <a:srgbClr val="F0F0F0"/>
                </a:solidFill>
              </a:defRPr>
            </a:pPr>
            <a:r>
              <a:t>A random 'soup' on a 100×100 grid starts with ~50% alive cells. After 1000 generations it settles into a sparse landscape of still lifes, oscillators, and occasional gliders.</a:t>
            </a:r>
          </a:p>
          <a:p>
            <a:pPr>
              <a:defRPr sz="1300"/>
            </a:pPr>
            <a:endParaRPr/>
          </a:p>
          <a:p>
            <a:pPr>
              <a:defRPr sz="1300">
                <a:solidFill>
                  <a:srgbClr val="F0F0F0"/>
                </a:solidFill>
              </a:defRPr>
            </a:pPr>
            <a:r>
              <a:t>How do we quantify this transition from disorder to structure?</a:t>
            </a:r>
          </a:p>
        </p:txBody>
      </p:sp>
      <p:sp>
        <p:nvSpPr>
          <p:cNvPr id="52" name="Shape 7"/>
          <p:cNvSpPr/>
          <p:nvPr/>
        </p:nvSpPr>
        <p:spPr>
          <a:xfrm>
            <a:off x="4754879" y="1051559"/>
            <a:ext cx="3840481" cy="3291842"/>
          </a:xfrm>
          <a:prstGeom prst="rect">
            <a:avLst/>
          </a:prstGeom>
          <a:solidFill>
            <a:srgbClr val="2D2D2D"/>
          </a:solidFill>
          <a:ln w="12700">
            <a:miter lim="400000"/>
          </a:ln>
        </p:spPr>
        <p:txBody>
          <a:bodyPr lIns="45719" rIns="45719"/>
          <a:lstStyle/>
          <a:p>
            <a:endParaRPr/>
          </a:p>
        </p:txBody>
      </p:sp>
      <p:sp>
        <p:nvSpPr>
          <p:cNvPr id="53" name="Shape 8"/>
          <p:cNvSpPr/>
          <p:nvPr/>
        </p:nvSpPr>
        <p:spPr>
          <a:xfrm>
            <a:off x="4754879" y="1051560"/>
            <a:ext cx="3840481" cy="54865"/>
          </a:xfrm>
          <a:prstGeom prst="rect">
            <a:avLst/>
          </a:prstGeom>
          <a:solidFill>
            <a:srgbClr val="E8B931"/>
          </a:solidFill>
          <a:ln w="12700">
            <a:miter lim="400000"/>
          </a:ln>
        </p:spPr>
        <p:txBody>
          <a:bodyPr lIns="45719" rIns="45719"/>
          <a:lstStyle/>
          <a:p>
            <a:endParaRPr/>
          </a:p>
        </p:txBody>
      </p:sp>
      <p:sp>
        <p:nvSpPr>
          <p:cNvPr id="54" name="Text 9"/>
          <p:cNvSpPr txBox="1"/>
          <p:nvPr/>
        </p:nvSpPr>
        <p:spPr>
          <a:xfrm>
            <a:off x="4983479" y="1296669"/>
            <a:ext cx="338328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E8B931"/>
                </a:solidFill>
                <a:latin typeface="Consolas"/>
                <a:ea typeface="Consolas"/>
                <a:cs typeface="Consolas"/>
                <a:sym typeface="Consolas"/>
              </a:defRPr>
            </a:lvl1pPr>
          </a:lstStyle>
          <a:p>
            <a:r>
              <a:t>What Entropy Reveals</a:t>
            </a:r>
          </a:p>
        </p:txBody>
      </p:sp>
      <p:sp>
        <p:nvSpPr>
          <p:cNvPr id="55" name="Text 10"/>
          <p:cNvSpPr txBox="1"/>
          <p:nvPr/>
        </p:nvSpPr>
        <p:spPr>
          <a:xfrm>
            <a:off x="4983479" y="1691639"/>
            <a:ext cx="3383281" cy="2451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spcBef>
                <a:spcPts val="200"/>
              </a:spcBef>
              <a:defRPr sz="1200" b="1">
                <a:solidFill>
                  <a:srgbClr val="FFFFFF"/>
                </a:solidFill>
              </a:defRPr>
            </a:pPr>
            <a:r>
              <a:t>Self-organization: </a:t>
            </a:r>
            <a:r>
              <a:rPr b="0">
                <a:solidFill>
                  <a:srgbClr val="A0A0A0"/>
                </a:solidFill>
              </a:rPr>
              <a:t>entropy decreases as patterns emerge from random initial conditions</a:t>
            </a:r>
          </a:p>
          <a:p>
            <a:pPr>
              <a:spcBef>
                <a:spcPts val="200"/>
              </a:spcBef>
              <a:defRPr sz="600"/>
            </a:pPr>
            <a:endParaRPr b="0">
              <a:solidFill>
                <a:srgbClr val="A0A0A0"/>
              </a:solidFill>
            </a:endParaRPr>
          </a:p>
          <a:p>
            <a:pPr>
              <a:spcBef>
                <a:spcPts val="200"/>
              </a:spcBef>
              <a:defRPr sz="600"/>
            </a:pPr>
            <a:endParaRPr sz="1200"/>
          </a:p>
          <a:p>
            <a:pPr>
              <a:spcBef>
                <a:spcPts val="200"/>
              </a:spcBef>
              <a:defRPr sz="1200" b="1">
                <a:solidFill>
                  <a:srgbClr val="FFFFFF"/>
                </a:solidFill>
              </a:defRPr>
            </a:pPr>
            <a:r>
              <a:t>Phase classification: </a:t>
            </a:r>
            <a:r>
              <a:rPr b="0">
                <a:solidFill>
                  <a:srgbClr val="A0A0A0"/>
                </a:solidFill>
              </a:rPr>
              <a:t>distinguish ordered, chaotic, and complex regimes</a:t>
            </a:r>
          </a:p>
          <a:p>
            <a:pPr>
              <a:spcBef>
                <a:spcPts val="200"/>
              </a:spcBef>
              <a:defRPr sz="600"/>
            </a:pPr>
            <a:endParaRPr b="0">
              <a:solidFill>
                <a:srgbClr val="A0A0A0"/>
              </a:solidFill>
            </a:endParaRPr>
          </a:p>
          <a:p>
            <a:pPr>
              <a:spcBef>
                <a:spcPts val="200"/>
              </a:spcBef>
              <a:defRPr sz="600"/>
            </a:pPr>
            <a:endParaRPr sz="1200"/>
          </a:p>
          <a:p>
            <a:pPr>
              <a:spcBef>
                <a:spcPts val="200"/>
              </a:spcBef>
              <a:defRPr sz="1200" b="1">
                <a:solidFill>
                  <a:srgbClr val="FFFFFF"/>
                </a:solidFill>
              </a:defRPr>
            </a:pPr>
            <a:r>
              <a:t>Approach to equilibrium: </a:t>
            </a:r>
            <a:r>
              <a:rPr b="0">
                <a:solidFill>
                  <a:srgbClr val="A0A0A0"/>
                </a:solidFill>
              </a:rPr>
              <a:t>analogies with statistical mechanics and the 2nd law</a:t>
            </a:r>
          </a:p>
          <a:p>
            <a:pPr>
              <a:spcBef>
                <a:spcPts val="200"/>
              </a:spcBef>
              <a:defRPr sz="600"/>
            </a:pPr>
            <a:endParaRPr b="0">
              <a:solidFill>
                <a:srgbClr val="A0A0A0"/>
              </a:solidFill>
            </a:endParaRPr>
          </a:p>
          <a:p>
            <a:pPr>
              <a:spcBef>
                <a:spcPts val="200"/>
              </a:spcBef>
              <a:defRPr sz="600"/>
            </a:pPr>
            <a:endParaRPr sz="1200"/>
          </a:p>
          <a:p>
            <a:pPr>
              <a:spcBef>
                <a:spcPts val="200"/>
              </a:spcBef>
              <a:defRPr sz="1200" b="1">
                <a:solidFill>
                  <a:srgbClr val="FFFFFF"/>
                </a:solidFill>
              </a:defRPr>
            </a:pPr>
            <a:r>
              <a:t>Complexity signatures: </a:t>
            </a:r>
            <a:r>
              <a:rPr b="0">
                <a:solidFill>
                  <a:srgbClr val="A0A0A0"/>
                </a:solidFill>
              </a:rPr>
              <a:t>why GoL sits at a special point in rule space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57"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5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5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Recap: Shannon Entropy</a:t>
            </a:r>
          </a:p>
        </p:txBody>
      </p:sp>
      <p:sp>
        <p:nvSpPr>
          <p:cNvPr id="60" name="Text 3"/>
          <p:cNvSpPr txBox="1"/>
          <p:nvPr/>
        </p:nvSpPr>
        <p:spPr>
          <a:xfrm>
            <a:off x="548640" y="848360"/>
            <a:ext cx="45720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from 1D to the general framework</a:t>
            </a:r>
          </a:p>
        </p:txBody>
      </p:sp>
      <p:sp>
        <p:nvSpPr>
          <p:cNvPr id="61" name="Shape 4"/>
          <p:cNvSpPr/>
          <p:nvPr/>
        </p:nvSpPr>
        <p:spPr>
          <a:xfrm>
            <a:off x="1371600" y="1280160"/>
            <a:ext cx="6400800" cy="914401"/>
          </a:xfrm>
          <a:prstGeom prst="rect">
            <a:avLst/>
          </a:prstGeom>
          <a:solidFill>
            <a:srgbClr val="2D2D2D"/>
          </a:solidFill>
          <a:ln w="12700">
            <a:miter lim="400000"/>
          </a:ln>
        </p:spPr>
        <p:txBody>
          <a:bodyPr lIns="45719" rIns="45719"/>
          <a:lstStyle/>
          <a:p>
            <a:endParaRPr/>
          </a:p>
        </p:txBody>
      </p:sp>
      <p:sp>
        <p:nvSpPr>
          <p:cNvPr id="62" name="Text 5"/>
          <p:cNvSpPr txBox="1"/>
          <p:nvPr/>
        </p:nvSpPr>
        <p:spPr>
          <a:xfrm>
            <a:off x="1371600" y="1559560"/>
            <a:ext cx="6400800" cy="355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200">
                <a:solidFill>
                  <a:srgbClr val="E8B931"/>
                </a:solidFill>
                <a:latin typeface="Cambria Math"/>
                <a:ea typeface="Cambria Math"/>
                <a:cs typeface="Cambria Math"/>
                <a:sym typeface="Cambria Math"/>
              </a:defRPr>
            </a:lvl1pPr>
          </a:lstStyle>
          <a:p>
            <a:r>
              <a:t>H(X)  =  − Σᵢ  p(xᵢ) log₂ p(xᵢ)    [bits]</a:t>
            </a:r>
          </a:p>
        </p:txBody>
      </p:sp>
      <p:sp>
        <p:nvSpPr>
          <p:cNvPr id="63" name="Shape 6"/>
          <p:cNvSpPr/>
          <p:nvPr/>
        </p:nvSpPr>
        <p:spPr>
          <a:xfrm>
            <a:off x="548639" y="2514600"/>
            <a:ext cx="2560322" cy="1828800"/>
          </a:xfrm>
          <a:prstGeom prst="rect">
            <a:avLst/>
          </a:prstGeom>
          <a:solidFill>
            <a:srgbClr val="2D2D2D"/>
          </a:solidFill>
          <a:ln w="12700">
            <a:miter lim="400000"/>
          </a:ln>
        </p:spPr>
        <p:txBody>
          <a:bodyPr lIns="45719" rIns="45719"/>
          <a:lstStyle/>
          <a:p>
            <a:endParaRPr/>
          </a:p>
        </p:txBody>
      </p:sp>
      <p:sp>
        <p:nvSpPr>
          <p:cNvPr id="64" name="Shape 7"/>
          <p:cNvSpPr/>
          <p:nvPr/>
        </p:nvSpPr>
        <p:spPr>
          <a:xfrm>
            <a:off x="548639" y="2514600"/>
            <a:ext cx="2560322" cy="45721"/>
          </a:xfrm>
          <a:prstGeom prst="rect">
            <a:avLst/>
          </a:prstGeom>
          <a:solidFill>
            <a:srgbClr val="44AA66"/>
          </a:solidFill>
          <a:ln w="12700">
            <a:miter lim="400000"/>
          </a:ln>
        </p:spPr>
        <p:txBody>
          <a:bodyPr lIns="45719" rIns="45719"/>
          <a:lstStyle/>
          <a:p>
            <a:endParaRPr/>
          </a:p>
        </p:txBody>
      </p:sp>
      <p:sp>
        <p:nvSpPr>
          <p:cNvPr id="65" name="Text 8"/>
          <p:cNvSpPr txBox="1"/>
          <p:nvPr/>
        </p:nvSpPr>
        <p:spPr>
          <a:xfrm>
            <a:off x="731519" y="2763519"/>
            <a:ext cx="2194562"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44AA66"/>
                </a:solidFill>
                <a:latin typeface="Consolas"/>
                <a:ea typeface="Consolas"/>
                <a:cs typeface="Consolas"/>
                <a:sym typeface="Consolas"/>
              </a:defRPr>
            </a:lvl1pPr>
          </a:lstStyle>
          <a:p>
            <a:r>
              <a:t>H = 0</a:t>
            </a:r>
          </a:p>
        </p:txBody>
      </p:sp>
      <p:sp>
        <p:nvSpPr>
          <p:cNvPr id="66" name="Text 9"/>
          <p:cNvSpPr txBox="1"/>
          <p:nvPr/>
        </p:nvSpPr>
        <p:spPr>
          <a:xfrm>
            <a:off x="731519" y="3154679"/>
            <a:ext cx="2194562"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A0A0A0"/>
                </a:solidFill>
              </a:defRPr>
            </a:pPr>
            <a:r>
              <a:t>Perfect order</a:t>
            </a:r>
          </a:p>
          <a:p>
            <a:pPr>
              <a:defRPr sz="1200">
                <a:solidFill>
                  <a:srgbClr val="A0A0A0"/>
                </a:solidFill>
              </a:defRPr>
            </a:pPr>
            <a:r>
              <a:t>All cells identical</a:t>
            </a:r>
          </a:p>
          <a:p>
            <a:pPr>
              <a:defRPr sz="1200">
                <a:solidFill>
                  <a:srgbClr val="A0A0A0"/>
                </a:solidFill>
              </a:defRPr>
            </a:pPr>
            <a:r>
              <a:t>Fully predictable</a:t>
            </a:r>
          </a:p>
        </p:txBody>
      </p:sp>
      <p:sp>
        <p:nvSpPr>
          <p:cNvPr id="67" name="Shape 10"/>
          <p:cNvSpPr/>
          <p:nvPr/>
        </p:nvSpPr>
        <p:spPr>
          <a:xfrm>
            <a:off x="3383279" y="2514600"/>
            <a:ext cx="2560321" cy="1828800"/>
          </a:xfrm>
          <a:prstGeom prst="rect">
            <a:avLst/>
          </a:prstGeom>
          <a:solidFill>
            <a:srgbClr val="2D2D2D"/>
          </a:solidFill>
          <a:ln w="12700">
            <a:miter lim="400000"/>
          </a:ln>
        </p:spPr>
        <p:txBody>
          <a:bodyPr lIns="45719" rIns="45719"/>
          <a:lstStyle/>
          <a:p>
            <a:endParaRPr/>
          </a:p>
        </p:txBody>
      </p:sp>
      <p:sp>
        <p:nvSpPr>
          <p:cNvPr id="68" name="Shape 11"/>
          <p:cNvSpPr/>
          <p:nvPr/>
        </p:nvSpPr>
        <p:spPr>
          <a:xfrm>
            <a:off x="3383279" y="2514600"/>
            <a:ext cx="2560321" cy="45721"/>
          </a:xfrm>
          <a:prstGeom prst="rect">
            <a:avLst/>
          </a:prstGeom>
          <a:solidFill>
            <a:srgbClr val="4A9ECC"/>
          </a:solidFill>
          <a:ln w="12700">
            <a:miter lim="400000"/>
          </a:ln>
        </p:spPr>
        <p:txBody>
          <a:bodyPr lIns="45719" rIns="45719"/>
          <a:lstStyle/>
          <a:p>
            <a:endParaRPr/>
          </a:p>
        </p:txBody>
      </p:sp>
      <p:sp>
        <p:nvSpPr>
          <p:cNvPr id="69" name="Text 12"/>
          <p:cNvSpPr txBox="1"/>
          <p:nvPr/>
        </p:nvSpPr>
        <p:spPr>
          <a:xfrm>
            <a:off x="3566159" y="2763519"/>
            <a:ext cx="21945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4A9ECC"/>
                </a:solidFill>
                <a:latin typeface="Consolas"/>
                <a:ea typeface="Consolas"/>
                <a:cs typeface="Consolas"/>
                <a:sym typeface="Consolas"/>
              </a:defRPr>
            </a:lvl1pPr>
          </a:lstStyle>
          <a:p>
            <a:r>
              <a:t>H = 1 bit</a:t>
            </a:r>
          </a:p>
        </p:txBody>
      </p:sp>
      <p:sp>
        <p:nvSpPr>
          <p:cNvPr id="70" name="Text 13"/>
          <p:cNvSpPr txBox="1"/>
          <p:nvPr/>
        </p:nvSpPr>
        <p:spPr>
          <a:xfrm>
            <a:off x="3566159" y="3154679"/>
            <a:ext cx="2194561"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A0A0A0"/>
                </a:solidFill>
              </a:defRPr>
            </a:pPr>
            <a:r>
              <a:t>Maximum uncertainty</a:t>
            </a:r>
          </a:p>
          <a:p>
            <a:pPr>
              <a:defRPr sz="1200">
                <a:solidFill>
                  <a:srgbClr val="A0A0A0"/>
                </a:solidFill>
              </a:defRPr>
            </a:pPr>
            <a:r>
              <a:t>for binary variable</a:t>
            </a:r>
          </a:p>
          <a:p>
            <a:pPr>
              <a:defRPr sz="1200">
                <a:solidFill>
                  <a:srgbClr val="A0A0A0"/>
                </a:solidFill>
              </a:defRPr>
            </a:pPr>
            <a:r>
              <a:t>(fair coin / 50% density)</a:t>
            </a:r>
          </a:p>
        </p:txBody>
      </p:sp>
      <p:sp>
        <p:nvSpPr>
          <p:cNvPr id="71" name="Shape 14"/>
          <p:cNvSpPr/>
          <p:nvPr/>
        </p:nvSpPr>
        <p:spPr>
          <a:xfrm>
            <a:off x="6217920" y="2514600"/>
            <a:ext cx="2560321" cy="1828800"/>
          </a:xfrm>
          <a:prstGeom prst="rect">
            <a:avLst/>
          </a:prstGeom>
          <a:solidFill>
            <a:srgbClr val="2D2D2D"/>
          </a:solidFill>
          <a:ln w="12700">
            <a:miter lim="400000"/>
          </a:ln>
        </p:spPr>
        <p:txBody>
          <a:bodyPr lIns="45719" rIns="45719"/>
          <a:lstStyle/>
          <a:p>
            <a:endParaRPr/>
          </a:p>
        </p:txBody>
      </p:sp>
      <p:sp>
        <p:nvSpPr>
          <p:cNvPr id="72" name="Shape 15"/>
          <p:cNvSpPr/>
          <p:nvPr/>
        </p:nvSpPr>
        <p:spPr>
          <a:xfrm>
            <a:off x="6217920" y="2514600"/>
            <a:ext cx="2560321" cy="45721"/>
          </a:xfrm>
          <a:prstGeom prst="rect">
            <a:avLst/>
          </a:prstGeom>
          <a:solidFill>
            <a:srgbClr val="D4853B"/>
          </a:solidFill>
          <a:ln w="12700">
            <a:miter lim="400000"/>
          </a:ln>
        </p:spPr>
        <p:txBody>
          <a:bodyPr lIns="45719" rIns="45719"/>
          <a:lstStyle/>
          <a:p>
            <a:endParaRPr/>
          </a:p>
        </p:txBody>
      </p:sp>
      <p:sp>
        <p:nvSpPr>
          <p:cNvPr id="73" name="Text 16"/>
          <p:cNvSpPr txBox="1"/>
          <p:nvPr/>
        </p:nvSpPr>
        <p:spPr>
          <a:xfrm>
            <a:off x="6400800" y="2763519"/>
            <a:ext cx="219456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b="1">
                <a:solidFill>
                  <a:srgbClr val="D4853B"/>
                </a:solidFill>
                <a:latin typeface="Consolas"/>
                <a:ea typeface="Consolas"/>
                <a:cs typeface="Consolas"/>
                <a:sym typeface="Consolas"/>
              </a:defRPr>
            </a:lvl1pPr>
          </a:lstStyle>
          <a:p>
            <a:r>
              <a:t>0 &lt; H &lt; 1</a:t>
            </a:r>
          </a:p>
        </p:txBody>
      </p:sp>
      <p:sp>
        <p:nvSpPr>
          <p:cNvPr id="74" name="Text 17"/>
          <p:cNvSpPr txBox="1"/>
          <p:nvPr/>
        </p:nvSpPr>
        <p:spPr>
          <a:xfrm>
            <a:off x="6400800" y="3154679"/>
            <a:ext cx="2194561" cy="533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A0A0A0"/>
                </a:solidFill>
              </a:defRPr>
            </a:pPr>
            <a:r>
              <a:t>Partial information</a:t>
            </a:r>
          </a:p>
          <a:p>
            <a:pPr>
              <a:defRPr sz="1200">
                <a:solidFill>
                  <a:srgbClr val="A0A0A0"/>
                </a:solidFill>
              </a:defRPr>
            </a:pPr>
            <a:r>
              <a:t>Structure present</a:t>
            </a:r>
          </a:p>
          <a:p>
            <a:pPr>
              <a:defRPr sz="1200">
                <a:solidFill>
                  <a:srgbClr val="A0A0A0"/>
                </a:solidFill>
              </a:defRPr>
            </a:pPr>
            <a:r>
              <a:t>Patterns detectable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76" name="Shape 0"/>
          <p:cNvSpPr/>
          <p:nvPr/>
        </p:nvSpPr>
        <p:spPr>
          <a:xfrm>
            <a:off x="731519" y="1828800"/>
            <a:ext cx="54865" cy="1463041"/>
          </a:xfrm>
          <a:prstGeom prst="rect">
            <a:avLst/>
          </a:prstGeom>
          <a:solidFill>
            <a:srgbClr val="4A9ECC"/>
          </a:solidFill>
          <a:ln w="12700">
            <a:miter lim="400000"/>
          </a:ln>
        </p:spPr>
        <p:txBody>
          <a:bodyPr lIns="45719" rIns="45719"/>
          <a:lstStyle/>
          <a:p>
            <a:endParaRPr/>
          </a:p>
        </p:txBody>
      </p:sp>
      <p:sp>
        <p:nvSpPr>
          <p:cNvPr id="77" name="Text 1"/>
          <p:cNvSpPr txBox="1"/>
          <p:nvPr/>
        </p:nvSpPr>
        <p:spPr>
          <a:xfrm>
            <a:off x="1005839" y="1967229"/>
            <a:ext cx="7315201" cy="546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rgbClr val="FFFFFF"/>
                </a:solidFill>
                <a:latin typeface="Consolas"/>
                <a:ea typeface="Consolas"/>
                <a:cs typeface="Consolas"/>
                <a:sym typeface="Consolas"/>
              </a:defRPr>
            </a:lvl1pPr>
          </a:lstStyle>
          <a:p>
            <a:r>
              <a:t>Part I: Entropy Measures</a:t>
            </a:r>
          </a:p>
        </p:txBody>
      </p:sp>
      <p:sp>
        <p:nvSpPr>
          <p:cNvPr id="78" name="Text 2"/>
          <p:cNvSpPr txBox="1"/>
          <p:nvPr/>
        </p:nvSpPr>
        <p:spPr>
          <a:xfrm>
            <a:off x="1005839" y="2805429"/>
            <a:ext cx="73152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rgbClr val="A0A0A0"/>
                </a:solidFill>
              </a:defRPr>
            </a:lvl1pPr>
          </a:lstStyle>
          <a:p>
            <a:r>
              <a:t>Adapting information theory from 1D chains to 2D lattices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80"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81"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82"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Density Entropy</a:t>
            </a:r>
          </a:p>
        </p:txBody>
      </p:sp>
      <p:sp>
        <p:nvSpPr>
          <p:cNvPr id="83"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The simplest measure: global alive/dead ratio</a:t>
            </a:r>
          </a:p>
        </p:txBody>
      </p:sp>
      <p:sp>
        <p:nvSpPr>
          <p:cNvPr id="84" name="Shape 4"/>
          <p:cNvSpPr/>
          <p:nvPr/>
        </p:nvSpPr>
        <p:spPr>
          <a:xfrm>
            <a:off x="548640" y="1280160"/>
            <a:ext cx="5029201" cy="1463041"/>
          </a:xfrm>
          <a:prstGeom prst="rect">
            <a:avLst/>
          </a:prstGeom>
          <a:solidFill>
            <a:srgbClr val="2D2D2D"/>
          </a:solidFill>
          <a:ln w="12700">
            <a:miter lim="400000"/>
          </a:ln>
        </p:spPr>
        <p:txBody>
          <a:bodyPr lIns="45719" rIns="45719"/>
          <a:lstStyle/>
          <a:p>
            <a:endParaRPr/>
          </a:p>
        </p:txBody>
      </p:sp>
      <p:sp>
        <p:nvSpPr>
          <p:cNvPr id="85" name="Text 5"/>
          <p:cNvSpPr txBox="1"/>
          <p:nvPr/>
        </p:nvSpPr>
        <p:spPr>
          <a:xfrm>
            <a:off x="777240" y="1479549"/>
            <a:ext cx="45720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rgbClr val="E8B931"/>
                </a:solidFill>
                <a:latin typeface="Cambria Math"/>
                <a:ea typeface="Cambria Math"/>
                <a:cs typeface="Cambria Math"/>
                <a:sym typeface="Cambria Math"/>
              </a:defRPr>
            </a:lvl1pPr>
          </a:lstStyle>
          <a:p>
            <a:r>
              <a:t>ρ(t) = N_alive(t) / N_total</a:t>
            </a:r>
          </a:p>
        </p:txBody>
      </p:sp>
      <p:sp>
        <p:nvSpPr>
          <p:cNvPr id="86" name="Text 6"/>
          <p:cNvSpPr txBox="1"/>
          <p:nvPr/>
        </p:nvSpPr>
        <p:spPr>
          <a:xfrm>
            <a:off x="777240" y="1982470"/>
            <a:ext cx="45720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rgbClr val="4A9ECC"/>
                </a:solidFill>
                <a:latin typeface="Cambria Math"/>
                <a:ea typeface="Cambria Math"/>
                <a:cs typeface="Cambria Math"/>
                <a:sym typeface="Cambria Math"/>
              </a:defRPr>
            </a:lvl1pPr>
          </a:lstStyle>
          <a:p>
            <a:r>
              <a:t>H_density(t) = − ρ log₂ ρ − (1−ρ) log₂(1−ρ)</a:t>
            </a:r>
          </a:p>
        </p:txBody>
      </p:sp>
      <p:sp>
        <p:nvSpPr>
          <p:cNvPr id="87" name="Text 7"/>
          <p:cNvSpPr txBox="1"/>
          <p:nvPr/>
        </p:nvSpPr>
        <p:spPr>
          <a:xfrm>
            <a:off x="777240" y="2395634"/>
            <a:ext cx="4572001" cy="192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A0A0A0"/>
                </a:solidFill>
              </a:defRPr>
            </a:lvl1pPr>
          </a:lstStyle>
          <a:p>
            <a:r>
              <a:t>→  This is the binary entropy function h(ρ)</a:t>
            </a:r>
          </a:p>
        </p:txBody>
      </p:sp>
      <p:sp>
        <p:nvSpPr>
          <p:cNvPr id="88" name="Shape 8"/>
          <p:cNvSpPr/>
          <p:nvPr/>
        </p:nvSpPr>
        <p:spPr>
          <a:xfrm>
            <a:off x="5852159" y="1280160"/>
            <a:ext cx="2926081" cy="1463041"/>
          </a:xfrm>
          <a:prstGeom prst="rect">
            <a:avLst/>
          </a:prstGeom>
          <a:solidFill>
            <a:srgbClr val="2D2D2D"/>
          </a:solidFill>
          <a:ln w="12700">
            <a:miter lim="400000"/>
          </a:ln>
        </p:spPr>
        <p:txBody>
          <a:bodyPr lIns="45719" rIns="45719"/>
          <a:lstStyle/>
          <a:p>
            <a:endParaRPr/>
          </a:p>
        </p:txBody>
      </p:sp>
      <p:sp>
        <p:nvSpPr>
          <p:cNvPr id="89" name="Text 9"/>
          <p:cNvSpPr txBox="1"/>
          <p:nvPr/>
        </p:nvSpPr>
        <p:spPr>
          <a:xfrm>
            <a:off x="6035040" y="1423669"/>
            <a:ext cx="256032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D4853B"/>
                </a:solidFill>
                <a:latin typeface="Consolas"/>
                <a:ea typeface="Consolas"/>
                <a:cs typeface="Consolas"/>
                <a:sym typeface="Consolas"/>
              </a:defRPr>
            </a:lvl1pPr>
          </a:lstStyle>
          <a:p>
            <a:r>
              <a:t>Key observation</a:t>
            </a:r>
          </a:p>
        </p:txBody>
      </p:sp>
      <p:sp>
        <p:nvSpPr>
          <p:cNvPr id="90" name="Text 10"/>
          <p:cNvSpPr txBox="1"/>
          <p:nvPr/>
        </p:nvSpPr>
        <p:spPr>
          <a:xfrm>
            <a:off x="6035040" y="1737360"/>
            <a:ext cx="2560321" cy="928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F0F0F0"/>
                </a:solidFill>
              </a:defRPr>
            </a:pPr>
            <a:r>
              <a:t>Random soup starts at ρ ≈ 0.5</a:t>
            </a:r>
          </a:p>
          <a:p>
            <a:pPr>
              <a:defRPr sz="1100">
                <a:solidFill>
                  <a:srgbClr val="F0F0F0"/>
                </a:solidFill>
              </a:defRPr>
            </a:pPr>
            <a:r>
              <a:t>(H = 1 bit, maximum)</a:t>
            </a:r>
          </a:p>
          <a:p>
            <a:pPr>
              <a:defRPr sz="1100"/>
            </a:pPr>
            <a:endParaRPr/>
          </a:p>
          <a:p>
            <a:pPr>
              <a:defRPr sz="1100">
                <a:solidFill>
                  <a:srgbClr val="F0F0F0"/>
                </a:solidFill>
              </a:defRPr>
            </a:pPr>
            <a:r>
              <a:t>Settles to ρ ≈ 0.0287</a:t>
            </a:r>
          </a:p>
          <a:p>
            <a:pPr>
              <a:defRPr sz="1100">
                <a:solidFill>
                  <a:srgbClr val="F0F0F0"/>
                </a:solidFill>
              </a:defRPr>
            </a:pPr>
            <a:r>
              <a:t>(Flammenkamp's constant)</a:t>
            </a:r>
          </a:p>
          <a:p>
            <a:pPr>
              <a:defRPr sz="1100">
                <a:solidFill>
                  <a:srgbClr val="F0F0F0"/>
                </a:solidFill>
              </a:defRPr>
            </a:pPr>
            <a:r>
              <a:t>→ H ≈ 0.20 bits</a:t>
            </a:r>
          </a:p>
        </p:txBody>
      </p:sp>
      <p:sp>
        <p:nvSpPr>
          <p:cNvPr id="91" name="Shape 11"/>
          <p:cNvSpPr/>
          <p:nvPr/>
        </p:nvSpPr>
        <p:spPr>
          <a:xfrm>
            <a:off x="548640" y="3063239"/>
            <a:ext cx="8229601" cy="1280161"/>
          </a:xfrm>
          <a:prstGeom prst="rect">
            <a:avLst/>
          </a:prstGeom>
          <a:solidFill>
            <a:srgbClr val="2D2D2D"/>
          </a:solidFill>
          <a:ln w="12700">
            <a:miter lim="400000"/>
          </a:ln>
        </p:spPr>
        <p:txBody>
          <a:bodyPr lIns="45719" rIns="45719"/>
          <a:lstStyle/>
          <a:p>
            <a:endParaRPr/>
          </a:p>
        </p:txBody>
      </p:sp>
      <p:sp>
        <p:nvSpPr>
          <p:cNvPr id="92" name="Shape 12"/>
          <p:cNvSpPr/>
          <p:nvPr/>
        </p:nvSpPr>
        <p:spPr>
          <a:xfrm>
            <a:off x="548640" y="3063239"/>
            <a:ext cx="54865" cy="1280161"/>
          </a:xfrm>
          <a:prstGeom prst="rect">
            <a:avLst/>
          </a:prstGeom>
          <a:solidFill>
            <a:srgbClr val="CC4444"/>
          </a:solidFill>
          <a:ln w="12700">
            <a:miter lim="400000"/>
          </a:ln>
        </p:spPr>
        <p:txBody>
          <a:bodyPr lIns="45719" rIns="45719"/>
          <a:lstStyle/>
          <a:p>
            <a:endParaRPr/>
          </a:p>
        </p:txBody>
      </p:sp>
      <p:sp>
        <p:nvSpPr>
          <p:cNvPr id="93" name="Text 13"/>
          <p:cNvSpPr txBox="1"/>
          <p:nvPr/>
        </p:nvSpPr>
        <p:spPr>
          <a:xfrm>
            <a:off x="822960" y="3206749"/>
            <a:ext cx="1828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CC4444"/>
                </a:solidFill>
                <a:latin typeface="Consolas"/>
                <a:ea typeface="Consolas"/>
                <a:cs typeface="Consolas"/>
                <a:sym typeface="Consolas"/>
              </a:defRPr>
            </a:lvl1pPr>
          </a:lstStyle>
          <a:p>
            <a:r>
              <a:t>Limitation</a:t>
            </a:r>
          </a:p>
        </p:txBody>
      </p:sp>
      <p:sp>
        <p:nvSpPr>
          <p:cNvPr id="94" name="Text 14"/>
          <p:cNvSpPr txBox="1"/>
          <p:nvPr/>
        </p:nvSpPr>
        <p:spPr>
          <a:xfrm>
            <a:off x="822960" y="3474720"/>
            <a:ext cx="7772401" cy="609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Density entropy is coarse-grained — it ignores spatial structure entirely. A random configuration with ρ = 0.03 has the same density entropy as a field of block still lifes at ρ = 0.03, yet they are vastly different in terms of information content and spatial organization.</a:t>
            </a:r>
          </a:p>
          <a:p>
            <a:pPr>
              <a:defRPr sz="1100">
                <a:solidFill>
                  <a:srgbClr val="A0A0A0"/>
                </a:solidFill>
              </a:defRPr>
            </a:pPr>
            <a:r>
              <a:t>We need measures that capture spatial correlations.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96"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9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9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2D Block Entropy</a:t>
            </a:r>
          </a:p>
        </p:txBody>
      </p:sp>
      <p:sp>
        <p:nvSpPr>
          <p:cNvPr id="9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Extending block entropy to square patches</a:t>
            </a:r>
          </a:p>
        </p:txBody>
      </p:sp>
      <p:sp>
        <p:nvSpPr>
          <p:cNvPr id="100" name="Shape 4"/>
          <p:cNvSpPr/>
          <p:nvPr/>
        </p:nvSpPr>
        <p:spPr>
          <a:xfrm>
            <a:off x="548640" y="1234439"/>
            <a:ext cx="4572001" cy="2011680"/>
          </a:xfrm>
          <a:prstGeom prst="rect">
            <a:avLst/>
          </a:prstGeom>
          <a:solidFill>
            <a:srgbClr val="2D2D2D"/>
          </a:solidFill>
          <a:ln w="12700">
            <a:miter lim="400000"/>
          </a:ln>
        </p:spPr>
        <p:txBody>
          <a:bodyPr lIns="45719" rIns="45719"/>
          <a:lstStyle/>
          <a:p>
            <a:endParaRPr/>
          </a:p>
        </p:txBody>
      </p:sp>
      <p:sp>
        <p:nvSpPr>
          <p:cNvPr id="101" name="Text 5"/>
          <p:cNvSpPr txBox="1"/>
          <p:nvPr/>
        </p:nvSpPr>
        <p:spPr>
          <a:xfrm>
            <a:off x="777240" y="1377949"/>
            <a:ext cx="1828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4A9ECC"/>
                </a:solidFill>
                <a:latin typeface="Consolas"/>
                <a:ea typeface="Consolas"/>
                <a:cs typeface="Consolas"/>
                <a:sym typeface="Consolas"/>
              </a:defRPr>
            </a:lvl1pPr>
          </a:lstStyle>
          <a:p>
            <a:r>
              <a:t>Definition</a:t>
            </a:r>
          </a:p>
        </p:txBody>
      </p:sp>
      <p:sp>
        <p:nvSpPr>
          <p:cNvPr id="102" name="Text 6"/>
          <p:cNvSpPr txBox="1"/>
          <p:nvPr/>
        </p:nvSpPr>
        <p:spPr>
          <a:xfrm>
            <a:off x="777240" y="1691639"/>
            <a:ext cx="4114801" cy="14405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Extract all k × k sub-blocks from the grid.</a:t>
            </a:r>
          </a:p>
          <a:p>
            <a:pPr>
              <a:defRPr sz="1200">
                <a:solidFill>
                  <a:srgbClr val="F0F0F0"/>
                </a:solidFill>
              </a:defRPr>
            </a:pPr>
            <a:r>
              <a:t>Each block is a binary pattern b ∈ {0,1}^(k²)</a:t>
            </a:r>
          </a:p>
          <a:p>
            <a:pPr>
              <a:defRPr sz="1200"/>
            </a:pPr>
            <a:endParaRPr/>
          </a:p>
          <a:p>
            <a:pPr>
              <a:defRPr sz="1200">
                <a:solidFill>
                  <a:srgbClr val="F0F0F0"/>
                </a:solidFill>
              </a:defRPr>
            </a:pPr>
            <a:r>
              <a:t>H_k  =  − Σ_b  p(b) log₂ p(b)</a:t>
            </a:r>
          </a:p>
          <a:p>
            <a:pPr>
              <a:defRPr sz="1200"/>
            </a:pPr>
            <a:endParaRPr/>
          </a:p>
          <a:p>
            <a:pPr>
              <a:defRPr sz="1200">
                <a:solidFill>
                  <a:srgbClr val="F0F0F0"/>
                </a:solidFill>
              </a:defRPr>
            </a:pPr>
            <a:r>
              <a:t>Entropy per cell:  s_k = H_k / k²</a:t>
            </a:r>
          </a:p>
          <a:p>
            <a:pPr>
              <a:defRPr sz="1200"/>
            </a:pPr>
            <a:endParaRPr/>
          </a:p>
          <a:p>
            <a:pPr>
              <a:defRPr sz="1200">
                <a:solidFill>
                  <a:srgbClr val="F0F0F0"/>
                </a:solidFill>
              </a:defRPr>
            </a:pPr>
            <a:r>
              <a:t>Maximum: H_k = k² bits (all 2^(k²) patterns equally likely)</a:t>
            </a:r>
          </a:p>
        </p:txBody>
      </p:sp>
      <p:sp>
        <p:nvSpPr>
          <p:cNvPr id="103" name="Shape 7"/>
          <p:cNvSpPr/>
          <p:nvPr/>
        </p:nvSpPr>
        <p:spPr>
          <a:xfrm>
            <a:off x="5394959" y="1234439"/>
            <a:ext cx="3383281" cy="2011680"/>
          </a:xfrm>
          <a:prstGeom prst="rect">
            <a:avLst/>
          </a:prstGeom>
          <a:solidFill>
            <a:srgbClr val="2D2D2D"/>
          </a:solidFill>
          <a:ln w="12700">
            <a:miter lim="400000"/>
          </a:ln>
        </p:spPr>
        <p:txBody>
          <a:bodyPr lIns="45719" rIns="45719"/>
          <a:lstStyle/>
          <a:p>
            <a:endParaRPr/>
          </a:p>
        </p:txBody>
      </p:sp>
      <p:sp>
        <p:nvSpPr>
          <p:cNvPr id="104" name="Text 8"/>
          <p:cNvSpPr txBox="1"/>
          <p:nvPr/>
        </p:nvSpPr>
        <p:spPr>
          <a:xfrm>
            <a:off x="5623559" y="1377949"/>
            <a:ext cx="292608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E8B931"/>
                </a:solidFill>
                <a:latin typeface="Consolas"/>
                <a:ea typeface="Consolas"/>
                <a:cs typeface="Consolas"/>
                <a:sym typeface="Consolas"/>
              </a:defRPr>
            </a:lvl1pPr>
          </a:lstStyle>
          <a:p>
            <a:r>
              <a:t>Typical block sizes</a:t>
            </a:r>
          </a:p>
        </p:txBody>
      </p:sp>
      <p:sp>
        <p:nvSpPr>
          <p:cNvPr id="105" name="Text 9"/>
          <p:cNvSpPr txBox="1"/>
          <p:nvPr/>
        </p:nvSpPr>
        <p:spPr>
          <a:xfrm>
            <a:off x="5760720" y="1837689"/>
            <a:ext cx="54864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r>
              <a:t>2×2</a:t>
            </a:r>
          </a:p>
        </p:txBody>
      </p:sp>
      <p:sp>
        <p:nvSpPr>
          <p:cNvPr id="106" name="Shape 10"/>
          <p:cNvSpPr/>
          <p:nvPr/>
        </p:nvSpPr>
        <p:spPr>
          <a:xfrm>
            <a:off x="6400800" y="1783079"/>
            <a:ext cx="164593" cy="164593"/>
          </a:xfrm>
          <a:prstGeom prst="rect">
            <a:avLst/>
          </a:prstGeom>
          <a:solidFill>
            <a:srgbClr val="4A9ECC"/>
          </a:solidFill>
          <a:ln w="6350">
            <a:solidFill>
              <a:srgbClr val="555555"/>
            </a:solidFill>
          </a:ln>
        </p:spPr>
        <p:txBody>
          <a:bodyPr lIns="45719" rIns="45719"/>
          <a:lstStyle/>
          <a:p>
            <a:endParaRPr/>
          </a:p>
        </p:txBody>
      </p:sp>
      <p:sp>
        <p:nvSpPr>
          <p:cNvPr id="107" name="Shape 11"/>
          <p:cNvSpPr/>
          <p:nvPr/>
        </p:nvSpPr>
        <p:spPr>
          <a:xfrm>
            <a:off x="6583680" y="1783079"/>
            <a:ext cx="164593" cy="164593"/>
          </a:xfrm>
          <a:prstGeom prst="rect">
            <a:avLst/>
          </a:prstGeom>
          <a:solidFill>
            <a:srgbClr val="4A9ECC"/>
          </a:solidFill>
          <a:ln w="6350">
            <a:solidFill>
              <a:srgbClr val="555555"/>
            </a:solidFill>
          </a:ln>
        </p:spPr>
        <p:txBody>
          <a:bodyPr lIns="45719" rIns="45719"/>
          <a:lstStyle/>
          <a:p>
            <a:endParaRPr/>
          </a:p>
        </p:txBody>
      </p:sp>
      <p:sp>
        <p:nvSpPr>
          <p:cNvPr id="108" name="Shape 12"/>
          <p:cNvSpPr/>
          <p:nvPr/>
        </p:nvSpPr>
        <p:spPr>
          <a:xfrm>
            <a:off x="6400800" y="1965960"/>
            <a:ext cx="164593" cy="164593"/>
          </a:xfrm>
          <a:prstGeom prst="rect">
            <a:avLst/>
          </a:prstGeom>
          <a:solidFill>
            <a:srgbClr val="444444"/>
          </a:solidFill>
          <a:ln w="6350">
            <a:solidFill>
              <a:srgbClr val="555555"/>
            </a:solidFill>
          </a:ln>
        </p:spPr>
        <p:txBody>
          <a:bodyPr lIns="45719" rIns="45719"/>
          <a:lstStyle/>
          <a:p>
            <a:endParaRPr/>
          </a:p>
        </p:txBody>
      </p:sp>
      <p:sp>
        <p:nvSpPr>
          <p:cNvPr id="109" name="Shape 13"/>
          <p:cNvSpPr/>
          <p:nvPr/>
        </p:nvSpPr>
        <p:spPr>
          <a:xfrm>
            <a:off x="6583680" y="1965960"/>
            <a:ext cx="164593" cy="164593"/>
          </a:xfrm>
          <a:prstGeom prst="rect">
            <a:avLst/>
          </a:prstGeom>
          <a:solidFill>
            <a:srgbClr val="444444"/>
          </a:solidFill>
          <a:ln w="6350">
            <a:solidFill>
              <a:srgbClr val="555555"/>
            </a:solidFill>
          </a:ln>
        </p:spPr>
        <p:txBody>
          <a:bodyPr lIns="45719" rIns="45719"/>
          <a:lstStyle/>
          <a:p>
            <a:endParaRPr/>
          </a:p>
        </p:txBody>
      </p:sp>
      <p:sp>
        <p:nvSpPr>
          <p:cNvPr id="110" name="Text 14"/>
          <p:cNvSpPr txBox="1"/>
          <p:nvPr/>
        </p:nvSpPr>
        <p:spPr>
          <a:xfrm>
            <a:off x="7132319" y="1888550"/>
            <a:ext cx="1828801" cy="1548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a:solidFill>
                  <a:srgbClr val="A0A0A0"/>
                </a:solidFill>
              </a:defRPr>
            </a:lvl1pPr>
          </a:lstStyle>
          <a:p>
            <a:r>
              <a:t>→  2⁴ = 16 patterns</a:t>
            </a:r>
          </a:p>
        </p:txBody>
      </p:sp>
      <p:sp>
        <p:nvSpPr>
          <p:cNvPr id="111" name="Text 15"/>
          <p:cNvSpPr txBox="1"/>
          <p:nvPr/>
        </p:nvSpPr>
        <p:spPr>
          <a:xfrm>
            <a:off x="5760720" y="2386330"/>
            <a:ext cx="54864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r>
              <a:t>3×3</a:t>
            </a:r>
          </a:p>
        </p:txBody>
      </p:sp>
      <p:sp>
        <p:nvSpPr>
          <p:cNvPr id="112" name="Text 16"/>
          <p:cNvSpPr txBox="1"/>
          <p:nvPr/>
        </p:nvSpPr>
        <p:spPr>
          <a:xfrm>
            <a:off x="7132319" y="2437190"/>
            <a:ext cx="1828801" cy="1548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a:solidFill>
                  <a:srgbClr val="A0A0A0"/>
                </a:solidFill>
              </a:defRPr>
            </a:lvl1pPr>
          </a:lstStyle>
          <a:p>
            <a:r>
              <a:t>→  2⁹ = 512 patterns</a:t>
            </a:r>
          </a:p>
        </p:txBody>
      </p:sp>
      <p:sp>
        <p:nvSpPr>
          <p:cNvPr id="113" name="Text 17"/>
          <p:cNvSpPr txBox="1"/>
          <p:nvPr/>
        </p:nvSpPr>
        <p:spPr>
          <a:xfrm>
            <a:off x="5760720" y="2843530"/>
            <a:ext cx="548641"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4A9ECC"/>
                </a:solidFill>
                <a:latin typeface="Consolas"/>
                <a:ea typeface="Consolas"/>
                <a:cs typeface="Consolas"/>
                <a:sym typeface="Consolas"/>
              </a:defRPr>
            </a:lvl1pPr>
          </a:lstStyle>
          <a:p>
            <a:r>
              <a:t>4×4</a:t>
            </a:r>
          </a:p>
        </p:txBody>
      </p:sp>
      <p:sp>
        <p:nvSpPr>
          <p:cNvPr id="114" name="Text 18"/>
          <p:cNvSpPr txBox="1"/>
          <p:nvPr/>
        </p:nvSpPr>
        <p:spPr>
          <a:xfrm>
            <a:off x="7132319" y="2800410"/>
            <a:ext cx="2011680" cy="434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a:solidFill>
                  <a:srgbClr val="A0A0A0"/>
                </a:solidFill>
              </a:defRPr>
            </a:pPr>
            <a:r>
              <a:t>→  2¹⁶ = 65536 patterns</a:t>
            </a:r>
          </a:p>
          <a:p>
            <a:pPr>
              <a:defRPr sz="1000">
                <a:solidFill>
                  <a:srgbClr val="A0A0A0"/>
                </a:solidFill>
              </a:defRPr>
            </a:pPr>
            <a:r>
              <a:t>     (needs larger grids for</a:t>
            </a:r>
          </a:p>
          <a:p>
            <a:pPr>
              <a:defRPr sz="1000">
                <a:solidFill>
                  <a:srgbClr val="A0A0A0"/>
                </a:solidFill>
              </a:defRPr>
            </a:pPr>
            <a:r>
              <a:t>      good statistics)</a:t>
            </a:r>
          </a:p>
        </p:txBody>
      </p:sp>
      <p:sp>
        <p:nvSpPr>
          <p:cNvPr id="115" name="Shape 19"/>
          <p:cNvSpPr/>
          <p:nvPr/>
        </p:nvSpPr>
        <p:spPr>
          <a:xfrm>
            <a:off x="548640" y="3520440"/>
            <a:ext cx="8229601" cy="868681"/>
          </a:xfrm>
          <a:prstGeom prst="rect">
            <a:avLst/>
          </a:prstGeom>
          <a:solidFill>
            <a:srgbClr val="2D2D2D"/>
          </a:solidFill>
          <a:ln w="12700">
            <a:miter lim="400000"/>
          </a:ln>
        </p:spPr>
        <p:txBody>
          <a:bodyPr lIns="45719" rIns="45719"/>
          <a:lstStyle/>
          <a:p>
            <a:endParaRPr/>
          </a:p>
        </p:txBody>
      </p:sp>
      <p:sp>
        <p:nvSpPr>
          <p:cNvPr id="116" name="Shape 20"/>
          <p:cNvSpPr/>
          <p:nvPr/>
        </p:nvSpPr>
        <p:spPr>
          <a:xfrm>
            <a:off x="548640" y="3520440"/>
            <a:ext cx="54865" cy="868681"/>
          </a:xfrm>
          <a:prstGeom prst="rect">
            <a:avLst/>
          </a:prstGeom>
          <a:solidFill>
            <a:srgbClr val="44AA66"/>
          </a:solidFill>
          <a:ln w="12700">
            <a:miter lim="400000"/>
          </a:ln>
        </p:spPr>
        <p:txBody>
          <a:bodyPr lIns="45719" rIns="45719"/>
          <a:lstStyle/>
          <a:p>
            <a:endParaRPr/>
          </a:p>
        </p:txBody>
      </p:sp>
      <p:sp>
        <p:nvSpPr>
          <p:cNvPr id="117" name="Text 21"/>
          <p:cNvSpPr txBox="1"/>
          <p:nvPr/>
        </p:nvSpPr>
        <p:spPr>
          <a:xfrm>
            <a:off x="822960" y="3611879"/>
            <a:ext cx="7772401" cy="4714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b="1">
                <a:solidFill>
                  <a:srgbClr val="44AA66"/>
                </a:solidFill>
              </a:defRPr>
            </a:pPr>
            <a:r>
              <a:t>Physics analogy:  </a:t>
            </a:r>
            <a:r>
              <a:rPr b="0">
                <a:solidFill>
                  <a:srgbClr val="A0A0A0"/>
                </a:solidFill>
              </a:rPr>
              <a:t>2D block entropy is the discrete analogue of the configurational entropy in lattice statistical mechanics. As k → ∞, s_k converges to the topological entropy of the CA — a measure of the growth rate of the number of admissible configurations.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119"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12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12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Neighborhood Pattern Entropy</a:t>
            </a:r>
          </a:p>
        </p:txBody>
      </p:sp>
      <p:sp>
        <p:nvSpPr>
          <p:cNvPr id="122" name="Text 3"/>
          <p:cNvSpPr txBox="1"/>
          <p:nvPr/>
        </p:nvSpPr>
        <p:spPr>
          <a:xfrm>
            <a:off x="548640" y="825500"/>
            <a:ext cx="73152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The natural measure for GoL: Moore neighborhood configurations</a:t>
            </a:r>
          </a:p>
        </p:txBody>
      </p:sp>
      <p:sp>
        <p:nvSpPr>
          <p:cNvPr id="123" name="Shape 4"/>
          <p:cNvSpPr/>
          <p:nvPr/>
        </p:nvSpPr>
        <p:spPr>
          <a:xfrm>
            <a:off x="548639" y="1234439"/>
            <a:ext cx="5303522" cy="3063241"/>
          </a:xfrm>
          <a:prstGeom prst="rect">
            <a:avLst/>
          </a:prstGeom>
          <a:solidFill>
            <a:srgbClr val="2D2D2D"/>
          </a:solidFill>
          <a:ln w="12700">
            <a:miter lim="400000"/>
          </a:ln>
        </p:spPr>
        <p:txBody>
          <a:bodyPr lIns="45719" rIns="45719"/>
          <a:lstStyle/>
          <a:p>
            <a:endParaRPr/>
          </a:p>
        </p:txBody>
      </p:sp>
      <p:sp>
        <p:nvSpPr>
          <p:cNvPr id="124" name="Text 5"/>
          <p:cNvSpPr txBox="1"/>
          <p:nvPr/>
        </p:nvSpPr>
        <p:spPr>
          <a:xfrm>
            <a:off x="777240" y="1377949"/>
            <a:ext cx="18288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4A9ECC"/>
                </a:solidFill>
                <a:latin typeface="Consolas"/>
                <a:ea typeface="Consolas"/>
                <a:cs typeface="Consolas"/>
                <a:sym typeface="Consolas"/>
              </a:defRPr>
            </a:lvl1pPr>
          </a:lstStyle>
          <a:p>
            <a:r>
              <a:t>Idea</a:t>
            </a:r>
          </a:p>
        </p:txBody>
      </p:sp>
      <p:sp>
        <p:nvSpPr>
          <p:cNvPr id="125" name="Text 6"/>
          <p:cNvSpPr txBox="1"/>
          <p:nvPr/>
        </p:nvSpPr>
        <p:spPr>
          <a:xfrm>
            <a:off x="777239" y="1691639"/>
            <a:ext cx="4846322" cy="14235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For each cell, look at its Moore neighborhood:</a:t>
            </a:r>
          </a:p>
          <a:p>
            <a:pPr>
              <a:defRPr sz="1200">
                <a:solidFill>
                  <a:srgbClr val="F0F0F0"/>
                </a:solidFill>
              </a:defRPr>
            </a:pPr>
            <a:r>
              <a:t>the cell itself + 8 neighbors = 9-bit configuration.</a:t>
            </a:r>
          </a:p>
          <a:p>
            <a:pPr>
              <a:defRPr sz="1200"/>
            </a:pPr>
            <a:endParaRPr/>
          </a:p>
          <a:p>
            <a:pPr>
              <a:defRPr sz="1200">
                <a:solidFill>
                  <a:srgbClr val="F0F0F0"/>
                </a:solidFill>
              </a:defRPr>
            </a:pPr>
            <a:r>
              <a:t>There are 2⁹ = 512 possible neighborhood states.</a:t>
            </a:r>
          </a:p>
          <a:p>
            <a:pPr>
              <a:defRPr sz="1200">
                <a:solidFill>
                  <a:srgbClr val="F0F0F0"/>
                </a:solidFill>
              </a:defRPr>
            </a:pPr>
            <a:r>
              <a:t>Of these, GoL's rule only uses the alive-count sum</a:t>
            </a:r>
          </a:p>
          <a:p>
            <a:pPr>
              <a:defRPr sz="1200">
                <a:solidFill>
                  <a:srgbClr val="F0F0F0"/>
                </a:solidFill>
              </a:defRPr>
            </a:pPr>
            <a:r>
              <a:t>(totalistic), so there are 10 effective classes (0–9 alive).</a:t>
            </a:r>
          </a:p>
          <a:p>
            <a:pPr>
              <a:defRPr sz="1200"/>
            </a:pPr>
            <a:endParaRPr/>
          </a:p>
          <a:p>
            <a:pPr>
              <a:defRPr sz="1200">
                <a:solidFill>
                  <a:srgbClr val="F0F0F0"/>
                </a:solidFill>
              </a:defRPr>
            </a:pPr>
            <a:r>
              <a:t>We can compute entropy at two levels:</a:t>
            </a:r>
          </a:p>
        </p:txBody>
      </p:sp>
      <p:sp>
        <p:nvSpPr>
          <p:cNvPr id="126" name="Shape 7"/>
          <p:cNvSpPr/>
          <p:nvPr/>
        </p:nvSpPr>
        <p:spPr>
          <a:xfrm>
            <a:off x="822960" y="3200400"/>
            <a:ext cx="2286001" cy="868681"/>
          </a:xfrm>
          <a:prstGeom prst="rect">
            <a:avLst/>
          </a:prstGeom>
          <a:solidFill>
            <a:srgbClr val="383838"/>
          </a:solidFill>
          <a:ln w="12700">
            <a:miter lim="400000"/>
          </a:ln>
        </p:spPr>
        <p:txBody>
          <a:bodyPr lIns="45719" rIns="45719"/>
          <a:lstStyle/>
          <a:p>
            <a:endParaRPr/>
          </a:p>
        </p:txBody>
      </p:sp>
      <p:sp>
        <p:nvSpPr>
          <p:cNvPr id="127" name="Text 8"/>
          <p:cNvSpPr txBox="1"/>
          <p:nvPr/>
        </p:nvSpPr>
        <p:spPr>
          <a:xfrm>
            <a:off x="960119" y="3300729"/>
            <a:ext cx="2011680"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E8B931"/>
                </a:solidFill>
                <a:latin typeface="Consolas"/>
                <a:ea typeface="Consolas"/>
                <a:cs typeface="Consolas"/>
                <a:sym typeface="Consolas"/>
              </a:defRPr>
            </a:lvl1pPr>
          </a:lstStyle>
          <a:p>
            <a:r>
              <a:t>Full pattern entropy</a:t>
            </a:r>
          </a:p>
        </p:txBody>
      </p:sp>
      <p:sp>
        <p:nvSpPr>
          <p:cNvPr id="128" name="Text 9"/>
          <p:cNvSpPr txBox="1"/>
          <p:nvPr/>
        </p:nvSpPr>
        <p:spPr>
          <a:xfrm>
            <a:off x="960119" y="3609340"/>
            <a:ext cx="2011680"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a:solidFill>
                  <a:srgbClr val="A0A0A0"/>
                </a:solidFill>
              </a:defRPr>
            </a:pPr>
            <a:r>
              <a:t>All 512 configurations</a:t>
            </a:r>
          </a:p>
          <a:p>
            <a:pPr>
              <a:defRPr sz="1000">
                <a:solidFill>
                  <a:srgbClr val="A0A0A0"/>
                </a:solidFill>
              </a:defRPr>
            </a:pPr>
            <a:r>
              <a:t>Max = 9 bits</a:t>
            </a:r>
          </a:p>
        </p:txBody>
      </p:sp>
      <p:sp>
        <p:nvSpPr>
          <p:cNvPr id="129" name="Shape 10"/>
          <p:cNvSpPr/>
          <p:nvPr/>
        </p:nvSpPr>
        <p:spPr>
          <a:xfrm>
            <a:off x="3291840" y="3200400"/>
            <a:ext cx="2286001" cy="868681"/>
          </a:xfrm>
          <a:prstGeom prst="rect">
            <a:avLst/>
          </a:prstGeom>
          <a:solidFill>
            <a:srgbClr val="383838"/>
          </a:solidFill>
          <a:ln w="12700">
            <a:miter lim="400000"/>
          </a:ln>
        </p:spPr>
        <p:txBody>
          <a:bodyPr lIns="45719" rIns="45719"/>
          <a:lstStyle/>
          <a:p>
            <a:endParaRPr/>
          </a:p>
        </p:txBody>
      </p:sp>
      <p:sp>
        <p:nvSpPr>
          <p:cNvPr id="130" name="Text 11"/>
          <p:cNvSpPr txBox="1"/>
          <p:nvPr/>
        </p:nvSpPr>
        <p:spPr>
          <a:xfrm>
            <a:off x="3429000" y="3300729"/>
            <a:ext cx="2011679"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a:solidFill>
                  <a:srgbClr val="E8B931"/>
                </a:solidFill>
                <a:latin typeface="Consolas"/>
                <a:ea typeface="Consolas"/>
                <a:cs typeface="Consolas"/>
                <a:sym typeface="Consolas"/>
              </a:defRPr>
            </a:lvl1pPr>
          </a:lstStyle>
          <a:p>
            <a:r>
              <a:t>Sum-based entropy</a:t>
            </a:r>
          </a:p>
        </p:txBody>
      </p:sp>
      <p:sp>
        <p:nvSpPr>
          <p:cNvPr id="131" name="Text 12"/>
          <p:cNvSpPr txBox="1"/>
          <p:nvPr/>
        </p:nvSpPr>
        <p:spPr>
          <a:xfrm>
            <a:off x="3429000" y="3602990"/>
            <a:ext cx="2011679" cy="292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a:solidFill>
                  <a:srgbClr val="A0A0A0"/>
                </a:solidFill>
              </a:defRPr>
            </a:pPr>
            <a:r>
              <a:t>10 sum classes (0–9)</a:t>
            </a:r>
          </a:p>
          <a:p>
            <a:pPr>
              <a:defRPr sz="1000">
                <a:solidFill>
                  <a:srgbClr val="A0A0A0"/>
                </a:solidFill>
              </a:defRPr>
            </a:pPr>
            <a:r>
              <a:t>Max = log₂(10) ≈ 3.32 bits</a:t>
            </a:r>
          </a:p>
        </p:txBody>
      </p:sp>
      <p:sp>
        <p:nvSpPr>
          <p:cNvPr id="132" name="Shape 13"/>
          <p:cNvSpPr/>
          <p:nvPr/>
        </p:nvSpPr>
        <p:spPr>
          <a:xfrm>
            <a:off x="6126479" y="1234439"/>
            <a:ext cx="2651761" cy="3063241"/>
          </a:xfrm>
          <a:prstGeom prst="rect">
            <a:avLst/>
          </a:prstGeom>
          <a:solidFill>
            <a:srgbClr val="2D2D2D"/>
          </a:solidFill>
          <a:ln w="12700">
            <a:miter lim="400000"/>
          </a:ln>
        </p:spPr>
        <p:txBody>
          <a:bodyPr lIns="45719" rIns="45719"/>
          <a:lstStyle/>
          <a:p>
            <a:endParaRPr/>
          </a:p>
        </p:txBody>
      </p:sp>
      <p:sp>
        <p:nvSpPr>
          <p:cNvPr id="133" name="Text 14"/>
          <p:cNvSpPr txBox="1"/>
          <p:nvPr/>
        </p:nvSpPr>
        <p:spPr>
          <a:xfrm>
            <a:off x="6309359" y="1397000"/>
            <a:ext cx="22860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a:solidFill>
                  <a:srgbClr val="4A9ECC"/>
                </a:solidFill>
                <a:latin typeface="Consolas"/>
                <a:ea typeface="Consolas"/>
                <a:cs typeface="Consolas"/>
                <a:sym typeface="Consolas"/>
              </a:defRPr>
            </a:lvl1pPr>
          </a:lstStyle>
          <a:p>
            <a:r>
              <a:t>Moore Neighborhood</a:t>
            </a:r>
          </a:p>
        </p:txBody>
      </p:sp>
      <p:sp>
        <p:nvSpPr>
          <p:cNvPr id="134" name="Shape 15"/>
          <p:cNvSpPr/>
          <p:nvPr/>
        </p:nvSpPr>
        <p:spPr>
          <a:xfrm>
            <a:off x="6675119" y="1920239"/>
            <a:ext cx="393193" cy="393193"/>
          </a:xfrm>
          <a:prstGeom prst="rect">
            <a:avLst/>
          </a:prstGeom>
          <a:solidFill>
            <a:srgbClr val="444444"/>
          </a:solidFill>
          <a:ln w="12700">
            <a:solidFill>
              <a:srgbClr val="666666"/>
            </a:solidFill>
          </a:ln>
        </p:spPr>
        <p:txBody>
          <a:bodyPr lIns="45719" rIns="45719"/>
          <a:lstStyle/>
          <a:p>
            <a:endParaRPr/>
          </a:p>
        </p:txBody>
      </p:sp>
      <p:sp>
        <p:nvSpPr>
          <p:cNvPr id="135" name="Shape 16"/>
          <p:cNvSpPr/>
          <p:nvPr/>
        </p:nvSpPr>
        <p:spPr>
          <a:xfrm>
            <a:off x="7086600" y="1920239"/>
            <a:ext cx="393193" cy="393193"/>
          </a:xfrm>
          <a:prstGeom prst="rect">
            <a:avLst/>
          </a:prstGeom>
          <a:solidFill>
            <a:srgbClr val="4A9ECC"/>
          </a:solidFill>
          <a:ln w="12700">
            <a:solidFill>
              <a:srgbClr val="666666"/>
            </a:solidFill>
          </a:ln>
        </p:spPr>
        <p:txBody>
          <a:bodyPr lIns="45719" rIns="45719"/>
          <a:lstStyle/>
          <a:p>
            <a:endParaRPr/>
          </a:p>
        </p:txBody>
      </p:sp>
      <p:sp>
        <p:nvSpPr>
          <p:cNvPr id="136" name="Shape 17"/>
          <p:cNvSpPr/>
          <p:nvPr/>
        </p:nvSpPr>
        <p:spPr>
          <a:xfrm>
            <a:off x="7498080" y="1920239"/>
            <a:ext cx="393193" cy="393193"/>
          </a:xfrm>
          <a:prstGeom prst="rect">
            <a:avLst/>
          </a:prstGeom>
          <a:solidFill>
            <a:srgbClr val="444444"/>
          </a:solidFill>
          <a:ln w="12700">
            <a:solidFill>
              <a:srgbClr val="666666"/>
            </a:solidFill>
          </a:ln>
        </p:spPr>
        <p:txBody>
          <a:bodyPr lIns="45719" rIns="45719"/>
          <a:lstStyle/>
          <a:p>
            <a:endParaRPr/>
          </a:p>
        </p:txBody>
      </p:sp>
      <p:sp>
        <p:nvSpPr>
          <p:cNvPr id="137" name="Shape 18"/>
          <p:cNvSpPr/>
          <p:nvPr/>
        </p:nvSpPr>
        <p:spPr>
          <a:xfrm>
            <a:off x="6675119" y="2331720"/>
            <a:ext cx="393193" cy="393193"/>
          </a:xfrm>
          <a:prstGeom prst="rect">
            <a:avLst/>
          </a:prstGeom>
          <a:solidFill>
            <a:srgbClr val="4A9ECC"/>
          </a:solidFill>
          <a:ln w="12700">
            <a:solidFill>
              <a:srgbClr val="666666"/>
            </a:solidFill>
          </a:ln>
        </p:spPr>
        <p:txBody>
          <a:bodyPr lIns="45719" rIns="45719"/>
          <a:lstStyle/>
          <a:p>
            <a:endParaRPr/>
          </a:p>
        </p:txBody>
      </p:sp>
      <p:sp>
        <p:nvSpPr>
          <p:cNvPr id="138" name="Shape 19"/>
          <p:cNvSpPr/>
          <p:nvPr/>
        </p:nvSpPr>
        <p:spPr>
          <a:xfrm>
            <a:off x="7086600" y="2331720"/>
            <a:ext cx="393193" cy="393193"/>
          </a:xfrm>
          <a:prstGeom prst="rect">
            <a:avLst/>
          </a:prstGeom>
          <a:solidFill>
            <a:srgbClr val="E8B931"/>
          </a:solidFill>
          <a:ln w="12700">
            <a:solidFill>
              <a:srgbClr val="666666"/>
            </a:solidFill>
          </a:ln>
        </p:spPr>
        <p:txBody>
          <a:bodyPr lIns="45719" rIns="45719"/>
          <a:lstStyle/>
          <a:p>
            <a:endParaRPr/>
          </a:p>
        </p:txBody>
      </p:sp>
      <p:sp>
        <p:nvSpPr>
          <p:cNvPr id="139" name="Shape 20"/>
          <p:cNvSpPr/>
          <p:nvPr/>
        </p:nvSpPr>
        <p:spPr>
          <a:xfrm>
            <a:off x="7498080" y="2331720"/>
            <a:ext cx="393193" cy="393193"/>
          </a:xfrm>
          <a:prstGeom prst="rect">
            <a:avLst/>
          </a:prstGeom>
          <a:solidFill>
            <a:srgbClr val="4A9ECC"/>
          </a:solidFill>
          <a:ln w="12700">
            <a:solidFill>
              <a:srgbClr val="666666"/>
            </a:solidFill>
          </a:ln>
        </p:spPr>
        <p:txBody>
          <a:bodyPr lIns="45719" rIns="45719"/>
          <a:lstStyle/>
          <a:p>
            <a:endParaRPr/>
          </a:p>
        </p:txBody>
      </p:sp>
      <p:sp>
        <p:nvSpPr>
          <p:cNvPr id="140" name="Shape 21"/>
          <p:cNvSpPr/>
          <p:nvPr/>
        </p:nvSpPr>
        <p:spPr>
          <a:xfrm>
            <a:off x="6675119" y="2743200"/>
            <a:ext cx="393193" cy="393193"/>
          </a:xfrm>
          <a:prstGeom prst="rect">
            <a:avLst/>
          </a:prstGeom>
          <a:solidFill>
            <a:srgbClr val="444444"/>
          </a:solidFill>
          <a:ln w="12700">
            <a:solidFill>
              <a:srgbClr val="666666"/>
            </a:solidFill>
          </a:ln>
        </p:spPr>
        <p:txBody>
          <a:bodyPr lIns="45719" rIns="45719"/>
          <a:lstStyle/>
          <a:p>
            <a:endParaRPr/>
          </a:p>
        </p:txBody>
      </p:sp>
      <p:sp>
        <p:nvSpPr>
          <p:cNvPr id="141" name="Shape 22"/>
          <p:cNvSpPr/>
          <p:nvPr/>
        </p:nvSpPr>
        <p:spPr>
          <a:xfrm>
            <a:off x="7086600" y="2743200"/>
            <a:ext cx="393193" cy="393193"/>
          </a:xfrm>
          <a:prstGeom prst="rect">
            <a:avLst/>
          </a:prstGeom>
          <a:solidFill>
            <a:srgbClr val="4A9ECC"/>
          </a:solidFill>
          <a:ln w="12700">
            <a:solidFill>
              <a:srgbClr val="666666"/>
            </a:solidFill>
          </a:ln>
        </p:spPr>
        <p:txBody>
          <a:bodyPr lIns="45719" rIns="45719"/>
          <a:lstStyle/>
          <a:p>
            <a:endParaRPr/>
          </a:p>
        </p:txBody>
      </p:sp>
      <p:sp>
        <p:nvSpPr>
          <p:cNvPr id="142" name="Shape 23"/>
          <p:cNvSpPr/>
          <p:nvPr/>
        </p:nvSpPr>
        <p:spPr>
          <a:xfrm>
            <a:off x="7498080" y="2743200"/>
            <a:ext cx="393193" cy="393193"/>
          </a:xfrm>
          <a:prstGeom prst="rect">
            <a:avLst/>
          </a:prstGeom>
          <a:solidFill>
            <a:srgbClr val="444444"/>
          </a:solidFill>
          <a:ln w="12700">
            <a:solidFill>
              <a:srgbClr val="666666"/>
            </a:solidFill>
          </a:ln>
        </p:spPr>
        <p:txBody>
          <a:bodyPr lIns="45719" rIns="45719"/>
          <a:lstStyle/>
          <a:p>
            <a:endParaRPr/>
          </a:p>
        </p:txBody>
      </p:sp>
      <p:sp>
        <p:nvSpPr>
          <p:cNvPr id="143" name="Text 24"/>
          <p:cNvSpPr txBox="1"/>
          <p:nvPr/>
        </p:nvSpPr>
        <p:spPr>
          <a:xfrm>
            <a:off x="6309359" y="3296920"/>
            <a:ext cx="22860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a:solidFill>
                  <a:srgbClr val="E8B931"/>
                </a:solidFill>
              </a:defRPr>
            </a:lvl1pPr>
          </a:lstStyle>
          <a:p>
            <a:r>
              <a:t>center cell</a:t>
            </a:r>
          </a:p>
        </p:txBody>
      </p:sp>
      <p:sp>
        <p:nvSpPr>
          <p:cNvPr id="144" name="Text 25"/>
          <p:cNvSpPr txBox="1"/>
          <p:nvPr/>
        </p:nvSpPr>
        <p:spPr>
          <a:xfrm>
            <a:off x="6309359" y="3525520"/>
            <a:ext cx="22860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900">
                <a:solidFill>
                  <a:srgbClr val="A0A0A0"/>
                </a:solidFill>
              </a:defRPr>
            </a:lvl1pPr>
          </a:lstStyle>
          <a:p>
            <a:r>
              <a:t>+ 8 neighbors = 9 bits</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146"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14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14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Temporal Entropy</a:t>
            </a:r>
          </a:p>
        </p:txBody>
      </p:sp>
      <p:sp>
        <p:nvSpPr>
          <p:cNvPr id="14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Tracking how each cell fluctuates over time</a:t>
            </a:r>
          </a:p>
        </p:txBody>
      </p:sp>
      <p:sp>
        <p:nvSpPr>
          <p:cNvPr id="150" name="Shape 4"/>
          <p:cNvSpPr/>
          <p:nvPr/>
        </p:nvSpPr>
        <p:spPr>
          <a:xfrm>
            <a:off x="548640" y="1234439"/>
            <a:ext cx="5029201" cy="2103122"/>
          </a:xfrm>
          <a:prstGeom prst="rect">
            <a:avLst/>
          </a:prstGeom>
          <a:solidFill>
            <a:srgbClr val="2D2D2D"/>
          </a:solidFill>
          <a:ln w="12700">
            <a:miter lim="400000"/>
          </a:ln>
        </p:spPr>
        <p:txBody>
          <a:bodyPr lIns="45719" rIns="45719"/>
          <a:lstStyle/>
          <a:p>
            <a:endParaRPr/>
          </a:p>
        </p:txBody>
      </p:sp>
      <p:sp>
        <p:nvSpPr>
          <p:cNvPr id="151" name="Text 5"/>
          <p:cNvSpPr txBox="1"/>
          <p:nvPr/>
        </p:nvSpPr>
        <p:spPr>
          <a:xfrm>
            <a:off x="777240" y="1371600"/>
            <a:ext cx="4572001" cy="17984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300">
                <a:solidFill>
                  <a:srgbClr val="F0F0F0"/>
                </a:solidFill>
                <a:latin typeface="Cambria Math"/>
                <a:ea typeface="Cambria Math"/>
                <a:cs typeface="Cambria Math"/>
                <a:sym typeface="Cambria Math"/>
              </a:defRPr>
            </a:pPr>
            <a:r>
              <a:t>For a single cell (i,j) over T time steps:</a:t>
            </a:r>
          </a:p>
          <a:p>
            <a:pPr>
              <a:defRPr sz="1300"/>
            </a:pPr>
            <a:endParaRPr/>
          </a:p>
          <a:p>
            <a:pPr>
              <a:defRPr sz="1300">
                <a:solidFill>
                  <a:srgbClr val="F0F0F0"/>
                </a:solidFill>
                <a:latin typeface="Cambria Math"/>
                <a:ea typeface="Cambria Math"/>
                <a:cs typeface="Cambria Math"/>
                <a:sym typeface="Cambria Math"/>
              </a:defRPr>
            </a:pPr>
            <a:r>
              <a:t>  fᵢⱼ = (1/T) Σₜ  cᵢⱼ(t)     (fraction of time alive)</a:t>
            </a:r>
          </a:p>
          <a:p>
            <a:pPr>
              <a:defRPr sz="1300"/>
            </a:pPr>
            <a:endParaRPr/>
          </a:p>
          <a:p>
            <a:pPr>
              <a:defRPr sz="1300">
                <a:solidFill>
                  <a:srgbClr val="F0F0F0"/>
                </a:solidFill>
                <a:latin typeface="Cambria Math"/>
                <a:ea typeface="Cambria Math"/>
                <a:cs typeface="Cambria Math"/>
                <a:sym typeface="Cambria Math"/>
              </a:defRPr>
            </a:pPr>
            <a:r>
              <a:t>  Hᵢⱼ = −fᵢⱼ log₂ fᵢⱼ − (1−fᵢⱼ) log₂(1−fᵢⱼ)</a:t>
            </a:r>
          </a:p>
          <a:p>
            <a:pPr>
              <a:defRPr sz="1300"/>
            </a:pPr>
            <a:endParaRPr/>
          </a:p>
          <a:p>
            <a:pPr>
              <a:defRPr sz="1300">
                <a:solidFill>
                  <a:srgbClr val="F0F0F0"/>
                </a:solidFill>
                <a:latin typeface="Cambria Math"/>
                <a:ea typeface="Cambria Math"/>
                <a:cs typeface="Cambria Math"/>
                <a:sym typeface="Cambria Math"/>
              </a:defRPr>
            </a:pPr>
            <a:r>
              <a:t>Average temporal entropy:</a:t>
            </a:r>
          </a:p>
          <a:p>
            <a:pPr>
              <a:defRPr sz="1300"/>
            </a:pPr>
            <a:endParaRPr/>
          </a:p>
          <a:p>
            <a:pPr>
              <a:defRPr sz="1300">
                <a:solidFill>
                  <a:srgbClr val="F0F0F0"/>
                </a:solidFill>
                <a:latin typeface="Cambria Math"/>
                <a:ea typeface="Cambria Math"/>
                <a:cs typeface="Cambria Math"/>
                <a:sym typeface="Cambria Math"/>
              </a:defRPr>
            </a:pPr>
            <a:r>
              <a:t>  ⟨H_temp⟩ = (1/N) Σᵢⱼ  Hᵢⱼ</a:t>
            </a:r>
          </a:p>
        </p:txBody>
      </p:sp>
      <p:sp>
        <p:nvSpPr>
          <p:cNvPr id="152" name="Shape 6"/>
          <p:cNvSpPr/>
          <p:nvPr/>
        </p:nvSpPr>
        <p:spPr>
          <a:xfrm>
            <a:off x="5852159" y="1234439"/>
            <a:ext cx="2926081" cy="2103122"/>
          </a:xfrm>
          <a:prstGeom prst="rect">
            <a:avLst/>
          </a:prstGeom>
          <a:solidFill>
            <a:srgbClr val="2D2D2D"/>
          </a:solidFill>
          <a:ln w="12700">
            <a:miter lim="400000"/>
          </a:ln>
        </p:spPr>
        <p:txBody>
          <a:bodyPr lIns="45719" rIns="45719"/>
          <a:lstStyle/>
          <a:p>
            <a:endParaRPr/>
          </a:p>
        </p:txBody>
      </p:sp>
      <p:sp>
        <p:nvSpPr>
          <p:cNvPr id="153" name="Text 7"/>
          <p:cNvSpPr txBox="1"/>
          <p:nvPr/>
        </p:nvSpPr>
        <p:spPr>
          <a:xfrm>
            <a:off x="6035040" y="1377949"/>
            <a:ext cx="256032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E8B931"/>
                </a:solidFill>
                <a:latin typeface="Consolas"/>
                <a:ea typeface="Consolas"/>
                <a:cs typeface="Consolas"/>
                <a:sym typeface="Consolas"/>
              </a:defRPr>
            </a:lvl1pPr>
          </a:lstStyle>
          <a:p>
            <a:r>
              <a:t>Interpretation</a:t>
            </a:r>
          </a:p>
        </p:txBody>
      </p:sp>
      <p:sp>
        <p:nvSpPr>
          <p:cNvPr id="154" name="Text 8"/>
          <p:cNvSpPr txBox="1"/>
          <p:nvPr/>
        </p:nvSpPr>
        <p:spPr>
          <a:xfrm>
            <a:off x="6035040" y="1737360"/>
            <a:ext cx="2560321" cy="14375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b="1">
                <a:solidFill>
                  <a:srgbClr val="44AA66"/>
                </a:solidFill>
              </a:defRPr>
            </a:pPr>
            <a:r>
              <a:t>Hᵢⱼ = 0: </a:t>
            </a:r>
            <a:r>
              <a:rPr b="0">
                <a:solidFill>
                  <a:srgbClr val="A0A0A0"/>
                </a:solidFill>
              </a:rPr>
              <a:t>cell is always dead or always alive (still life / dead zone)</a:t>
            </a:r>
          </a:p>
          <a:p>
            <a:pPr>
              <a:defRPr sz="600"/>
            </a:pPr>
            <a:endParaRPr b="0">
              <a:solidFill>
                <a:srgbClr val="A0A0A0"/>
              </a:solidFill>
            </a:endParaRPr>
          </a:p>
          <a:p>
            <a:pPr>
              <a:defRPr sz="600"/>
            </a:pPr>
            <a:endParaRPr sz="1100"/>
          </a:p>
          <a:p>
            <a:pPr>
              <a:defRPr sz="1100" b="1">
                <a:solidFill>
                  <a:srgbClr val="CC4444"/>
                </a:solidFill>
              </a:defRPr>
            </a:pPr>
            <a:r>
              <a:t>Hᵢⱼ = 1: </a:t>
            </a:r>
            <a:r>
              <a:rPr b="0">
                <a:solidFill>
                  <a:srgbClr val="A0A0A0"/>
                </a:solidFill>
              </a:rPr>
              <a:t>cell flips with equal probability (edge of chaos)</a:t>
            </a:r>
          </a:p>
          <a:p>
            <a:pPr>
              <a:defRPr sz="600"/>
            </a:pPr>
            <a:endParaRPr b="0">
              <a:solidFill>
                <a:srgbClr val="A0A0A0"/>
              </a:solidFill>
            </a:endParaRPr>
          </a:p>
          <a:p>
            <a:pPr>
              <a:defRPr sz="600"/>
            </a:pPr>
            <a:endParaRPr sz="1100"/>
          </a:p>
          <a:p>
            <a:pPr>
              <a:defRPr sz="1100" b="1">
                <a:solidFill>
                  <a:srgbClr val="D4853B"/>
                </a:solidFill>
              </a:defRPr>
            </a:pPr>
            <a:r>
              <a:t>Hᵢⱼ ≈ h(1/p): </a:t>
            </a:r>
            <a:r>
              <a:rPr b="0">
                <a:solidFill>
                  <a:srgbClr val="A0A0A0"/>
                </a:solidFill>
              </a:rPr>
              <a:t>cell is part of a period-p oscillator</a:t>
            </a:r>
          </a:p>
        </p:txBody>
      </p:sp>
      <p:sp>
        <p:nvSpPr>
          <p:cNvPr id="155" name="Shape 9"/>
          <p:cNvSpPr/>
          <p:nvPr/>
        </p:nvSpPr>
        <p:spPr>
          <a:xfrm>
            <a:off x="548640" y="3611879"/>
            <a:ext cx="8229601" cy="777241"/>
          </a:xfrm>
          <a:prstGeom prst="rect">
            <a:avLst/>
          </a:prstGeom>
          <a:solidFill>
            <a:srgbClr val="2D2D2D"/>
          </a:solidFill>
          <a:ln w="12700">
            <a:miter lim="400000"/>
          </a:ln>
        </p:spPr>
        <p:txBody>
          <a:bodyPr lIns="45719" rIns="45719"/>
          <a:lstStyle/>
          <a:p>
            <a:endParaRPr/>
          </a:p>
        </p:txBody>
      </p:sp>
      <p:sp>
        <p:nvSpPr>
          <p:cNvPr id="156" name="Shape 10"/>
          <p:cNvSpPr/>
          <p:nvPr/>
        </p:nvSpPr>
        <p:spPr>
          <a:xfrm>
            <a:off x="548640" y="3611879"/>
            <a:ext cx="54865" cy="777241"/>
          </a:xfrm>
          <a:prstGeom prst="rect">
            <a:avLst/>
          </a:prstGeom>
          <a:solidFill>
            <a:srgbClr val="4A9ECC"/>
          </a:solidFill>
          <a:ln w="12700">
            <a:miter lim="400000"/>
          </a:ln>
        </p:spPr>
        <p:txBody>
          <a:bodyPr lIns="45719" rIns="45719"/>
          <a:lstStyle/>
          <a:p>
            <a:endParaRPr/>
          </a:p>
        </p:txBody>
      </p:sp>
      <p:sp>
        <p:nvSpPr>
          <p:cNvPr id="157" name="Text 11"/>
          <p:cNvSpPr txBox="1"/>
          <p:nvPr/>
        </p:nvSpPr>
        <p:spPr>
          <a:xfrm>
            <a:off x="822960" y="3703320"/>
            <a:ext cx="7772401" cy="4707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b="1">
                <a:solidFill>
                  <a:srgbClr val="4A9ECC"/>
                </a:solidFill>
              </a:defRPr>
            </a:pPr>
            <a:r>
              <a:t>Spatial entropy map:  </a:t>
            </a:r>
            <a:r>
              <a:rPr b="0">
                <a:solidFill>
                  <a:srgbClr val="A0A0A0"/>
                </a:solidFill>
              </a:rPr>
              <a:t>Plotting Hᵢⱼ as a heatmap reveals the 'activity regions' of a GoL configuration. Still lifes appear as cold (H=0) islands; oscillators create warm spots; glider tracks show as faint streaks. This is a powerful visualization tool for your notebooks!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159"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16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16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Entropy Dynamics in GoL</a:t>
            </a:r>
          </a:p>
        </p:txBody>
      </p:sp>
      <p:sp>
        <p:nvSpPr>
          <p:cNvPr id="162"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What happens when you start from a random soup?</a:t>
            </a:r>
          </a:p>
        </p:txBody>
      </p:sp>
      <p:sp>
        <p:nvSpPr>
          <p:cNvPr id="163" name="Shape 4"/>
          <p:cNvSpPr/>
          <p:nvPr/>
        </p:nvSpPr>
        <p:spPr>
          <a:xfrm>
            <a:off x="457200" y="1417319"/>
            <a:ext cx="1965961" cy="2743201"/>
          </a:xfrm>
          <a:prstGeom prst="rect">
            <a:avLst/>
          </a:prstGeom>
          <a:solidFill>
            <a:srgbClr val="2D2D2D"/>
          </a:solidFill>
          <a:ln w="12700">
            <a:miter lim="400000"/>
          </a:ln>
        </p:spPr>
        <p:txBody>
          <a:bodyPr lIns="45719" rIns="45719"/>
          <a:lstStyle/>
          <a:p>
            <a:endParaRPr/>
          </a:p>
        </p:txBody>
      </p:sp>
      <p:sp>
        <p:nvSpPr>
          <p:cNvPr id="164" name="Shape 5"/>
          <p:cNvSpPr/>
          <p:nvPr/>
        </p:nvSpPr>
        <p:spPr>
          <a:xfrm>
            <a:off x="457200" y="1417319"/>
            <a:ext cx="1965961" cy="45721"/>
          </a:xfrm>
          <a:prstGeom prst="rect">
            <a:avLst/>
          </a:prstGeom>
          <a:solidFill>
            <a:srgbClr val="CC4444"/>
          </a:solidFill>
          <a:ln w="12700">
            <a:miter lim="400000"/>
          </a:ln>
        </p:spPr>
        <p:txBody>
          <a:bodyPr lIns="45719" rIns="45719"/>
          <a:lstStyle/>
          <a:p>
            <a:endParaRPr/>
          </a:p>
        </p:txBody>
      </p:sp>
      <p:sp>
        <p:nvSpPr>
          <p:cNvPr id="165" name="Text 6"/>
          <p:cNvSpPr txBox="1"/>
          <p:nvPr/>
        </p:nvSpPr>
        <p:spPr>
          <a:xfrm>
            <a:off x="2377439" y="2518409"/>
            <a:ext cx="274321" cy="266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a:solidFill>
                  <a:srgbClr val="707070"/>
                </a:solidFill>
              </a:defRPr>
            </a:lvl1pPr>
          </a:lstStyle>
          <a:p>
            <a:r>
              <a:t>→</a:t>
            </a:r>
          </a:p>
        </p:txBody>
      </p:sp>
      <p:sp>
        <p:nvSpPr>
          <p:cNvPr id="166" name="Text 7"/>
          <p:cNvSpPr txBox="1"/>
          <p:nvPr/>
        </p:nvSpPr>
        <p:spPr>
          <a:xfrm>
            <a:off x="594359" y="162178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CC4444"/>
                </a:solidFill>
              </a:defRPr>
            </a:lvl1pPr>
          </a:lstStyle>
          <a:p>
            <a:r>
              <a:t>Phase I</a:t>
            </a:r>
          </a:p>
        </p:txBody>
      </p:sp>
      <p:sp>
        <p:nvSpPr>
          <p:cNvPr id="167" name="Text 8"/>
          <p:cNvSpPr txBox="1"/>
          <p:nvPr/>
        </p:nvSpPr>
        <p:spPr>
          <a:xfrm>
            <a:off x="594359" y="182752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r>
              <a:t>t = 0–10</a:t>
            </a:r>
          </a:p>
        </p:txBody>
      </p:sp>
      <p:sp>
        <p:nvSpPr>
          <p:cNvPr id="168" name="Text 9"/>
          <p:cNvSpPr txBox="1"/>
          <p:nvPr/>
        </p:nvSpPr>
        <p:spPr>
          <a:xfrm>
            <a:off x="594359" y="2142490"/>
            <a:ext cx="169164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FFFFFF"/>
                </a:solidFill>
                <a:latin typeface="Consolas"/>
                <a:ea typeface="Consolas"/>
                <a:cs typeface="Consolas"/>
                <a:sym typeface="Consolas"/>
              </a:defRPr>
            </a:lvl1pPr>
          </a:lstStyle>
          <a:p>
            <a:r>
              <a:t>Chaos</a:t>
            </a:r>
          </a:p>
        </p:txBody>
      </p:sp>
      <p:sp>
        <p:nvSpPr>
          <p:cNvPr id="169" name="Text 10"/>
          <p:cNvSpPr txBox="1"/>
          <p:nvPr/>
        </p:nvSpPr>
        <p:spPr>
          <a:xfrm>
            <a:off x="594359" y="2514600"/>
            <a:ext cx="1691641" cy="45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Random initial config.</a:t>
            </a:r>
          </a:p>
          <a:p>
            <a:pPr>
              <a:defRPr sz="1100">
                <a:solidFill>
                  <a:srgbClr val="A0A0A0"/>
                </a:solidFill>
              </a:defRPr>
            </a:pPr>
            <a:r>
              <a:t>H ≈ maximum.</a:t>
            </a:r>
          </a:p>
          <a:p>
            <a:pPr>
              <a:defRPr sz="1100">
                <a:solidFill>
                  <a:srgbClr val="A0A0A0"/>
                </a:solidFill>
              </a:defRPr>
            </a:pPr>
            <a:r>
              <a:t>Rapid transient dynamics.</a:t>
            </a:r>
          </a:p>
        </p:txBody>
      </p:sp>
      <p:sp>
        <p:nvSpPr>
          <p:cNvPr id="170" name="Shape 11"/>
          <p:cNvSpPr/>
          <p:nvPr/>
        </p:nvSpPr>
        <p:spPr>
          <a:xfrm>
            <a:off x="2606039" y="1417319"/>
            <a:ext cx="1965961" cy="2743201"/>
          </a:xfrm>
          <a:prstGeom prst="rect">
            <a:avLst/>
          </a:prstGeom>
          <a:solidFill>
            <a:srgbClr val="2D2D2D"/>
          </a:solidFill>
          <a:ln w="12700">
            <a:miter lim="400000"/>
          </a:ln>
        </p:spPr>
        <p:txBody>
          <a:bodyPr lIns="45719" rIns="45719"/>
          <a:lstStyle/>
          <a:p>
            <a:endParaRPr/>
          </a:p>
        </p:txBody>
      </p:sp>
      <p:sp>
        <p:nvSpPr>
          <p:cNvPr id="171" name="Shape 12"/>
          <p:cNvSpPr/>
          <p:nvPr/>
        </p:nvSpPr>
        <p:spPr>
          <a:xfrm>
            <a:off x="2606039" y="1417319"/>
            <a:ext cx="1965961" cy="45721"/>
          </a:xfrm>
          <a:prstGeom prst="rect">
            <a:avLst/>
          </a:prstGeom>
          <a:solidFill>
            <a:srgbClr val="D4853B"/>
          </a:solidFill>
          <a:ln w="12700">
            <a:miter lim="400000"/>
          </a:ln>
        </p:spPr>
        <p:txBody>
          <a:bodyPr lIns="45719" rIns="45719"/>
          <a:lstStyle/>
          <a:p>
            <a:endParaRPr/>
          </a:p>
        </p:txBody>
      </p:sp>
      <p:sp>
        <p:nvSpPr>
          <p:cNvPr id="172" name="Text 13"/>
          <p:cNvSpPr txBox="1"/>
          <p:nvPr/>
        </p:nvSpPr>
        <p:spPr>
          <a:xfrm>
            <a:off x="4526279" y="2518409"/>
            <a:ext cx="274321" cy="266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a:solidFill>
                  <a:srgbClr val="707070"/>
                </a:solidFill>
              </a:defRPr>
            </a:lvl1pPr>
          </a:lstStyle>
          <a:p>
            <a:r>
              <a:t>→</a:t>
            </a:r>
          </a:p>
        </p:txBody>
      </p:sp>
      <p:sp>
        <p:nvSpPr>
          <p:cNvPr id="173" name="Text 14"/>
          <p:cNvSpPr txBox="1"/>
          <p:nvPr/>
        </p:nvSpPr>
        <p:spPr>
          <a:xfrm>
            <a:off x="2743200" y="1621789"/>
            <a:ext cx="169164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D4853B"/>
                </a:solidFill>
              </a:defRPr>
            </a:lvl1pPr>
          </a:lstStyle>
          <a:p>
            <a:r>
              <a:t>Phase II</a:t>
            </a:r>
          </a:p>
        </p:txBody>
      </p:sp>
      <p:sp>
        <p:nvSpPr>
          <p:cNvPr id="174" name="Text 15"/>
          <p:cNvSpPr txBox="1"/>
          <p:nvPr/>
        </p:nvSpPr>
        <p:spPr>
          <a:xfrm>
            <a:off x="2743200" y="1827529"/>
            <a:ext cx="169164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r>
              <a:t>t = 10–100</a:t>
            </a:r>
          </a:p>
        </p:txBody>
      </p:sp>
      <p:sp>
        <p:nvSpPr>
          <p:cNvPr id="175" name="Text 16"/>
          <p:cNvSpPr txBox="1"/>
          <p:nvPr/>
        </p:nvSpPr>
        <p:spPr>
          <a:xfrm>
            <a:off x="2743200" y="2021840"/>
            <a:ext cx="1691640" cy="482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FFFFFF"/>
                </a:solidFill>
                <a:latin typeface="Consolas"/>
                <a:ea typeface="Consolas"/>
                <a:cs typeface="Consolas"/>
                <a:sym typeface="Consolas"/>
              </a:defRPr>
            </a:lvl1pPr>
          </a:lstStyle>
          <a:p>
            <a:r>
              <a:t>Self-Organization</a:t>
            </a:r>
          </a:p>
        </p:txBody>
      </p:sp>
      <p:sp>
        <p:nvSpPr>
          <p:cNvPr id="176" name="Text 17"/>
          <p:cNvSpPr txBox="1"/>
          <p:nvPr/>
        </p:nvSpPr>
        <p:spPr>
          <a:xfrm>
            <a:off x="2743200" y="2514600"/>
            <a:ext cx="1691640" cy="45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Entropy drops sharply.</a:t>
            </a:r>
          </a:p>
          <a:p>
            <a:pPr>
              <a:defRPr sz="1100">
                <a:solidFill>
                  <a:srgbClr val="A0A0A0"/>
                </a:solidFill>
              </a:defRPr>
            </a:pPr>
            <a:r>
              <a:t>Structures crystallize.</a:t>
            </a:r>
          </a:p>
          <a:p>
            <a:pPr>
              <a:defRPr sz="1100">
                <a:solidFill>
                  <a:srgbClr val="A0A0A0"/>
                </a:solidFill>
              </a:defRPr>
            </a:pPr>
            <a:r>
              <a:t>Local patterns emerge.</a:t>
            </a:r>
          </a:p>
        </p:txBody>
      </p:sp>
      <p:sp>
        <p:nvSpPr>
          <p:cNvPr id="177" name="Shape 18"/>
          <p:cNvSpPr/>
          <p:nvPr/>
        </p:nvSpPr>
        <p:spPr>
          <a:xfrm>
            <a:off x="4754879" y="1417319"/>
            <a:ext cx="1965961" cy="2743201"/>
          </a:xfrm>
          <a:prstGeom prst="rect">
            <a:avLst/>
          </a:prstGeom>
          <a:solidFill>
            <a:srgbClr val="2D2D2D"/>
          </a:solidFill>
          <a:ln w="12700">
            <a:miter lim="400000"/>
          </a:ln>
        </p:spPr>
        <p:txBody>
          <a:bodyPr lIns="45719" rIns="45719"/>
          <a:lstStyle/>
          <a:p>
            <a:endParaRPr/>
          </a:p>
        </p:txBody>
      </p:sp>
      <p:sp>
        <p:nvSpPr>
          <p:cNvPr id="178" name="Shape 19"/>
          <p:cNvSpPr/>
          <p:nvPr/>
        </p:nvSpPr>
        <p:spPr>
          <a:xfrm>
            <a:off x="4754879" y="1417319"/>
            <a:ext cx="1965961" cy="45721"/>
          </a:xfrm>
          <a:prstGeom prst="rect">
            <a:avLst/>
          </a:prstGeom>
          <a:solidFill>
            <a:srgbClr val="4A9ECC"/>
          </a:solidFill>
          <a:ln w="12700">
            <a:miter lim="400000"/>
          </a:ln>
        </p:spPr>
        <p:txBody>
          <a:bodyPr lIns="45719" rIns="45719"/>
          <a:lstStyle/>
          <a:p>
            <a:endParaRPr/>
          </a:p>
        </p:txBody>
      </p:sp>
      <p:sp>
        <p:nvSpPr>
          <p:cNvPr id="179" name="Text 20"/>
          <p:cNvSpPr txBox="1"/>
          <p:nvPr/>
        </p:nvSpPr>
        <p:spPr>
          <a:xfrm>
            <a:off x="6675119" y="2518409"/>
            <a:ext cx="274321" cy="266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a:solidFill>
                  <a:srgbClr val="707070"/>
                </a:solidFill>
              </a:defRPr>
            </a:lvl1pPr>
          </a:lstStyle>
          <a:p>
            <a:r>
              <a:t>→</a:t>
            </a:r>
          </a:p>
        </p:txBody>
      </p:sp>
      <p:sp>
        <p:nvSpPr>
          <p:cNvPr id="180" name="Text 21"/>
          <p:cNvSpPr txBox="1"/>
          <p:nvPr/>
        </p:nvSpPr>
        <p:spPr>
          <a:xfrm>
            <a:off x="4892040" y="162178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4A9ECC"/>
                </a:solidFill>
              </a:defRPr>
            </a:lvl1pPr>
          </a:lstStyle>
          <a:p>
            <a:r>
              <a:t>Phase III</a:t>
            </a:r>
          </a:p>
        </p:txBody>
      </p:sp>
      <p:sp>
        <p:nvSpPr>
          <p:cNvPr id="181" name="Text 22"/>
          <p:cNvSpPr txBox="1"/>
          <p:nvPr/>
        </p:nvSpPr>
        <p:spPr>
          <a:xfrm>
            <a:off x="4892040" y="182752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r>
              <a:t>t = 100–500</a:t>
            </a:r>
          </a:p>
        </p:txBody>
      </p:sp>
      <p:sp>
        <p:nvSpPr>
          <p:cNvPr id="182" name="Text 23"/>
          <p:cNvSpPr txBox="1"/>
          <p:nvPr/>
        </p:nvSpPr>
        <p:spPr>
          <a:xfrm>
            <a:off x="4892040" y="2021840"/>
            <a:ext cx="1691641" cy="482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FFFFFF"/>
                </a:solidFill>
                <a:latin typeface="Consolas"/>
                <a:ea typeface="Consolas"/>
                <a:cs typeface="Consolas"/>
                <a:sym typeface="Consolas"/>
              </a:defRPr>
            </a:lvl1pPr>
          </a:lstStyle>
          <a:p>
            <a:r>
              <a:t>Methuselah Decay</a:t>
            </a:r>
          </a:p>
        </p:txBody>
      </p:sp>
      <p:sp>
        <p:nvSpPr>
          <p:cNvPr id="183" name="Text 24"/>
          <p:cNvSpPr txBox="1"/>
          <p:nvPr/>
        </p:nvSpPr>
        <p:spPr>
          <a:xfrm>
            <a:off x="4892040" y="2514600"/>
            <a:ext cx="1691641" cy="45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Long-lived transients</a:t>
            </a:r>
          </a:p>
          <a:p>
            <a:pPr>
              <a:defRPr sz="1100">
                <a:solidFill>
                  <a:srgbClr val="A0A0A0"/>
                </a:solidFill>
              </a:defRPr>
            </a:pPr>
            <a:r>
              <a:t>slowly resolve. Gliders</a:t>
            </a:r>
          </a:p>
          <a:p>
            <a:pPr>
              <a:defRPr sz="1100">
                <a:solidFill>
                  <a:srgbClr val="A0A0A0"/>
                </a:solidFill>
              </a:defRPr>
            </a:pPr>
            <a:r>
              <a:t>carry away entropy.</a:t>
            </a:r>
          </a:p>
        </p:txBody>
      </p:sp>
      <p:sp>
        <p:nvSpPr>
          <p:cNvPr id="184" name="Shape 25"/>
          <p:cNvSpPr/>
          <p:nvPr/>
        </p:nvSpPr>
        <p:spPr>
          <a:xfrm>
            <a:off x="6903719" y="1417319"/>
            <a:ext cx="1965961" cy="2743201"/>
          </a:xfrm>
          <a:prstGeom prst="rect">
            <a:avLst/>
          </a:prstGeom>
          <a:solidFill>
            <a:srgbClr val="2D2D2D"/>
          </a:solidFill>
          <a:ln w="12700">
            <a:miter lim="400000"/>
          </a:ln>
        </p:spPr>
        <p:txBody>
          <a:bodyPr lIns="45719" rIns="45719"/>
          <a:lstStyle/>
          <a:p>
            <a:endParaRPr/>
          </a:p>
        </p:txBody>
      </p:sp>
      <p:sp>
        <p:nvSpPr>
          <p:cNvPr id="185" name="Shape 26"/>
          <p:cNvSpPr/>
          <p:nvPr/>
        </p:nvSpPr>
        <p:spPr>
          <a:xfrm>
            <a:off x="6903719" y="1417319"/>
            <a:ext cx="1965961" cy="45721"/>
          </a:xfrm>
          <a:prstGeom prst="rect">
            <a:avLst/>
          </a:prstGeom>
          <a:solidFill>
            <a:srgbClr val="44AA66"/>
          </a:solidFill>
          <a:ln w="12700">
            <a:miter lim="400000"/>
          </a:ln>
        </p:spPr>
        <p:txBody>
          <a:bodyPr lIns="45719" rIns="45719"/>
          <a:lstStyle/>
          <a:p>
            <a:endParaRPr/>
          </a:p>
        </p:txBody>
      </p:sp>
      <p:sp>
        <p:nvSpPr>
          <p:cNvPr id="186" name="Text 27"/>
          <p:cNvSpPr txBox="1"/>
          <p:nvPr/>
        </p:nvSpPr>
        <p:spPr>
          <a:xfrm>
            <a:off x="7040880" y="162178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b="1">
                <a:solidFill>
                  <a:srgbClr val="44AA66"/>
                </a:solidFill>
              </a:defRPr>
            </a:lvl1pPr>
          </a:lstStyle>
          <a:p>
            <a:r>
              <a:t>Phase IV</a:t>
            </a:r>
          </a:p>
        </p:txBody>
      </p:sp>
      <p:sp>
        <p:nvSpPr>
          <p:cNvPr id="187" name="Text 28"/>
          <p:cNvSpPr txBox="1"/>
          <p:nvPr/>
        </p:nvSpPr>
        <p:spPr>
          <a:xfrm>
            <a:off x="7040880" y="1827529"/>
            <a:ext cx="1691641"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a:solidFill>
                  <a:srgbClr val="707070"/>
                </a:solidFill>
                <a:latin typeface="Consolas"/>
                <a:ea typeface="Consolas"/>
                <a:cs typeface="Consolas"/>
                <a:sym typeface="Consolas"/>
              </a:defRPr>
            </a:lvl1pPr>
          </a:lstStyle>
          <a:p>
            <a:r>
              <a:t>t &gt; 500</a:t>
            </a:r>
          </a:p>
        </p:txBody>
      </p:sp>
      <p:sp>
        <p:nvSpPr>
          <p:cNvPr id="188" name="Text 29"/>
          <p:cNvSpPr txBox="1"/>
          <p:nvPr/>
        </p:nvSpPr>
        <p:spPr>
          <a:xfrm>
            <a:off x="7040880" y="2142490"/>
            <a:ext cx="169164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FFFFFF"/>
                </a:solidFill>
                <a:latin typeface="Consolas"/>
                <a:ea typeface="Consolas"/>
                <a:cs typeface="Consolas"/>
                <a:sym typeface="Consolas"/>
              </a:defRPr>
            </a:lvl1pPr>
          </a:lstStyle>
          <a:p>
            <a:r>
              <a:t>Equilibrium</a:t>
            </a:r>
          </a:p>
        </p:txBody>
      </p:sp>
      <p:sp>
        <p:nvSpPr>
          <p:cNvPr id="189" name="Text 30"/>
          <p:cNvSpPr txBox="1"/>
          <p:nvPr/>
        </p:nvSpPr>
        <p:spPr>
          <a:xfrm>
            <a:off x="7040880" y="2514600"/>
            <a:ext cx="1691641" cy="6238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Stable configuration.</a:t>
            </a:r>
          </a:p>
          <a:p>
            <a:pPr>
              <a:defRPr sz="1100">
                <a:solidFill>
                  <a:srgbClr val="A0A0A0"/>
                </a:solidFill>
              </a:defRPr>
            </a:pPr>
            <a:r>
              <a:t>H approaches minimum.</a:t>
            </a:r>
          </a:p>
          <a:p>
            <a:pPr>
              <a:defRPr sz="1100">
                <a:solidFill>
                  <a:srgbClr val="A0A0A0"/>
                </a:solidFill>
              </a:defRPr>
            </a:pPr>
            <a:r>
              <a:t>ρ → 0.0287 (Flammenkamp)</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191"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192"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193"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Anti-Entropic Behavior</a:t>
            </a:r>
          </a:p>
        </p:txBody>
      </p:sp>
      <p:sp>
        <p:nvSpPr>
          <p:cNvPr id="194" name="Text 3"/>
          <p:cNvSpPr txBox="1"/>
          <p:nvPr/>
        </p:nvSpPr>
        <p:spPr>
          <a:xfrm>
            <a:off x="548640" y="825500"/>
            <a:ext cx="73152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Why GoL is special: entropy decreases without external intervention</a:t>
            </a:r>
          </a:p>
        </p:txBody>
      </p:sp>
      <p:sp>
        <p:nvSpPr>
          <p:cNvPr id="195" name="Shape 4"/>
          <p:cNvSpPr/>
          <p:nvPr/>
        </p:nvSpPr>
        <p:spPr>
          <a:xfrm>
            <a:off x="548639" y="1234439"/>
            <a:ext cx="3931922" cy="3017522"/>
          </a:xfrm>
          <a:prstGeom prst="rect">
            <a:avLst/>
          </a:prstGeom>
          <a:solidFill>
            <a:srgbClr val="2D2D2D"/>
          </a:solidFill>
          <a:ln w="12700">
            <a:miter lim="400000"/>
          </a:ln>
        </p:spPr>
        <p:txBody>
          <a:bodyPr lIns="45719" rIns="45719"/>
          <a:lstStyle/>
          <a:p>
            <a:endParaRPr/>
          </a:p>
        </p:txBody>
      </p:sp>
      <p:sp>
        <p:nvSpPr>
          <p:cNvPr id="196" name="Shape 5"/>
          <p:cNvSpPr/>
          <p:nvPr/>
        </p:nvSpPr>
        <p:spPr>
          <a:xfrm>
            <a:off x="548640" y="1234439"/>
            <a:ext cx="54865" cy="3017522"/>
          </a:xfrm>
          <a:prstGeom prst="rect">
            <a:avLst/>
          </a:prstGeom>
          <a:solidFill>
            <a:srgbClr val="CC4444"/>
          </a:solidFill>
          <a:ln w="12700">
            <a:miter lim="400000"/>
          </a:ln>
        </p:spPr>
        <p:txBody>
          <a:bodyPr lIns="45719" rIns="45719"/>
          <a:lstStyle/>
          <a:p>
            <a:endParaRPr/>
          </a:p>
        </p:txBody>
      </p:sp>
      <p:sp>
        <p:nvSpPr>
          <p:cNvPr id="197" name="Text 6"/>
          <p:cNvSpPr txBox="1"/>
          <p:nvPr/>
        </p:nvSpPr>
        <p:spPr>
          <a:xfrm>
            <a:off x="822960" y="1365249"/>
            <a:ext cx="347472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CC4444"/>
                </a:solidFill>
                <a:latin typeface="Consolas"/>
                <a:ea typeface="Consolas"/>
                <a:cs typeface="Consolas"/>
                <a:sym typeface="Consolas"/>
              </a:defRPr>
            </a:lvl1pPr>
          </a:lstStyle>
          <a:p>
            <a:r>
              <a:t>The Apparent Paradox</a:t>
            </a:r>
          </a:p>
        </p:txBody>
      </p:sp>
      <p:sp>
        <p:nvSpPr>
          <p:cNvPr id="198" name="Text 7"/>
          <p:cNvSpPr txBox="1"/>
          <p:nvPr/>
        </p:nvSpPr>
        <p:spPr>
          <a:xfrm>
            <a:off x="822960" y="1737360"/>
            <a:ext cx="3474721" cy="1955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In thermodynamics, the 2nd law dictates:</a:t>
            </a:r>
          </a:p>
          <a:p>
            <a:pPr>
              <a:defRPr sz="1200">
                <a:solidFill>
                  <a:srgbClr val="F0F0F0"/>
                </a:solidFill>
              </a:defRPr>
            </a:pPr>
            <a:r>
              <a:t>  ΔS ≥ 0   (entropy never decreases)</a:t>
            </a:r>
          </a:p>
          <a:p>
            <a:pPr>
              <a:defRPr sz="1200"/>
            </a:pPr>
            <a:endParaRPr/>
          </a:p>
          <a:p>
            <a:pPr>
              <a:defRPr sz="1200">
                <a:solidFill>
                  <a:srgbClr val="F0F0F0"/>
                </a:solidFill>
              </a:defRPr>
            </a:pPr>
            <a:r>
              <a:t>Yet in GoL, starting from maximum entropy</a:t>
            </a:r>
          </a:p>
          <a:p>
            <a:pPr>
              <a:defRPr sz="1200">
                <a:solidFill>
                  <a:srgbClr val="F0F0F0"/>
                </a:solidFill>
              </a:defRPr>
            </a:pPr>
            <a:r>
              <a:t>(random soup), we observe:</a:t>
            </a:r>
          </a:p>
          <a:p>
            <a:pPr>
              <a:defRPr sz="1200"/>
            </a:pPr>
            <a:endParaRPr/>
          </a:p>
          <a:p>
            <a:pPr>
              <a:defRPr sz="1200">
                <a:solidFill>
                  <a:srgbClr val="F0F0F0"/>
                </a:solidFill>
              </a:defRPr>
            </a:pPr>
            <a:r>
              <a:t>  H(t) monotonically decreasing</a:t>
            </a:r>
          </a:p>
          <a:p>
            <a:pPr>
              <a:defRPr sz="1200">
                <a:solidFill>
                  <a:srgbClr val="F0F0F0"/>
                </a:solidFill>
              </a:defRPr>
            </a:pPr>
            <a:r>
              <a:t>  Spatial order spontaneously emerging</a:t>
            </a:r>
          </a:p>
          <a:p>
            <a:pPr>
              <a:defRPr sz="1200">
                <a:solidFill>
                  <a:srgbClr val="F0F0F0"/>
                </a:solidFill>
              </a:defRPr>
            </a:pPr>
            <a:r>
              <a:t>  Complex structures crystallizing</a:t>
            </a:r>
          </a:p>
          <a:p>
            <a:pPr>
              <a:defRPr sz="1200"/>
            </a:pPr>
            <a:endParaRPr/>
          </a:p>
          <a:p>
            <a:pPr>
              <a:defRPr sz="1200">
                <a:solidFill>
                  <a:srgbClr val="F0F0F0"/>
                </a:solidFill>
              </a:defRPr>
            </a:pPr>
            <a:r>
              <a:t>How is this possible?</a:t>
            </a:r>
          </a:p>
        </p:txBody>
      </p:sp>
      <p:sp>
        <p:nvSpPr>
          <p:cNvPr id="199" name="Shape 8"/>
          <p:cNvSpPr/>
          <p:nvPr/>
        </p:nvSpPr>
        <p:spPr>
          <a:xfrm>
            <a:off x="4754879" y="1234439"/>
            <a:ext cx="4023360" cy="3017522"/>
          </a:xfrm>
          <a:prstGeom prst="rect">
            <a:avLst/>
          </a:prstGeom>
          <a:solidFill>
            <a:srgbClr val="2D2D2D"/>
          </a:solidFill>
          <a:ln w="12700">
            <a:miter lim="400000"/>
          </a:ln>
        </p:spPr>
        <p:txBody>
          <a:bodyPr lIns="45719" rIns="45719"/>
          <a:lstStyle/>
          <a:p>
            <a:endParaRPr/>
          </a:p>
        </p:txBody>
      </p:sp>
      <p:sp>
        <p:nvSpPr>
          <p:cNvPr id="200" name="Shape 9"/>
          <p:cNvSpPr/>
          <p:nvPr/>
        </p:nvSpPr>
        <p:spPr>
          <a:xfrm>
            <a:off x="4754879" y="1234439"/>
            <a:ext cx="54865" cy="3017522"/>
          </a:xfrm>
          <a:prstGeom prst="rect">
            <a:avLst/>
          </a:prstGeom>
          <a:solidFill>
            <a:srgbClr val="44AA66"/>
          </a:solidFill>
          <a:ln w="12700">
            <a:miter lim="400000"/>
          </a:ln>
        </p:spPr>
        <p:txBody>
          <a:bodyPr lIns="45719" rIns="45719"/>
          <a:lstStyle/>
          <a:p>
            <a:endParaRPr/>
          </a:p>
        </p:txBody>
      </p:sp>
      <p:sp>
        <p:nvSpPr>
          <p:cNvPr id="201" name="Text 10"/>
          <p:cNvSpPr txBox="1"/>
          <p:nvPr/>
        </p:nvSpPr>
        <p:spPr>
          <a:xfrm>
            <a:off x="5029200" y="1365249"/>
            <a:ext cx="347472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44AA66"/>
                </a:solidFill>
                <a:latin typeface="Consolas"/>
                <a:ea typeface="Consolas"/>
                <a:cs typeface="Consolas"/>
                <a:sym typeface="Consolas"/>
              </a:defRPr>
            </a:lvl1pPr>
          </a:lstStyle>
          <a:p>
            <a:r>
              <a:t>The Resolution</a:t>
            </a:r>
          </a:p>
        </p:txBody>
      </p:sp>
      <p:sp>
        <p:nvSpPr>
          <p:cNvPr id="202" name="Text 11"/>
          <p:cNvSpPr txBox="1"/>
          <p:nvPr/>
        </p:nvSpPr>
        <p:spPr>
          <a:xfrm>
            <a:off x="5029200" y="1737360"/>
            <a:ext cx="3566160" cy="25180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GoL is not a Hamiltonian system:</a:t>
            </a:r>
          </a:p>
          <a:p>
            <a:pPr>
              <a:defRPr sz="1200"/>
            </a:pPr>
            <a:endParaRPr/>
          </a:p>
          <a:p>
            <a:pPr>
              <a:defRPr sz="1200">
                <a:solidFill>
                  <a:srgbClr val="F0F0F0"/>
                </a:solidFill>
              </a:defRPr>
            </a:pPr>
            <a:r>
              <a:t>1. Non-reversible: many-to-one mapping</a:t>
            </a:r>
          </a:p>
          <a:p>
            <a:pPr>
              <a:defRPr sz="1200">
                <a:solidFill>
                  <a:srgbClr val="F0F0F0"/>
                </a:solidFill>
              </a:defRPr>
            </a:pPr>
            <a:r>
              <a:t>   (multiple predecessors → one successor)</a:t>
            </a:r>
          </a:p>
          <a:p>
            <a:pPr>
              <a:defRPr sz="1200"/>
            </a:pPr>
            <a:endParaRPr/>
          </a:p>
          <a:p>
            <a:pPr>
              <a:defRPr sz="1200">
                <a:solidFill>
                  <a:srgbClr val="F0F0F0"/>
                </a:solidFill>
              </a:defRPr>
            </a:pPr>
            <a:r>
              <a:t>2. Dissipative: information is destroyed</a:t>
            </a:r>
          </a:p>
          <a:p>
            <a:pPr>
              <a:defRPr sz="1200">
                <a:solidFill>
                  <a:srgbClr val="F0F0F0"/>
                </a:solidFill>
              </a:defRPr>
            </a:pPr>
            <a:r>
              <a:t>   at every time step (no conservation law)</a:t>
            </a:r>
          </a:p>
          <a:p>
            <a:pPr>
              <a:defRPr sz="1200"/>
            </a:pPr>
            <a:endParaRPr/>
          </a:p>
          <a:p>
            <a:pPr>
              <a:defRPr sz="1200">
                <a:solidFill>
                  <a:srgbClr val="F0F0F0"/>
                </a:solidFill>
              </a:defRPr>
            </a:pPr>
            <a:r>
              <a:t>3. No equilibrium dynamics: GoL is an</a:t>
            </a:r>
          </a:p>
          <a:p>
            <a:pPr>
              <a:defRPr sz="1200">
                <a:solidFill>
                  <a:srgbClr val="F0F0F0"/>
                </a:solidFill>
              </a:defRPr>
            </a:pPr>
            <a:r>
              <a:t>   open system in the information-theoretic</a:t>
            </a:r>
          </a:p>
          <a:p>
            <a:pPr>
              <a:defRPr sz="1200">
                <a:solidFill>
                  <a:srgbClr val="F0F0F0"/>
                </a:solidFill>
              </a:defRPr>
            </a:pPr>
            <a:r>
              <a:t>   sense — it 'radiates' entropy</a:t>
            </a:r>
          </a:p>
          <a:p>
            <a:pPr>
              <a:defRPr sz="1200"/>
            </a:pPr>
            <a:endParaRPr/>
          </a:p>
          <a:p>
            <a:pPr>
              <a:defRPr sz="1200">
                <a:solidFill>
                  <a:srgbClr val="F0F0F0"/>
                </a:solidFill>
              </a:defRPr>
            </a:pPr>
            <a:r>
              <a:t>→  The 2nd law applies to closed systems.</a:t>
            </a:r>
          </a:p>
          <a:p>
            <a:pPr>
              <a:defRPr sz="1200">
                <a:solidFill>
                  <a:srgbClr val="F0F0F0"/>
                </a:solidFill>
              </a:defRPr>
            </a:pPr>
            <a:r>
              <a:t>   GoL is effectively dissipative.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04"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05"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06"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GoL as an Outlier in Rule Space</a:t>
            </a:r>
          </a:p>
        </p:txBody>
      </p:sp>
      <p:sp>
        <p:nvSpPr>
          <p:cNvPr id="207" name="Text 3"/>
          <p:cNvSpPr txBox="1"/>
          <p:nvPr/>
        </p:nvSpPr>
        <p:spPr>
          <a:xfrm>
            <a:off x="548640" y="824904"/>
            <a:ext cx="8229601" cy="1789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Entropy signatures distinguish 'lifelike' rules (B3/S23) from the 2¹⁸ alternatives</a:t>
            </a:r>
          </a:p>
        </p:txBody>
      </p:sp>
      <p:sp>
        <p:nvSpPr>
          <p:cNvPr id="208" name="Shape 4"/>
          <p:cNvSpPr/>
          <p:nvPr/>
        </p:nvSpPr>
        <p:spPr>
          <a:xfrm>
            <a:off x="548640" y="1234439"/>
            <a:ext cx="8046719" cy="914401"/>
          </a:xfrm>
          <a:prstGeom prst="rect">
            <a:avLst/>
          </a:prstGeom>
          <a:solidFill>
            <a:srgbClr val="2D2D2D"/>
          </a:solidFill>
          <a:ln w="12700">
            <a:miter lim="400000"/>
          </a:ln>
        </p:spPr>
        <p:txBody>
          <a:bodyPr lIns="45719" rIns="45719"/>
          <a:lstStyle/>
          <a:p>
            <a:endParaRPr/>
          </a:p>
        </p:txBody>
      </p:sp>
      <p:sp>
        <p:nvSpPr>
          <p:cNvPr id="209" name="Shape 5"/>
          <p:cNvSpPr/>
          <p:nvPr/>
        </p:nvSpPr>
        <p:spPr>
          <a:xfrm>
            <a:off x="548640" y="1234439"/>
            <a:ext cx="54865" cy="914401"/>
          </a:xfrm>
          <a:prstGeom prst="rect">
            <a:avLst/>
          </a:prstGeom>
          <a:solidFill>
            <a:srgbClr val="4A9ECC"/>
          </a:solidFill>
          <a:ln w="12700">
            <a:miter lim="400000"/>
          </a:ln>
        </p:spPr>
        <p:txBody>
          <a:bodyPr lIns="45719" rIns="45719"/>
          <a:lstStyle/>
          <a:p>
            <a:endParaRPr/>
          </a:p>
        </p:txBody>
      </p:sp>
      <p:sp>
        <p:nvSpPr>
          <p:cNvPr id="210" name="Text 6"/>
          <p:cNvSpPr txBox="1"/>
          <p:nvPr/>
        </p:nvSpPr>
        <p:spPr>
          <a:xfrm>
            <a:off x="822960" y="1365249"/>
            <a:ext cx="18288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4A9ECC"/>
                </a:solidFill>
                <a:latin typeface="Consolas"/>
                <a:ea typeface="Consolas"/>
                <a:cs typeface="Consolas"/>
                <a:sym typeface="Consolas"/>
              </a:defRPr>
            </a:lvl1pPr>
          </a:lstStyle>
          <a:p>
            <a:r>
              <a:t>Criticality</a:t>
            </a:r>
          </a:p>
        </p:txBody>
      </p:sp>
      <p:sp>
        <p:nvSpPr>
          <p:cNvPr id="211" name="Text 7"/>
          <p:cNvSpPr txBox="1"/>
          <p:nvPr/>
        </p:nvSpPr>
        <p:spPr>
          <a:xfrm>
            <a:off x="2743200" y="1539239"/>
            <a:ext cx="5669280"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A0A0A0"/>
                </a:solidFill>
              </a:defRPr>
            </a:lvl1pPr>
          </a:lstStyle>
          <a:p>
            <a:r>
              <a:t>GoL operates near a critical point between ordered (Class I/II) and chaotic (Class III) regimes. Langton's λ ≈ 0.273 for B3/S23 places it in the 'edge of chaos' region.</a:t>
            </a:r>
          </a:p>
        </p:txBody>
      </p:sp>
      <p:sp>
        <p:nvSpPr>
          <p:cNvPr id="212" name="Shape 8"/>
          <p:cNvSpPr/>
          <p:nvPr/>
        </p:nvSpPr>
        <p:spPr>
          <a:xfrm>
            <a:off x="548640" y="2377439"/>
            <a:ext cx="8046719" cy="914401"/>
          </a:xfrm>
          <a:prstGeom prst="rect">
            <a:avLst/>
          </a:prstGeom>
          <a:solidFill>
            <a:srgbClr val="2D2D2D"/>
          </a:solidFill>
          <a:ln w="12700">
            <a:miter lim="400000"/>
          </a:ln>
        </p:spPr>
        <p:txBody>
          <a:bodyPr lIns="45719" rIns="45719"/>
          <a:lstStyle/>
          <a:p>
            <a:endParaRPr/>
          </a:p>
        </p:txBody>
      </p:sp>
      <p:sp>
        <p:nvSpPr>
          <p:cNvPr id="213" name="Shape 9"/>
          <p:cNvSpPr/>
          <p:nvPr/>
        </p:nvSpPr>
        <p:spPr>
          <a:xfrm>
            <a:off x="548640" y="2377439"/>
            <a:ext cx="54865" cy="914401"/>
          </a:xfrm>
          <a:prstGeom prst="rect">
            <a:avLst/>
          </a:prstGeom>
          <a:solidFill>
            <a:srgbClr val="E8B931"/>
          </a:solidFill>
          <a:ln w="12700">
            <a:miter lim="400000"/>
          </a:ln>
        </p:spPr>
        <p:txBody>
          <a:bodyPr lIns="45719" rIns="45719"/>
          <a:lstStyle/>
          <a:p>
            <a:endParaRPr/>
          </a:p>
        </p:txBody>
      </p:sp>
      <p:sp>
        <p:nvSpPr>
          <p:cNvPr id="214" name="Text 10"/>
          <p:cNvSpPr txBox="1"/>
          <p:nvPr/>
        </p:nvSpPr>
        <p:spPr>
          <a:xfrm>
            <a:off x="822960" y="2508249"/>
            <a:ext cx="18288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E8B931"/>
                </a:solidFill>
                <a:latin typeface="Consolas"/>
                <a:ea typeface="Consolas"/>
                <a:cs typeface="Consolas"/>
                <a:sym typeface="Consolas"/>
              </a:defRPr>
            </a:lvl1pPr>
          </a:lstStyle>
          <a:p>
            <a:r>
              <a:t>Anti-Entropy</a:t>
            </a:r>
          </a:p>
        </p:txBody>
      </p:sp>
      <p:sp>
        <p:nvSpPr>
          <p:cNvPr id="215" name="Text 11"/>
          <p:cNvSpPr txBox="1"/>
          <p:nvPr/>
        </p:nvSpPr>
        <p:spPr>
          <a:xfrm>
            <a:off x="2743200" y="2682239"/>
            <a:ext cx="5669280"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A0A0A0"/>
                </a:solidFill>
              </a:defRPr>
            </a:lvl1pPr>
          </a:lstStyle>
          <a:p>
            <a:r>
              <a:t>Starting from random soups, GoL exhibits a stronger entropy decrease than almost all other life-like rules. Most rules either die out completely or remain chaotic.</a:t>
            </a:r>
          </a:p>
        </p:txBody>
      </p:sp>
      <p:sp>
        <p:nvSpPr>
          <p:cNvPr id="216" name="Shape 12"/>
          <p:cNvSpPr/>
          <p:nvPr/>
        </p:nvSpPr>
        <p:spPr>
          <a:xfrm>
            <a:off x="548640" y="3520440"/>
            <a:ext cx="8046719" cy="914401"/>
          </a:xfrm>
          <a:prstGeom prst="rect">
            <a:avLst/>
          </a:prstGeom>
          <a:solidFill>
            <a:srgbClr val="2D2D2D"/>
          </a:solidFill>
          <a:ln w="12700">
            <a:miter lim="400000"/>
          </a:ln>
        </p:spPr>
        <p:txBody>
          <a:bodyPr lIns="45719" rIns="45719"/>
          <a:lstStyle/>
          <a:p>
            <a:endParaRPr/>
          </a:p>
        </p:txBody>
      </p:sp>
      <p:sp>
        <p:nvSpPr>
          <p:cNvPr id="217" name="Shape 13"/>
          <p:cNvSpPr/>
          <p:nvPr/>
        </p:nvSpPr>
        <p:spPr>
          <a:xfrm>
            <a:off x="548640" y="3520440"/>
            <a:ext cx="54865" cy="914401"/>
          </a:xfrm>
          <a:prstGeom prst="rect">
            <a:avLst/>
          </a:prstGeom>
          <a:solidFill>
            <a:srgbClr val="44AA66"/>
          </a:solidFill>
          <a:ln w="12700">
            <a:miter lim="400000"/>
          </a:ln>
        </p:spPr>
        <p:txBody>
          <a:bodyPr lIns="45719" rIns="45719"/>
          <a:lstStyle/>
          <a:p>
            <a:endParaRPr/>
          </a:p>
        </p:txBody>
      </p:sp>
      <p:sp>
        <p:nvSpPr>
          <p:cNvPr id="218" name="Text 14"/>
          <p:cNvSpPr txBox="1"/>
          <p:nvPr/>
        </p:nvSpPr>
        <p:spPr>
          <a:xfrm>
            <a:off x="822960" y="3651249"/>
            <a:ext cx="18288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44AA66"/>
                </a:solidFill>
                <a:latin typeface="Consolas"/>
                <a:ea typeface="Consolas"/>
                <a:cs typeface="Consolas"/>
                <a:sym typeface="Consolas"/>
              </a:defRPr>
            </a:lvl1pPr>
          </a:lstStyle>
          <a:p>
            <a:r>
              <a:t>Integration</a:t>
            </a:r>
          </a:p>
        </p:txBody>
      </p:sp>
      <p:sp>
        <p:nvSpPr>
          <p:cNvPr id="219" name="Text 15"/>
          <p:cNvSpPr txBox="1"/>
          <p:nvPr/>
        </p:nvSpPr>
        <p:spPr>
          <a:xfrm>
            <a:off x="2743200" y="3825239"/>
            <a:ext cx="5669280"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a:solidFill>
                  <a:srgbClr val="A0A0A0"/>
                </a:solidFill>
              </a:defRPr>
            </a:lvl1pPr>
          </a:lstStyle>
          <a:p>
            <a:r>
              <a:t>GoL configurations show high integrated information (Φ): local structures are correlated across the grid. This is a hallmark of complex, 'lifelike' systems.</a:t>
            </a:r>
          </a:p>
        </p:txBody>
      </p:sp>
      <p:sp>
        <p:nvSpPr>
          <p:cNvPr id="220" name="Text 16"/>
          <p:cNvSpPr txBox="1"/>
          <p:nvPr/>
        </p:nvSpPr>
        <p:spPr>
          <a:xfrm>
            <a:off x="548640" y="4485640"/>
            <a:ext cx="822960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00" i="1">
                <a:solidFill>
                  <a:srgbClr val="707070"/>
                </a:solidFill>
              </a:defRPr>
            </a:lvl1pPr>
          </a:lstStyle>
          <a:p>
            <a:r>
              <a:t>Ref: arxiv:2410.22389 — 'Conway's Game of Life as an Analogue to a Habitable World' (2024)</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22" name="Shape 0"/>
          <p:cNvSpPr/>
          <p:nvPr/>
        </p:nvSpPr>
        <p:spPr>
          <a:xfrm>
            <a:off x="731519" y="1828800"/>
            <a:ext cx="54865" cy="1463041"/>
          </a:xfrm>
          <a:prstGeom prst="rect">
            <a:avLst/>
          </a:prstGeom>
          <a:solidFill>
            <a:srgbClr val="4A9ECC"/>
          </a:solidFill>
          <a:ln w="12700">
            <a:miter lim="400000"/>
          </a:ln>
        </p:spPr>
        <p:txBody>
          <a:bodyPr lIns="45719" rIns="45719"/>
          <a:lstStyle/>
          <a:p>
            <a:endParaRPr/>
          </a:p>
        </p:txBody>
      </p:sp>
      <p:sp>
        <p:nvSpPr>
          <p:cNvPr id="223" name="Text 1"/>
          <p:cNvSpPr txBox="1"/>
          <p:nvPr/>
        </p:nvSpPr>
        <p:spPr>
          <a:xfrm>
            <a:off x="1005839" y="1967229"/>
            <a:ext cx="7315201" cy="546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600" b="1">
                <a:solidFill>
                  <a:srgbClr val="FFFFFF"/>
                </a:solidFill>
                <a:latin typeface="Consolas"/>
                <a:ea typeface="Consolas"/>
                <a:cs typeface="Consolas"/>
                <a:sym typeface="Consolas"/>
              </a:defRPr>
            </a:lvl1pPr>
          </a:lstStyle>
          <a:p>
            <a:r>
              <a:t>Part II: Implementation</a:t>
            </a:r>
          </a:p>
        </p:txBody>
      </p:sp>
      <p:sp>
        <p:nvSpPr>
          <p:cNvPr id="224" name="Text 2"/>
          <p:cNvSpPr txBox="1"/>
          <p:nvPr/>
        </p:nvSpPr>
        <p:spPr>
          <a:xfrm>
            <a:off x="1005839" y="2805429"/>
            <a:ext cx="7315201"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a:solidFill>
                  <a:srgbClr val="A0A0A0"/>
                </a:solidFill>
              </a:defRPr>
            </a:lvl1pPr>
          </a:lstStyle>
          <a:p>
            <a:r>
              <a:t>NumPy-vectorized entropy computations for your notebooks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26"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2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2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GoL Engine (Recap)</a:t>
            </a:r>
          </a:p>
        </p:txBody>
      </p:sp>
      <p:sp>
        <p:nvSpPr>
          <p:cNvPr id="229" name="Text 3"/>
          <p:cNvSpPr txBox="1"/>
          <p:nvPr/>
        </p:nvSpPr>
        <p:spPr>
          <a:xfrm>
            <a:off x="548640" y="825500"/>
            <a:ext cx="54864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Convolution-based update — fully vectorized</a:t>
            </a:r>
          </a:p>
        </p:txBody>
      </p:sp>
      <p:sp>
        <p:nvSpPr>
          <p:cNvPr id="230" name="Shape 4"/>
          <p:cNvSpPr/>
          <p:nvPr/>
        </p:nvSpPr>
        <p:spPr>
          <a:xfrm>
            <a:off x="548639" y="1188719"/>
            <a:ext cx="5303522" cy="3291842"/>
          </a:xfrm>
          <a:prstGeom prst="rect">
            <a:avLst/>
          </a:prstGeom>
          <a:solidFill>
            <a:srgbClr val="1E1E1E"/>
          </a:solidFill>
          <a:ln w="12700">
            <a:solidFill>
              <a:srgbClr val="333333"/>
            </a:solidFill>
          </a:ln>
        </p:spPr>
        <p:txBody>
          <a:bodyPr lIns="45719" rIns="45719"/>
          <a:lstStyle/>
          <a:p>
            <a:endParaRPr/>
          </a:p>
        </p:txBody>
      </p:sp>
      <p:sp>
        <p:nvSpPr>
          <p:cNvPr id="231" name="Text 5"/>
          <p:cNvSpPr txBox="1"/>
          <p:nvPr/>
        </p:nvSpPr>
        <p:spPr>
          <a:xfrm>
            <a:off x="685800" y="1234439"/>
            <a:ext cx="5029200" cy="3429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44AA66"/>
                </a:solidFill>
                <a:latin typeface="Consolas"/>
                <a:ea typeface="Consolas"/>
                <a:cs typeface="Consolas"/>
                <a:sym typeface="Consolas"/>
              </a:defRPr>
            </a:pPr>
            <a:r>
              <a:t>import numpy as np</a:t>
            </a:r>
          </a:p>
          <a:p>
            <a:pPr>
              <a:defRPr sz="1100">
                <a:solidFill>
                  <a:srgbClr val="44AA66"/>
                </a:solidFill>
                <a:latin typeface="Consolas"/>
                <a:ea typeface="Consolas"/>
                <a:cs typeface="Consolas"/>
                <a:sym typeface="Consolas"/>
              </a:defRPr>
            </a:pPr>
            <a:r>
              <a:t>from scipy.signal import convolve2d</a:t>
            </a:r>
          </a:p>
          <a:p>
            <a:pPr>
              <a:defRPr sz="1100"/>
            </a:pPr>
            <a:endParaRPr/>
          </a:p>
          <a:p>
            <a:pPr>
              <a:defRPr sz="1100">
                <a:solidFill>
                  <a:srgbClr val="44AA66"/>
                </a:solidFill>
                <a:latin typeface="Consolas"/>
                <a:ea typeface="Consolas"/>
                <a:cs typeface="Consolas"/>
                <a:sym typeface="Consolas"/>
              </a:defRPr>
            </a:pPr>
            <a:r>
              <a:t>KERNEL = np.array([[1,1,1],</a:t>
            </a:r>
          </a:p>
          <a:p>
            <a:pPr>
              <a:defRPr sz="1100">
                <a:solidFill>
                  <a:srgbClr val="44AA66"/>
                </a:solidFill>
                <a:latin typeface="Consolas"/>
                <a:ea typeface="Consolas"/>
                <a:cs typeface="Consolas"/>
                <a:sym typeface="Consolas"/>
              </a:defRPr>
            </a:pPr>
            <a:r>
              <a:t>                   [1,0,1],</a:t>
            </a:r>
          </a:p>
          <a:p>
            <a:pPr>
              <a:defRPr sz="1100">
                <a:solidFill>
                  <a:srgbClr val="44AA66"/>
                </a:solidFill>
                <a:latin typeface="Consolas"/>
                <a:ea typeface="Consolas"/>
                <a:cs typeface="Consolas"/>
                <a:sym typeface="Consolas"/>
              </a:defRPr>
            </a:pPr>
            <a:r>
              <a:t>                   [1,1,1]])</a:t>
            </a:r>
          </a:p>
          <a:p>
            <a:pPr>
              <a:defRPr sz="1100"/>
            </a:pPr>
            <a:endParaRPr/>
          </a:p>
          <a:p>
            <a:pPr>
              <a:defRPr sz="1100">
                <a:solidFill>
                  <a:srgbClr val="44AA66"/>
                </a:solidFill>
                <a:latin typeface="Consolas"/>
                <a:ea typeface="Consolas"/>
                <a:cs typeface="Consolas"/>
                <a:sym typeface="Consolas"/>
              </a:defRPr>
            </a:pPr>
            <a:r>
              <a:t>def step(grid):</a:t>
            </a:r>
          </a:p>
          <a:p>
            <a:pPr>
              <a:defRPr sz="1100">
                <a:solidFill>
                  <a:srgbClr val="44AA66"/>
                </a:solidFill>
                <a:latin typeface="Consolas"/>
                <a:ea typeface="Consolas"/>
                <a:cs typeface="Consolas"/>
                <a:sym typeface="Consolas"/>
              </a:defRPr>
            </a:pPr>
            <a:r>
              <a:t>    """One GoL generation (periodic BC)."""</a:t>
            </a:r>
          </a:p>
          <a:p>
            <a:pPr>
              <a:defRPr sz="1100">
                <a:solidFill>
                  <a:srgbClr val="44AA66"/>
                </a:solidFill>
                <a:latin typeface="Consolas"/>
                <a:ea typeface="Consolas"/>
                <a:cs typeface="Consolas"/>
                <a:sym typeface="Consolas"/>
              </a:defRPr>
            </a:pPr>
            <a:r>
              <a:t>    neighbors = convolve2d(grid, KERNEL,</a:t>
            </a:r>
          </a:p>
          <a:p>
            <a:pPr>
              <a:defRPr sz="1100">
                <a:solidFill>
                  <a:srgbClr val="44AA66"/>
                </a:solidFill>
                <a:latin typeface="Consolas"/>
                <a:ea typeface="Consolas"/>
                <a:cs typeface="Consolas"/>
                <a:sym typeface="Consolas"/>
              </a:defRPr>
            </a:pPr>
            <a:r>
              <a:t>                           mode='same', boundary='wrap')</a:t>
            </a:r>
          </a:p>
          <a:p>
            <a:pPr>
              <a:defRPr sz="1100">
                <a:solidFill>
                  <a:srgbClr val="44AA66"/>
                </a:solidFill>
                <a:latin typeface="Consolas"/>
                <a:ea typeface="Consolas"/>
                <a:cs typeface="Consolas"/>
                <a:sym typeface="Consolas"/>
              </a:defRPr>
            </a:pPr>
            <a:r>
              <a:t>    return ((neighbors == 3) |</a:t>
            </a:r>
          </a:p>
          <a:p>
            <a:pPr>
              <a:defRPr sz="1100">
                <a:solidFill>
                  <a:srgbClr val="44AA66"/>
                </a:solidFill>
                <a:latin typeface="Consolas"/>
                <a:ea typeface="Consolas"/>
                <a:cs typeface="Consolas"/>
                <a:sym typeface="Consolas"/>
              </a:defRPr>
            </a:pPr>
            <a:r>
              <a:t>            (grid &amp; (neighbors == 2))).astype(int)</a:t>
            </a:r>
          </a:p>
          <a:p>
            <a:pPr>
              <a:defRPr sz="1100"/>
            </a:pPr>
            <a:endParaRPr/>
          </a:p>
          <a:p>
            <a:pPr>
              <a:defRPr sz="1100">
                <a:solidFill>
                  <a:srgbClr val="44AA66"/>
                </a:solidFill>
                <a:latin typeface="Consolas"/>
                <a:ea typeface="Consolas"/>
                <a:cs typeface="Consolas"/>
                <a:sym typeface="Consolas"/>
              </a:defRPr>
            </a:pPr>
            <a:r>
              <a:t>def evolve(grid, steps):</a:t>
            </a:r>
          </a:p>
          <a:p>
            <a:pPr>
              <a:defRPr sz="1100">
                <a:solidFill>
                  <a:srgbClr val="44AA66"/>
                </a:solidFill>
                <a:latin typeface="Consolas"/>
                <a:ea typeface="Consolas"/>
                <a:cs typeface="Consolas"/>
                <a:sym typeface="Consolas"/>
              </a:defRPr>
            </a:pPr>
            <a:r>
              <a:t>    """Return full spacetime history."""</a:t>
            </a:r>
          </a:p>
          <a:p>
            <a:pPr>
              <a:defRPr sz="1100">
                <a:solidFill>
                  <a:srgbClr val="44AA66"/>
                </a:solidFill>
                <a:latin typeface="Consolas"/>
                <a:ea typeface="Consolas"/>
                <a:cs typeface="Consolas"/>
                <a:sym typeface="Consolas"/>
              </a:defRPr>
            </a:pPr>
            <a:r>
              <a:t>    history = np.zeros((steps+1, *grid.shape), dtype=int)</a:t>
            </a:r>
          </a:p>
          <a:p>
            <a:pPr>
              <a:defRPr sz="1100">
                <a:solidFill>
                  <a:srgbClr val="44AA66"/>
                </a:solidFill>
                <a:latin typeface="Consolas"/>
                <a:ea typeface="Consolas"/>
                <a:cs typeface="Consolas"/>
                <a:sym typeface="Consolas"/>
              </a:defRPr>
            </a:pPr>
            <a:r>
              <a:t>    history[0] = grid</a:t>
            </a:r>
          </a:p>
          <a:p>
            <a:pPr>
              <a:defRPr sz="1100">
                <a:solidFill>
                  <a:srgbClr val="44AA66"/>
                </a:solidFill>
                <a:latin typeface="Consolas"/>
                <a:ea typeface="Consolas"/>
                <a:cs typeface="Consolas"/>
                <a:sym typeface="Consolas"/>
              </a:defRPr>
            </a:pPr>
            <a:r>
              <a:t>    for t in range(steps):</a:t>
            </a:r>
          </a:p>
          <a:p>
            <a:pPr>
              <a:defRPr sz="1100">
                <a:solidFill>
                  <a:srgbClr val="44AA66"/>
                </a:solidFill>
                <a:latin typeface="Consolas"/>
                <a:ea typeface="Consolas"/>
                <a:cs typeface="Consolas"/>
                <a:sym typeface="Consolas"/>
              </a:defRPr>
            </a:pPr>
            <a:r>
              <a:t>        history[t+1] = step(history[t])</a:t>
            </a:r>
          </a:p>
          <a:p>
            <a:pPr>
              <a:defRPr sz="1100">
                <a:solidFill>
                  <a:srgbClr val="44AA66"/>
                </a:solidFill>
                <a:latin typeface="Consolas"/>
                <a:ea typeface="Consolas"/>
                <a:cs typeface="Consolas"/>
                <a:sym typeface="Consolas"/>
              </a:defRPr>
            </a:pPr>
            <a:r>
              <a:t>    return history</a:t>
            </a:r>
          </a:p>
        </p:txBody>
      </p:sp>
      <p:sp>
        <p:nvSpPr>
          <p:cNvPr id="232" name="Shape 6"/>
          <p:cNvSpPr/>
          <p:nvPr/>
        </p:nvSpPr>
        <p:spPr>
          <a:xfrm>
            <a:off x="6126479" y="1188719"/>
            <a:ext cx="2651761" cy="3291842"/>
          </a:xfrm>
          <a:prstGeom prst="rect">
            <a:avLst/>
          </a:prstGeom>
          <a:solidFill>
            <a:srgbClr val="2D2D2D"/>
          </a:solidFill>
          <a:ln w="12700">
            <a:miter lim="400000"/>
          </a:ln>
        </p:spPr>
        <p:txBody>
          <a:bodyPr lIns="45719" rIns="45719"/>
          <a:lstStyle/>
          <a:p>
            <a:endParaRPr/>
          </a:p>
        </p:txBody>
      </p:sp>
      <p:sp>
        <p:nvSpPr>
          <p:cNvPr id="233" name="Text 7"/>
          <p:cNvSpPr txBox="1"/>
          <p:nvPr/>
        </p:nvSpPr>
        <p:spPr>
          <a:xfrm>
            <a:off x="6309359" y="1332230"/>
            <a:ext cx="228600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4A9ECC"/>
                </a:solidFill>
                <a:latin typeface="Consolas"/>
                <a:ea typeface="Consolas"/>
                <a:cs typeface="Consolas"/>
                <a:sym typeface="Consolas"/>
              </a:defRPr>
            </a:lvl1pPr>
          </a:lstStyle>
          <a:p>
            <a:r>
              <a:t>Notes</a:t>
            </a:r>
          </a:p>
        </p:txBody>
      </p:sp>
      <p:sp>
        <p:nvSpPr>
          <p:cNvPr id="234" name="Text 8"/>
          <p:cNvSpPr txBox="1"/>
          <p:nvPr/>
        </p:nvSpPr>
        <p:spPr>
          <a:xfrm>
            <a:off x="6309359" y="1691639"/>
            <a:ext cx="2286001" cy="21478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100">
                <a:solidFill>
                  <a:srgbClr val="A0A0A0"/>
                </a:solidFill>
              </a:defRPr>
            </a:pPr>
            <a:r>
              <a:t>Key design choices:</a:t>
            </a:r>
          </a:p>
          <a:p>
            <a:pPr>
              <a:defRPr sz="1100"/>
            </a:pPr>
            <a:endParaRPr/>
          </a:p>
          <a:p>
            <a:pPr>
              <a:defRPr sz="1100">
                <a:solidFill>
                  <a:srgbClr val="A0A0A0"/>
                </a:solidFill>
              </a:defRPr>
            </a:pPr>
            <a:r>
              <a:t>• scipy.convolve2d handles</a:t>
            </a:r>
          </a:p>
          <a:p>
            <a:pPr>
              <a:defRPr sz="1100">
                <a:solidFill>
                  <a:srgbClr val="A0A0A0"/>
                </a:solidFill>
              </a:defRPr>
            </a:pPr>
            <a:r>
              <a:t>  the neighbor counting</a:t>
            </a:r>
          </a:p>
          <a:p>
            <a:pPr>
              <a:defRPr sz="1100"/>
            </a:pPr>
            <a:endParaRPr/>
          </a:p>
          <a:p>
            <a:pPr>
              <a:defRPr sz="1100">
                <a:solidFill>
                  <a:srgbClr val="A0A0A0"/>
                </a:solidFill>
              </a:defRPr>
            </a:pPr>
            <a:r>
              <a:t>• Periodic boundary cond.</a:t>
            </a:r>
          </a:p>
          <a:p>
            <a:pPr>
              <a:defRPr sz="1100">
                <a:solidFill>
                  <a:srgbClr val="A0A0A0"/>
                </a:solidFill>
              </a:defRPr>
            </a:pPr>
            <a:r>
              <a:t>  (torus topology)</a:t>
            </a:r>
          </a:p>
          <a:p>
            <a:pPr>
              <a:defRPr sz="1100"/>
            </a:pPr>
            <a:endParaRPr/>
          </a:p>
          <a:p>
            <a:pPr>
              <a:defRPr sz="1100">
                <a:solidFill>
                  <a:srgbClr val="A0A0A0"/>
                </a:solidFill>
              </a:defRPr>
            </a:pPr>
            <a:r>
              <a:t>• Boolean logic avoids</a:t>
            </a:r>
          </a:p>
          <a:p>
            <a:pPr>
              <a:defRPr sz="1100">
                <a:solidFill>
                  <a:srgbClr val="A0A0A0"/>
                </a:solidFill>
              </a:defRPr>
            </a:pPr>
            <a:r>
              <a:t>  branching → fast on</a:t>
            </a:r>
          </a:p>
          <a:p>
            <a:pPr>
              <a:defRPr sz="1100">
                <a:solidFill>
                  <a:srgbClr val="A0A0A0"/>
                </a:solidFill>
              </a:defRPr>
            </a:pPr>
            <a:r>
              <a:t>  large grids</a:t>
            </a:r>
          </a:p>
          <a:p>
            <a:pPr>
              <a:defRPr sz="1100"/>
            </a:pPr>
            <a:endParaRPr/>
          </a:p>
          <a:p>
            <a:pPr>
              <a:defRPr sz="1100">
                <a:solidFill>
                  <a:srgbClr val="A0A0A0"/>
                </a:solidFill>
              </a:defRPr>
            </a:pPr>
            <a:r>
              <a:t>• History array enables</a:t>
            </a:r>
          </a:p>
          <a:p>
            <a:pPr>
              <a:defRPr sz="1100">
                <a:solidFill>
                  <a:srgbClr val="A0A0A0"/>
                </a:solidFill>
              </a:defRPr>
            </a:pPr>
            <a:r>
              <a:t>  temporal analysis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36"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3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3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Implementing Density Entropy</a:t>
            </a:r>
          </a:p>
        </p:txBody>
      </p:sp>
      <p:sp>
        <p:nvSpPr>
          <p:cNvPr id="239" name="Shape 3"/>
          <p:cNvSpPr/>
          <p:nvPr/>
        </p:nvSpPr>
        <p:spPr>
          <a:xfrm>
            <a:off x="548640" y="1005839"/>
            <a:ext cx="5486401" cy="3520442"/>
          </a:xfrm>
          <a:prstGeom prst="rect">
            <a:avLst/>
          </a:prstGeom>
          <a:solidFill>
            <a:srgbClr val="1E1E1E"/>
          </a:solidFill>
          <a:ln w="12700">
            <a:solidFill>
              <a:srgbClr val="333333"/>
            </a:solidFill>
          </a:ln>
        </p:spPr>
        <p:txBody>
          <a:bodyPr lIns="45719" rIns="45719"/>
          <a:lstStyle/>
          <a:p>
            <a:endParaRPr/>
          </a:p>
        </p:txBody>
      </p:sp>
      <p:sp>
        <p:nvSpPr>
          <p:cNvPr id="240" name="Text 4"/>
          <p:cNvSpPr txBox="1"/>
          <p:nvPr/>
        </p:nvSpPr>
        <p:spPr>
          <a:xfrm>
            <a:off x="685800" y="1051560"/>
            <a:ext cx="5212080" cy="3771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density_entropy(grid):</a:t>
            </a:r>
          </a:p>
          <a:p>
            <a:pPr>
              <a:defRPr sz="1000">
                <a:solidFill>
                  <a:srgbClr val="44AA66"/>
                </a:solidFill>
                <a:latin typeface="Consolas"/>
                <a:ea typeface="Consolas"/>
                <a:cs typeface="Consolas"/>
                <a:sym typeface="Consolas"/>
              </a:defRPr>
            </a:pPr>
            <a:r>
              <a:t>    """Binary entropy of alive fraction."""</a:t>
            </a:r>
          </a:p>
          <a:p>
            <a:pPr>
              <a:defRPr sz="1000">
                <a:solidFill>
                  <a:srgbClr val="44AA66"/>
                </a:solidFill>
                <a:latin typeface="Consolas"/>
                <a:ea typeface="Consolas"/>
                <a:cs typeface="Consolas"/>
                <a:sym typeface="Consolas"/>
              </a:defRPr>
            </a:pPr>
            <a:r>
              <a:t>    rho = grid.mean()</a:t>
            </a:r>
          </a:p>
          <a:p>
            <a:pPr>
              <a:defRPr sz="1000">
                <a:solidFill>
                  <a:srgbClr val="44AA66"/>
                </a:solidFill>
                <a:latin typeface="Consolas"/>
                <a:ea typeface="Consolas"/>
                <a:cs typeface="Consolas"/>
                <a:sym typeface="Consolas"/>
              </a:defRPr>
            </a:pPr>
            <a:r>
              <a:t>    if rho == 0 or rho == 1:</a:t>
            </a:r>
          </a:p>
          <a:p>
            <a:pPr>
              <a:defRPr sz="1000">
                <a:solidFill>
                  <a:srgbClr val="44AA66"/>
                </a:solidFill>
                <a:latin typeface="Consolas"/>
                <a:ea typeface="Consolas"/>
                <a:cs typeface="Consolas"/>
                <a:sym typeface="Consolas"/>
              </a:defRPr>
            </a:pPr>
            <a:r>
              <a:t>        return 0.0</a:t>
            </a:r>
          </a:p>
          <a:p>
            <a:pPr>
              <a:defRPr sz="1000">
                <a:solidFill>
                  <a:srgbClr val="44AA66"/>
                </a:solidFill>
                <a:latin typeface="Consolas"/>
                <a:ea typeface="Consolas"/>
                <a:cs typeface="Consolas"/>
                <a:sym typeface="Consolas"/>
              </a:defRPr>
            </a:pPr>
            <a:r>
              <a:t>    return -rho * np.log2(rho) - (1-rho) * np.log2(1-rho)</a:t>
            </a:r>
          </a:p>
          <a:p>
            <a:pPr>
              <a:defRPr sz="1000"/>
            </a:pPr>
            <a:endParaRPr/>
          </a:p>
          <a:p>
            <a:pPr>
              <a:defRPr sz="1000">
                <a:solidFill>
                  <a:srgbClr val="44AA66"/>
                </a:solidFill>
                <a:latin typeface="Consolas"/>
                <a:ea typeface="Consolas"/>
                <a:cs typeface="Consolas"/>
                <a:sym typeface="Consolas"/>
              </a:defRPr>
            </a:pPr>
            <a:r>
              <a:t>def entropy_trajectory(history):</a:t>
            </a:r>
          </a:p>
          <a:p>
            <a:pPr>
              <a:defRPr sz="1000">
                <a:solidFill>
                  <a:srgbClr val="44AA66"/>
                </a:solidFill>
                <a:latin typeface="Consolas"/>
                <a:ea typeface="Consolas"/>
                <a:cs typeface="Consolas"/>
                <a:sym typeface="Consolas"/>
              </a:defRPr>
            </a:pPr>
            <a:r>
              <a:t>    """H_density(t) for full spacetime history."""</a:t>
            </a:r>
          </a:p>
          <a:p>
            <a:pPr>
              <a:defRPr sz="1000">
                <a:solidFill>
                  <a:srgbClr val="44AA66"/>
                </a:solidFill>
                <a:latin typeface="Consolas"/>
                <a:ea typeface="Consolas"/>
                <a:cs typeface="Consolas"/>
                <a:sym typeface="Consolas"/>
              </a:defRPr>
            </a:pPr>
            <a:r>
              <a:t>    return np.array([density_entropy(h) for h in history])</a:t>
            </a:r>
          </a:p>
          <a:p>
            <a:pPr>
              <a:defRPr sz="1000"/>
            </a:pPr>
            <a:endParaRPr/>
          </a:p>
          <a:p>
            <a:pPr>
              <a:defRPr sz="1000">
                <a:solidFill>
                  <a:srgbClr val="44AA66"/>
                </a:solidFill>
                <a:latin typeface="Consolas"/>
                <a:ea typeface="Consolas"/>
                <a:cs typeface="Consolas"/>
                <a:sym typeface="Consolas"/>
              </a:defRPr>
            </a:pPr>
            <a:r>
              <a:t># Example: random 100x100 soup, 500 steps</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 evolve(grid, 500)</a:t>
            </a:r>
          </a:p>
          <a:p>
            <a:pPr>
              <a:defRPr sz="1000">
                <a:solidFill>
                  <a:srgbClr val="44AA66"/>
                </a:solidFill>
                <a:latin typeface="Consolas"/>
                <a:ea typeface="Consolas"/>
                <a:cs typeface="Consolas"/>
                <a:sym typeface="Consolas"/>
              </a:defRPr>
            </a:pPr>
            <a:r>
              <a:t>H = entropy_trajectory(history)</a:t>
            </a:r>
          </a:p>
          <a:p>
            <a:pPr>
              <a:defRPr sz="1000"/>
            </a:pPr>
            <a:endParaRPr/>
          </a:p>
          <a:p>
            <a:pPr>
              <a:defRPr sz="1000">
                <a:solidFill>
                  <a:srgbClr val="44AA66"/>
                </a:solidFill>
                <a:latin typeface="Consolas"/>
                <a:ea typeface="Consolas"/>
                <a:cs typeface="Consolas"/>
                <a:sym typeface="Consolas"/>
              </a:defRPr>
            </a:pPr>
            <a:r>
              <a:t># Plot</a:t>
            </a:r>
          </a:p>
          <a:p>
            <a:pPr>
              <a:defRPr sz="1000">
                <a:solidFill>
                  <a:srgbClr val="44AA66"/>
                </a:solidFill>
                <a:latin typeface="Consolas"/>
                <a:ea typeface="Consolas"/>
                <a:cs typeface="Consolas"/>
                <a:sym typeface="Consolas"/>
              </a:defRPr>
            </a:pPr>
            <a:r>
              <a:t>import matplotlib.pyplot as plt</a:t>
            </a:r>
          </a:p>
          <a:p>
            <a:pPr>
              <a:defRPr sz="1000">
                <a:solidFill>
                  <a:srgbClr val="44AA66"/>
                </a:solidFill>
                <a:latin typeface="Consolas"/>
                <a:ea typeface="Consolas"/>
                <a:cs typeface="Consolas"/>
                <a:sym typeface="Consolas"/>
              </a:defRPr>
            </a:pPr>
            <a:r>
              <a:t>plt.figure(figsize=(10, 4))</a:t>
            </a:r>
          </a:p>
          <a:p>
            <a:pPr>
              <a:defRPr sz="1000">
                <a:solidFill>
                  <a:srgbClr val="44AA66"/>
                </a:solidFill>
                <a:latin typeface="Consolas"/>
                <a:ea typeface="Consolas"/>
                <a:cs typeface="Consolas"/>
                <a:sym typeface="Consolas"/>
              </a:defRPr>
            </a:pPr>
            <a:r>
              <a:t>plt.plot(H, color='steelblue', linewidth=1.5)</a:t>
            </a:r>
          </a:p>
          <a:p>
            <a:pPr>
              <a:defRPr sz="1000">
                <a:solidFill>
                  <a:srgbClr val="44AA66"/>
                </a:solidFill>
                <a:latin typeface="Consolas"/>
                <a:ea typeface="Consolas"/>
                <a:cs typeface="Consolas"/>
                <a:sym typeface="Consolas"/>
              </a:defRPr>
            </a:pPr>
            <a:r>
              <a:t>plt.xlabel('Generation'); plt.ylabel('H_density [bits]')</a:t>
            </a:r>
          </a:p>
          <a:p>
            <a:pPr>
              <a:defRPr sz="1000">
                <a:solidFill>
                  <a:srgbClr val="44AA66"/>
                </a:solidFill>
                <a:latin typeface="Consolas"/>
                <a:ea typeface="Consolas"/>
                <a:cs typeface="Consolas"/>
                <a:sym typeface="Consolas"/>
              </a:defRPr>
            </a:pPr>
            <a:r>
              <a:t>plt.title('Density Entropy: Random Soup → Equilibrium')</a:t>
            </a:r>
          </a:p>
          <a:p>
            <a:pPr>
              <a:defRPr sz="1000">
                <a:solidFill>
                  <a:srgbClr val="44AA66"/>
                </a:solidFill>
                <a:latin typeface="Consolas"/>
                <a:ea typeface="Consolas"/>
                <a:cs typeface="Consolas"/>
                <a:sym typeface="Consolas"/>
              </a:defRPr>
            </a:pPr>
            <a:r>
              <a:t>plt.axhline(y=H[-1], color='gold', ls='--',</a:t>
            </a:r>
          </a:p>
          <a:p>
            <a:pPr>
              <a:defRPr sz="1000">
                <a:solidFill>
                  <a:srgbClr val="44AA66"/>
                </a:solidFill>
                <a:latin typeface="Consolas"/>
                <a:ea typeface="Consolas"/>
                <a:cs typeface="Consolas"/>
                <a:sym typeface="Consolas"/>
              </a:defRPr>
            </a:pPr>
            <a:r>
              <a:t>            label=f'H_eq ≈ {H[-1]:.3f}')</a:t>
            </a:r>
          </a:p>
          <a:p>
            <a:pPr>
              <a:defRPr sz="1000">
                <a:solidFill>
                  <a:srgbClr val="44AA66"/>
                </a:solidFill>
                <a:latin typeface="Consolas"/>
                <a:ea typeface="Consolas"/>
                <a:cs typeface="Consolas"/>
                <a:sym typeface="Consolas"/>
              </a:defRPr>
            </a:pPr>
            <a:r>
              <a:t>plt.legend(); plt.grid(alpha=0.3)</a:t>
            </a:r>
          </a:p>
        </p:txBody>
      </p:sp>
      <p:sp>
        <p:nvSpPr>
          <p:cNvPr id="241" name="Shape 5"/>
          <p:cNvSpPr/>
          <p:nvPr/>
        </p:nvSpPr>
        <p:spPr>
          <a:xfrm>
            <a:off x="6309359" y="1005839"/>
            <a:ext cx="2468881" cy="3520442"/>
          </a:xfrm>
          <a:prstGeom prst="rect">
            <a:avLst/>
          </a:prstGeom>
          <a:solidFill>
            <a:srgbClr val="2D2D2D"/>
          </a:solidFill>
          <a:ln w="12700">
            <a:miter lim="400000"/>
          </a:ln>
        </p:spPr>
        <p:txBody>
          <a:bodyPr lIns="45719" rIns="45719"/>
          <a:lstStyle/>
          <a:p>
            <a:endParaRPr/>
          </a:p>
        </p:txBody>
      </p:sp>
      <p:sp>
        <p:nvSpPr>
          <p:cNvPr id="242" name="Text 6"/>
          <p:cNvSpPr txBox="1"/>
          <p:nvPr/>
        </p:nvSpPr>
        <p:spPr>
          <a:xfrm>
            <a:off x="6492240" y="1149349"/>
            <a:ext cx="2103121"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a:solidFill>
                  <a:srgbClr val="E8B931"/>
                </a:solidFill>
                <a:latin typeface="Consolas"/>
                <a:ea typeface="Consolas"/>
                <a:cs typeface="Consolas"/>
                <a:sym typeface="Consolas"/>
              </a:defRPr>
            </a:lvl1pPr>
          </a:lstStyle>
          <a:p>
            <a:r>
              <a:t>Expected Output</a:t>
            </a:r>
          </a:p>
        </p:txBody>
      </p:sp>
      <p:sp>
        <p:nvSpPr>
          <p:cNvPr id="243" name="Text 7"/>
          <p:cNvSpPr txBox="1"/>
          <p:nvPr/>
        </p:nvSpPr>
        <p:spPr>
          <a:xfrm>
            <a:off x="6492240" y="1508760"/>
            <a:ext cx="2103121" cy="2616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A0A0A0"/>
                </a:solidFill>
                <a:latin typeface="Consolas"/>
                <a:ea typeface="Consolas"/>
                <a:cs typeface="Consolas"/>
                <a:sym typeface="Consolas"/>
              </a:defRPr>
            </a:pPr>
            <a:r>
              <a:rPr dirty="0"/>
              <a:t>Characteristic curve:</a:t>
            </a:r>
          </a:p>
          <a:p>
            <a:pPr>
              <a:defRPr sz="1000"/>
            </a:pPr>
            <a:endParaRPr dirty="0"/>
          </a:p>
          <a:p>
            <a:pPr>
              <a:defRPr sz="1000">
                <a:solidFill>
                  <a:srgbClr val="A0A0A0"/>
                </a:solidFill>
                <a:latin typeface="Consolas"/>
                <a:ea typeface="Consolas"/>
                <a:cs typeface="Consolas"/>
                <a:sym typeface="Consolas"/>
              </a:defRPr>
            </a:pPr>
            <a:r>
              <a:rPr dirty="0"/>
              <a:t>┌─────────────────┐</a:t>
            </a:r>
          </a:p>
          <a:p>
            <a:pPr>
              <a:defRPr sz="1000">
                <a:solidFill>
                  <a:srgbClr val="A0A0A0"/>
                </a:solidFill>
                <a:latin typeface="Consolas"/>
                <a:ea typeface="Consolas"/>
                <a:cs typeface="Consolas"/>
                <a:sym typeface="Consolas"/>
              </a:defRPr>
            </a:pPr>
            <a:r>
              <a:rPr dirty="0"/>
              <a:t>│ 1.0 </a:t>
            </a:r>
            <a:endParaRPr lang="it-IT" dirty="0"/>
          </a:p>
          <a:p>
            <a:pPr>
              <a:defRPr sz="1000">
                <a:solidFill>
                  <a:srgbClr val="A0A0A0"/>
                </a:solidFill>
                <a:latin typeface="Consolas"/>
                <a:ea typeface="Consolas"/>
                <a:cs typeface="Consolas"/>
                <a:sym typeface="Consolas"/>
              </a:defRPr>
            </a:pPr>
            <a:endParaRPr lang="it-IT" dirty="0"/>
          </a:p>
          <a:p>
            <a:pPr>
              <a:defRPr sz="1000">
                <a:solidFill>
                  <a:srgbClr val="A0A0A0"/>
                </a:solidFill>
                <a:latin typeface="Consolas"/>
                <a:ea typeface="Consolas"/>
                <a:cs typeface="Consolas"/>
                <a:sym typeface="Consolas"/>
              </a:defRPr>
            </a:pPr>
            <a:endParaRPr lang="it-IT" dirty="0"/>
          </a:p>
          <a:p>
            <a:pPr>
              <a:defRPr sz="1000">
                <a:solidFill>
                  <a:srgbClr val="A0A0A0"/>
                </a:solidFill>
                <a:latin typeface="Consolas"/>
                <a:ea typeface="Consolas"/>
                <a:cs typeface="Consolas"/>
                <a:sym typeface="Consolas"/>
              </a:defRPr>
            </a:pPr>
            <a:r>
              <a:rPr lang="it-IT" dirty="0" err="1"/>
              <a:t>Exercise</a:t>
            </a:r>
            <a:r>
              <a:rPr lang="it-IT" dirty="0"/>
              <a:t>------</a:t>
            </a:r>
          </a:p>
          <a:p>
            <a:pPr>
              <a:defRPr sz="1000">
                <a:solidFill>
                  <a:srgbClr val="A0A0A0"/>
                </a:solidFill>
                <a:latin typeface="Consolas"/>
                <a:ea typeface="Consolas"/>
                <a:cs typeface="Consolas"/>
                <a:sym typeface="Consolas"/>
              </a:defRPr>
            </a:pPr>
            <a:endParaRPr lang="it-IT" dirty="0"/>
          </a:p>
          <a:p>
            <a:pPr>
              <a:defRPr sz="1000">
                <a:solidFill>
                  <a:srgbClr val="A0A0A0"/>
                </a:solidFill>
                <a:latin typeface="Consolas"/>
                <a:ea typeface="Consolas"/>
                <a:cs typeface="Consolas"/>
                <a:sym typeface="Consolas"/>
              </a:defRPr>
            </a:pPr>
            <a:r>
              <a:rPr dirty="0"/>
              <a:t>│</a:t>
            </a:r>
          </a:p>
          <a:p>
            <a:pPr>
              <a:defRPr sz="1000">
                <a:solidFill>
                  <a:srgbClr val="A0A0A0"/>
                </a:solidFill>
                <a:latin typeface="Consolas"/>
                <a:ea typeface="Consolas"/>
                <a:cs typeface="Consolas"/>
                <a:sym typeface="Consolas"/>
              </a:defRPr>
            </a:pPr>
            <a:r>
              <a:rPr dirty="0"/>
              <a:t>│ 0.2              │</a:t>
            </a:r>
          </a:p>
          <a:p>
            <a:pPr>
              <a:defRPr sz="1000">
                <a:solidFill>
                  <a:srgbClr val="A0A0A0"/>
                </a:solidFill>
                <a:latin typeface="Consolas"/>
                <a:ea typeface="Consolas"/>
                <a:cs typeface="Consolas"/>
                <a:sym typeface="Consolas"/>
              </a:defRPr>
            </a:pPr>
            <a:r>
              <a:rPr dirty="0"/>
              <a:t>└─────────────────┘</a:t>
            </a:r>
          </a:p>
          <a:p>
            <a:pPr>
              <a:defRPr sz="1000">
                <a:solidFill>
                  <a:srgbClr val="A0A0A0"/>
                </a:solidFill>
                <a:latin typeface="Consolas"/>
                <a:ea typeface="Consolas"/>
                <a:cs typeface="Consolas"/>
                <a:sym typeface="Consolas"/>
              </a:defRPr>
            </a:pPr>
            <a:r>
              <a:rPr dirty="0"/>
              <a:t>  0     t →    500</a:t>
            </a:r>
          </a:p>
          <a:p>
            <a:pPr>
              <a:defRPr sz="1000"/>
            </a:pPr>
            <a:endParaRPr dirty="0"/>
          </a:p>
          <a:p>
            <a:pPr>
              <a:defRPr sz="1000">
                <a:solidFill>
                  <a:srgbClr val="A0A0A0"/>
                </a:solidFill>
                <a:latin typeface="Consolas"/>
                <a:ea typeface="Consolas"/>
                <a:cs typeface="Consolas"/>
                <a:sym typeface="Consolas"/>
              </a:defRPr>
            </a:pPr>
            <a:r>
              <a:rPr dirty="0"/>
              <a:t>Sharp drop in first</a:t>
            </a:r>
          </a:p>
          <a:p>
            <a:pPr>
              <a:defRPr sz="1000">
                <a:solidFill>
                  <a:srgbClr val="A0A0A0"/>
                </a:solidFill>
                <a:latin typeface="Consolas"/>
                <a:ea typeface="Consolas"/>
                <a:cs typeface="Consolas"/>
                <a:sym typeface="Consolas"/>
              </a:defRPr>
            </a:pPr>
            <a:r>
              <a:rPr dirty="0"/>
              <a:t>~50 generations, then</a:t>
            </a:r>
          </a:p>
          <a:p>
            <a:pPr>
              <a:defRPr sz="1000">
                <a:solidFill>
                  <a:srgbClr val="A0A0A0"/>
                </a:solidFill>
                <a:latin typeface="Consolas"/>
                <a:ea typeface="Consolas"/>
                <a:cs typeface="Consolas"/>
                <a:sym typeface="Consolas"/>
              </a:defRPr>
            </a:pPr>
            <a:r>
              <a:rPr dirty="0"/>
              <a:t>slow convergence to</a:t>
            </a:r>
          </a:p>
          <a:p>
            <a:pPr>
              <a:defRPr sz="1000">
                <a:solidFill>
                  <a:srgbClr val="A0A0A0"/>
                </a:solidFill>
                <a:latin typeface="Consolas"/>
                <a:ea typeface="Consolas"/>
                <a:cs typeface="Consolas"/>
                <a:sym typeface="Consolas"/>
              </a:defRPr>
            </a:pPr>
            <a:r>
              <a:rPr dirty="0" err="1"/>
              <a:t>H_eq</a:t>
            </a:r>
            <a:r>
              <a:rPr dirty="0"/>
              <a:t> ≈ 0.20 bits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45"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46"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47"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Implementing 2D Block Entropy</a:t>
            </a:r>
          </a:p>
        </p:txBody>
      </p:sp>
      <p:sp>
        <p:nvSpPr>
          <p:cNvPr id="248" name="Shape 3"/>
          <p:cNvSpPr/>
          <p:nvPr/>
        </p:nvSpPr>
        <p:spPr>
          <a:xfrm>
            <a:off x="548640" y="960119"/>
            <a:ext cx="5943601" cy="3154681"/>
          </a:xfrm>
          <a:prstGeom prst="rect">
            <a:avLst/>
          </a:prstGeom>
          <a:solidFill>
            <a:srgbClr val="1E1E1E"/>
          </a:solidFill>
          <a:ln w="12700">
            <a:solidFill>
              <a:srgbClr val="333333"/>
            </a:solidFill>
          </a:ln>
        </p:spPr>
        <p:txBody>
          <a:bodyPr lIns="45719" rIns="45719"/>
          <a:lstStyle/>
          <a:p>
            <a:endParaRPr/>
          </a:p>
        </p:txBody>
      </p:sp>
      <p:sp>
        <p:nvSpPr>
          <p:cNvPr id="249" name="Text 4"/>
          <p:cNvSpPr txBox="1"/>
          <p:nvPr/>
        </p:nvSpPr>
        <p:spPr>
          <a:xfrm>
            <a:off x="685800" y="1005839"/>
            <a:ext cx="5669280" cy="3492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block_entropy_2d(grid, k=2):</a:t>
            </a:r>
          </a:p>
          <a:p>
            <a:pPr>
              <a:defRPr sz="1000">
                <a:solidFill>
                  <a:srgbClr val="44AA66"/>
                </a:solidFill>
                <a:latin typeface="Consolas"/>
                <a:ea typeface="Consolas"/>
                <a:cs typeface="Consolas"/>
                <a:sym typeface="Consolas"/>
              </a:defRPr>
            </a:pPr>
            <a:r>
              <a:t>    """Shannon entropy of k×k block patterns.</a:t>
            </a:r>
          </a:p>
          <a:p>
            <a:pPr>
              <a:defRPr sz="1000">
                <a:solidFill>
                  <a:srgbClr val="44AA66"/>
                </a:solidFill>
                <a:latin typeface="Consolas"/>
                <a:ea typeface="Consolas"/>
                <a:cs typeface="Consolas"/>
                <a:sym typeface="Consolas"/>
              </a:defRPr>
            </a:pPr>
            <a:r>
              <a:t>    Vectorized extraction via stride tricks."""</a:t>
            </a:r>
          </a:p>
          <a:p>
            <a:pPr>
              <a:defRPr sz="1000">
                <a:solidFill>
                  <a:srgbClr val="44AA66"/>
                </a:solidFill>
                <a:latin typeface="Consolas"/>
                <a:ea typeface="Consolas"/>
                <a:cs typeface="Consolas"/>
                <a:sym typeface="Consolas"/>
              </a:defRPr>
            </a:pPr>
            <a:r>
              <a:t>    # Extract all k×k blocks (no loops!)</a:t>
            </a:r>
          </a:p>
          <a:p>
            <a:pPr>
              <a:defRPr sz="1000">
                <a:solidFill>
                  <a:srgbClr val="44AA66"/>
                </a:solidFill>
                <a:latin typeface="Consolas"/>
                <a:ea typeface="Consolas"/>
                <a:cs typeface="Consolas"/>
                <a:sym typeface="Consolas"/>
              </a:defRPr>
            </a:pPr>
            <a:r>
              <a:t>    blocks = np.lib.stride_tricks.sliding_window_view(</a:t>
            </a:r>
          </a:p>
          <a:p>
            <a:pPr>
              <a:defRPr sz="1000">
                <a:solidFill>
                  <a:srgbClr val="44AA66"/>
                </a:solidFill>
                <a:latin typeface="Consolas"/>
                <a:ea typeface="Consolas"/>
                <a:cs typeface="Consolas"/>
                <a:sym typeface="Consolas"/>
              </a:defRPr>
            </a:pPr>
            <a:r>
              <a:t>        grid, (k, k)</a:t>
            </a:r>
          </a:p>
          <a:p>
            <a:pPr>
              <a:defRPr sz="1000">
                <a:solidFill>
                  <a:srgbClr val="44AA66"/>
                </a:solidFill>
                <a:latin typeface="Consolas"/>
                <a:ea typeface="Consolas"/>
                <a:cs typeface="Consolas"/>
                <a:sym typeface="Consolas"/>
              </a:defRPr>
            </a:pPr>
            <a:r>
              <a:t>    )  # shape: (rows-k+1, cols-k+1, k, k)</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Flatten and convert to integer keys</a:t>
            </a:r>
          </a:p>
          <a:p>
            <a:pPr>
              <a:defRPr sz="1000">
                <a:solidFill>
                  <a:srgbClr val="44AA66"/>
                </a:solidFill>
                <a:latin typeface="Consolas"/>
                <a:ea typeface="Consolas"/>
                <a:cs typeface="Consolas"/>
                <a:sym typeface="Consolas"/>
              </a:defRPr>
            </a:pPr>
            <a:r>
              <a:t>    flat = blocks.reshape(-1, k*k)</a:t>
            </a:r>
          </a:p>
          <a:p>
            <a:pPr>
              <a:defRPr sz="1000">
                <a:solidFill>
                  <a:srgbClr val="44AA66"/>
                </a:solidFill>
                <a:latin typeface="Consolas"/>
                <a:ea typeface="Consolas"/>
                <a:cs typeface="Consolas"/>
                <a:sym typeface="Consolas"/>
              </a:defRPr>
            </a:pPr>
            <a:r>
              <a:t>    keys = flat @ (2 ** np.arange(k*k))</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Count frequencies → probabilities → entropy</a:t>
            </a:r>
          </a:p>
          <a:p>
            <a:pPr>
              <a:defRPr sz="1000">
                <a:solidFill>
                  <a:srgbClr val="44AA66"/>
                </a:solidFill>
                <a:latin typeface="Consolas"/>
                <a:ea typeface="Consolas"/>
                <a:cs typeface="Consolas"/>
                <a:sym typeface="Consolas"/>
              </a:defRPr>
            </a:pPr>
            <a:r>
              <a:t>    counts = np.bincount(keys, minlength=2**(k*k))</a:t>
            </a:r>
          </a:p>
          <a:p>
            <a:pPr>
              <a:defRPr sz="1000">
                <a:solidFill>
                  <a:srgbClr val="44AA66"/>
                </a:solidFill>
                <a:latin typeface="Consolas"/>
                <a:ea typeface="Consolas"/>
                <a:cs typeface="Consolas"/>
                <a:sym typeface="Consolas"/>
              </a:defRPr>
            </a:pPr>
            <a:r>
              <a:t>    probs = counts / counts.sum()</a:t>
            </a:r>
          </a:p>
          <a:p>
            <a:pPr>
              <a:defRPr sz="1000">
                <a:solidFill>
                  <a:srgbClr val="44AA66"/>
                </a:solidFill>
                <a:latin typeface="Consolas"/>
                <a:ea typeface="Consolas"/>
                <a:cs typeface="Consolas"/>
                <a:sym typeface="Consolas"/>
              </a:defRPr>
            </a:pPr>
            <a:r>
              <a:t>    probs = probs[probs &gt; 0]</a:t>
            </a:r>
          </a:p>
          <a:p>
            <a:pPr>
              <a:defRPr sz="1000">
                <a:solidFill>
                  <a:srgbClr val="44AA66"/>
                </a:solidFill>
                <a:latin typeface="Consolas"/>
                <a:ea typeface="Consolas"/>
                <a:cs typeface="Consolas"/>
                <a:sym typeface="Consolas"/>
              </a:defRPr>
            </a:pPr>
            <a:r>
              <a:t>    return -np.sum(probs * np.log2(probs))</a:t>
            </a:r>
          </a:p>
          <a:p>
            <a:pPr>
              <a:defRPr sz="1000"/>
            </a:pPr>
            <a:endParaRPr/>
          </a:p>
          <a:p>
            <a:pPr>
              <a:defRPr sz="1000">
                <a:solidFill>
                  <a:srgbClr val="44AA66"/>
                </a:solidFill>
                <a:latin typeface="Consolas"/>
                <a:ea typeface="Consolas"/>
                <a:cs typeface="Consolas"/>
                <a:sym typeface="Consolas"/>
              </a:defRPr>
            </a:pPr>
            <a:r>
              <a:t># Usage</a:t>
            </a:r>
          </a:p>
          <a:p>
            <a:pPr>
              <a:defRPr sz="1000">
                <a:solidFill>
                  <a:srgbClr val="44AA66"/>
                </a:solidFill>
                <a:latin typeface="Consolas"/>
                <a:ea typeface="Consolas"/>
                <a:cs typeface="Consolas"/>
                <a:sym typeface="Consolas"/>
              </a:defRPr>
            </a:pPr>
            <a:r>
              <a:t>for k in [2, 3, 4]:</a:t>
            </a:r>
          </a:p>
          <a:p>
            <a:pPr>
              <a:defRPr sz="1000">
                <a:solidFill>
                  <a:srgbClr val="44AA66"/>
                </a:solidFill>
                <a:latin typeface="Consolas"/>
                <a:ea typeface="Consolas"/>
                <a:cs typeface="Consolas"/>
                <a:sym typeface="Consolas"/>
              </a:defRPr>
            </a:pPr>
            <a:r>
              <a:t>    H_r = block_entropy_2d(random_grid, k)</a:t>
            </a:r>
          </a:p>
          <a:p>
            <a:pPr>
              <a:defRPr sz="1000">
                <a:solidFill>
                  <a:srgbClr val="44AA66"/>
                </a:solidFill>
                <a:latin typeface="Consolas"/>
                <a:ea typeface="Consolas"/>
                <a:cs typeface="Consolas"/>
                <a:sym typeface="Consolas"/>
              </a:defRPr>
            </a:pPr>
            <a:r>
              <a:t>    H_s = block_entropy_2d(settled_grid, k)</a:t>
            </a:r>
          </a:p>
          <a:p>
            <a:pPr>
              <a:defRPr sz="1000">
                <a:solidFill>
                  <a:srgbClr val="44AA66"/>
                </a:solidFill>
                <a:latin typeface="Consolas"/>
                <a:ea typeface="Consolas"/>
                <a:cs typeface="Consolas"/>
                <a:sym typeface="Consolas"/>
              </a:defRPr>
            </a:pPr>
            <a:r>
              <a:t>    print(f"k={k}: random={H_r:.1f}, settled={H_s:.1f}")</a:t>
            </a:r>
          </a:p>
        </p:txBody>
      </p:sp>
      <p:sp>
        <p:nvSpPr>
          <p:cNvPr id="250" name="Shape 5"/>
          <p:cNvSpPr/>
          <p:nvPr/>
        </p:nvSpPr>
        <p:spPr>
          <a:xfrm>
            <a:off x="6675119" y="960119"/>
            <a:ext cx="2148841" cy="3154681"/>
          </a:xfrm>
          <a:prstGeom prst="rect">
            <a:avLst/>
          </a:prstGeom>
          <a:solidFill>
            <a:srgbClr val="2D2D2D"/>
          </a:solidFill>
          <a:ln w="12700">
            <a:miter lim="400000"/>
          </a:ln>
        </p:spPr>
        <p:txBody>
          <a:bodyPr lIns="45719" rIns="45719"/>
          <a:lstStyle/>
          <a:p>
            <a:endParaRPr/>
          </a:p>
        </p:txBody>
      </p:sp>
      <p:sp>
        <p:nvSpPr>
          <p:cNvPr id="251" name="Text 6"/>
          <p:cNvSpPr txBox="1"/>
          <p:nvPr/>
        </p:nvSpPr>
        <p:spPr>
          <a:xfrm>
            <a:off x="6812280" y="1109980"/>
            <a:ext cx="18288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44AA66"/>
                </a:solidFill>
                <a:latin typeface="Consolas"/>
                <a:ea typeface="Consolas"/>
                <a:cs typeface="Consolas"/>
                <a:sym typeface="Consolas"/>
              </a:defRPr>
            </a:lvl1pPr>
          </a:lstStyle>
          <a:p>
            <a:r>
              <a:t>Key Insight</a:t>
            </a:r>
          </a:p>
        </p:txBody>
      </p:sp>
      <p:sp>
        <p:nvSpPr>
          <p:cNvPr id="252" name="Text 7"/>
          <p:cNvSpPr txBox="1"/>
          <p:nvPr/>
        </p:nvSpPr>
        <p:spPr>
          <a:xfrm>
            <a:off x="6812280" y="1417319"/>
            <a:ext cx="1828801" cy="21544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A0A0A0"/>
                </a:solidFill>
              </a:defRPr>
            </a:pPr>
            <a:r>
              <a:rPr dirty="0"/>
              <a:t>The </a:t>
            </a:r>
            <a:r>
              <a:rPr dirty="0" err="1"/>
              <a:t>stride_tricks</a:t>
            </a:r>
            <a:endParaRPr dirty="0"/>
          </a:p>
          <a:p>
            <a:pPr>
              <a:defRPr sz="1000">
                <a:solidFill>
                  <a:srgbClr val="A0A0A0"/>
                </a:solidFill>
              </a:defRPr>
            </a:pPr>
            <a:r>
              <a:rPr dirty="0"/>
              <a:t>approach avoids</a:t>
            </a:r>
          </a:p>
          <a:p>
            <a:pPr>
              <a:defRPr sz="1000">
                <a:solidFill>
                  <a:srgbClr val="A0A0A0"/>
                </a:solidFill>
              </a:defRPr>
            </a:pPr>
            <a:r>
              <a:rPr dirty="0"/>
              <a:t>explicit loops —</a:t>
            </a:r>
          </a:p>
          <a:p>
            <a:pPr>
              <a:defRPr sz="1000">
                <a:solidFill>
                  <a:srgbClr val="A0A0A0"/>
                </a:solidFill>
              </a:defRPr>
            </a:pPr>
            <a:r>
              <a:rPr dirty="0"/>
              <a:t>crucial for large</a:t>
            </a:r>
          </a:p>
          <a:p>
            <a:pPr>
              <a:defRPr sz="1000">
                <a:solidFill>
                  <a:srgbClr val="A0A0A0"/>
                </a:solidFill>
              </a:defRPr>
            </a:pPr>
            <a:r>
              <a:rPr dirty="0"/>
              <a:t>grids.</a:t>
            </a:r>
          </a:p>
          <a:p>
            <a:pPr>
              <a:defRPr sz="1000"/>
            </a:pPr>
            <a:endParaRPr dirty="0"/>
          </a:p>
          <a:p>
            <a:pPr>
              <a:defRPr sz="1000">
                <a:solidFill>
                  <a:srgbClr val="A0A0A0"/>
                </a:solidFill>
              </a:defRPr>
            </a:pPr>
            <a:r>
              <a:rPr dirty="0"/>
              <a:t>Binary encoding</a:t>
            </a:r>
          </a:p>
          <a:p>
            <a:pPr>
              <a:defRPr sz="1000">
                <a:solidFill>
                  <a:srgbClr val="A0A0A0"/>
                </a:solidFill>
              </a:defRPr>
            </a:pPr>
            <a:r>
              <a:rPr dirty="0"/>
              <a:t>(base-2 → integer)</a:t>
            </a:r>
          </a:p>
          <a:p>
            <a:pPr>
              <a:defRPr sz="1000">
                <a:solidFill>
                  <a:srgbClr val="A0A0A0"/>
                </a:solidFill>
              </a:defRPr>
            </a:pPr>
            <a:r>
              <a:rPr dirty="0"/>
              <a:t>makes hashing</a:t>
            </a:r>
          </a:p>
          <a:p>
            <a:pPr>
              <a:defRPr sz="1000">
                <a:solidFill>
                  <a:srgbClr val="A0A0A0"/>
                </a:solidFill>
              </a:defRPr>
            </a:pPr>
            <a:r>
              <a:rPr dirty="0"/>
              <a:t>O(1) via </a:t>
            </a:r>
            <a:r>
              <a:rPr dirty="0" err="1"/>
              <a:t>bincount</a:t>
            </a:r>
            <a:r>
              <a:rPr dirty="0"/>
              <a:t>.</a:t>
            </a:r>
          </a:p>
          <a:p>
            <a:pPr>
              <a:defRPr sz="1000"/>
            </a:pPr>
            <a:endParaRPr dirty="0"/>
          </a:p>
          <a:p>
            <a:pPr>
              <a:defRPr sz="1000"/>
            </a:pPr>
            <a:endParaRPr dirty="0"/>
          </a:p>
          <a:p>
            <a:pPr>
              <a:defRPr sz="1000">
                <a:solidFill>
                  <a:srgbClr val="A0A0A0"/>
                </a:solidFill>
              </a:defRPr>
            </a:pPr>
            <a:r>
              <a:rPr dirty="0"/>
              <a:t>Larger blocks capture</a:t>
            </a:r>
          </a:p>
          <a:p>
            <a:pPr>
              <a:defRPr sz="1000">
                <a:solidFill>
                  <a:srgbClr val="A0A0A0"/>
                </a:solidFill>
              </a:defRPr>
            </a:pPr>
            <a:r>
              <a:rPr dirty="0"/>
              <a:t>more spatial structure.</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54"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55"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56"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Implementing Neighborhood Entropy</a:t>
            </a:r>
          </a:p>
        </p:txBody>
      </p:sp>
      <p:sp>
        <p:nvSpPr>
          <p:cNvPr id="257" name="Shape 3"/>
          <p:cNvSpPr/>
          <p:nvPr/>
        </p:nvSpPr>
        <p:spPr>
          <a:xfrm>
            <a:off x="548640" y="960119"/>
            <a:ext cx="6400801" cy="3200401"/>
          </a:xfrm>
          <a:prstGeom prst="rect">
            <a:avLst/>
          </a:prstGeom>
          <a:solidFill>
            <a:srgbClr val="1E1E1E"/>
          </a:solidFill>
          <a:ln w="12700">
            <a:solidFill>
              <a:srgbClr val="333333"/>
            </a:solidFill>
          </a:ln>
        </p:spPr>
        <p:txBody>
          <a:bodyPr lIns="45719" rIns="45719"/>
          <a:lstStyle/>
          <a:p>
            <a:endParaRPr/>
          </a:p>
        </p:txBody>
      </p:sp>
      <p:sp>
        <p:nvSpPr>
          <p:cNvPr id="258" name="Text 4"/>
          <p:cNvSpPr txBox="1"/>
          <p:nvPr/>
        </p:nvSpPr>
        <p:spPr>
          <a:xfrm>
            <a:off x="685800" y="1005839"/>
            <a:ext cx="6126480" cy="381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neighborhood_entropy(grid, mode='sum'):</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Entropy of Moore neighborhood configurations.</a:t>
            </a:r>
          </a:p>
          <a:p>
            <a:pPr>
              <a:defRPr sz="1000">
                <a:solidFill>
                  <a:srgbClr val="44AA66"/>
                </a:solidFill>
                <a:latin typeface="Consolas"/>
                <a:ea typeface="Consolas"/>
                <a:cs typeface="Consolas"/>
                <a:sym typeface="Consolas"/>
              </a:defRPr>
            </a:pPr>
            <a:r>
              <a:t>    mode='sum'  : 10 classes (neighbor count 0-9)</a:t>
            </a:r>
          </a:p>
          <a:p>
            <a:pPr>
              <a:defRPr sz="1000">
                <a:solidFill>
                  <a:srgbClr val="44AA66"/>
                </a:solidFill>
                <a:latin typeface="Consolas"/>
                <a:ea typeface="Consolas"/>
                <a:cs typeface="Consolas"/>
                <a:sym typeface="Consolas"/>
              </a:defRPr>
            </a:pPr>
            <a:r>
              <a:t>    mode='full' : 512 classes (all 9-bit patterns)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kernel_full = np.ones((3, 3), dtype=int)</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if mode == 'sum':</a:t>
            </a:r>
          </a:p>
          <a:p>
            <a:pPr>
              <a:defRPr sz="1000">
                <a:solidFill>
                  <a:srgbClr val="44AA66"/>
                </a:solidFill>
                <a:latin typeface="Consolas"/>
                <a:ea typeface="Consolas"/>
                <a:cs typeface="Consolas"/>
                <a:sym typeface="Consolas"/>
              </a:defRPr>
            </a:pPr>
            <a:r>
              <a:t>        # Count alive neighbors + self</a:t>
            </a:r>
          </a:p>
          <a:p>
            <a:pPr>
              <a:defRPr sz="1000">
                <a:solidFill>
                  <a:srgbClr val="44AA66"/>
                </a:solidFill>
                <a:latin typeface="Consolas"/>
                <a:ea typeface="Consolas"/>
                <a:cs typeface="Consolas"/>
                <a:sym typeface="Consolas"/>
              </a:defRPr>
            </a:pPr>
            <a:r>
              <a:t>        total = convolve2d(grid, kernel_full,</a:t>
            </a:r>
          </a:p>
          <a:p>
            <a:pPr>
              <a:defRPr sz="1000">
                <a:solidFill>
                  <a:srgbClr val="44AA66"/>
                </a:solidFill>
                <a:latin typeface="Consolas"/>
                <a:ea typeface="Consolas"/>
                <a:cs typeface="Consolas"/>
                <a:sym typeface="Consolas"/>
              </a:defRPr>
            </a:pPr>
            <a:r>
              <a:t>                          mode='same', boundary='wrap')</a:t>
            </a:r>
          </a:p>
          <a:p>
            <a:pPr>
              <a:defRPr sz="1000">
                <a:solidFill>
                  <a:srgbClr val="44AA66"/>
                </a:solidFill>
                <a:latin typeface="Consolas"/>
                <a:ea typeface="Consolas"/>
                <a:cs typeface="Consolas"/>
                <a:sym typeface="Consolas"/>
              </a:defRPr>
            </a:pPr>
            <a:r>
              <a:t>        counts = np.bincount(total.ravel(), minlength=10)</a:t>
            </a:r>
          </a:p>
          <a:p>
            <a:pPr>
              <a:defRPr sz="1000">
                <a:solidFill>
                  <a:srgbClr val="44AA66"/>
                </a:solidFill>
                <a:latin typeface="Consolas"/>
                <a:ea typeface="Consolas"/>
                <a:cs typeface="Consolas"/>
                <a:sym typeface="Consolas"/>
              </a:defRPr>
            </a:pPr>
            <a:r>
              <a:t>    else:</a:t>
            </a:r>
          </a:p>
          <a:p>
            <a:pPr>
              <a:defRPr sz="1000">
                <a:solidFill>
                  <a:srgbClr val="44AA66"/>
                </a:solidFill>
                <a:latin typeface="Consolas"/>
                <a:ea typeface="Consolas"/>
                <a:cs typeface="Consolas"/>
                <a:sym typeface="Consolas"/>
              </a:defRPr>
            </a:pPr>
            <a:r>
              <a:t>        # Encode full 3x3 neighborhood as 9-bit integer</a:t>
            </a:r>
          </a:p>
          <a:p>
            <a:pPr>
              <a:defRPr sz="1000">
                <a:solidFill>
                  <a:srgbClr val="44AA66"/>
                </a:solidFill>
                <a:latin typeface="Consolas"/>
                <a:ea typeface="Consolas"/>
                <a:cs typeface="Consolas"/>
                <a:sym typeface="Consolas"/>
              </a:defRPr>
            </a:pPr>
            <a:r>
              <a:t>        patches = np.lib.stride_tricks.sliding_window_view(</a:t>
            </a:r>
          </a:p>
          <a:p>
            <a:pPr>
              <a:defRPr sz="1000">
                <a:solidFill>
                  <a:srgbClr val="44AA66"/>
                </a:solidFill>
                <a:latin typeface="Consolas"/>
                <a:ea typeface="Consolas"/>
                <a:cs typeface="Consolas"/>
                <a:sym typeface="Consolas"/>
              </a:defRPr>
            </a:pPr>
            <a:r>
              <a:t>            np.pad(grid, 1, mode='wrap'), (3, 3)</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powers = 2 ** np.arange(9).reshape(3, 3)</a:t>
            </a:r>
          </a:p>
          <a:p>
            <a:pPr>
              <a:defRPr sz="1000">
                <a:solidFill>
                  <a:srgbClr val="44AA66"/>
                </a:solidFill>
                <a:latin typeface="Consolas"/>
                <a:ea typeface="Consolas"/>
                <a:cs typeface="Consolas"/>
                <a:sym typeface="Consolas"/>
              </a:defRPr>
            </a:pPr>
            <a:r>
              <a:t>        keys = (patches * powers).sum(axis=(-2, -1))</a:t>
            </a:r>
          </a:p>
          <a:p>
            <a:pPr>
              <a:defRPr sz="1000">
                <a:solidFill>
                  <a:srgbClr val="44AA66"/>
                </a:solidFill>
                <a:latin typeface="Consolas"/>
                <a:ea typeface="Consolas"/>
                <a:cs typeface="Consolas"/>
                <a:sym typeface="Consolas"/>
              </a:defRPr>
            </a:pPr>
            <a:r>
              <a:t>        counts = np.bincount(keys.ravel(), minlength=512)</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probs = counts / counts.sum()</a:t>
            </a:r>
          </a:p>
          <a:p>
            <a:pPr>
              <a:defRPr sz="1000">
                <a:solidFill>
                  <a:srgbClr val="44AA66"/>
                </a:solidFill>
                <a:latin typeface="Consolas"/>
                <a:ea typeface="Consolas"/>
                <a:cs typeface="Consolas"/>
                <a:sym typeface="Consolas"/>
              </a:defRPr>
            </a:pPr>
            <a:r>
              <a:t>    probs = probs[probs &gt; 0]</a:t>
            </a:r>
          </a:p>
          <a:p>
            <a:pPr>
              <a:defRPr sz="1000">
                <a:solidFill>
                  <a:srgbClr val="44AA66"/>
                </a:solidFill>
                <a:latin typeface="Consolas"/>
                <a:ea typeface="Consolas"/>
                <a:cs typeface="Consolas"/>
                <a:sym typeface="Consolas"/>
              </a:defRPr>
            </a:pPr>
            <a:r>
              <a:t>    return -np.sum(probs * np.log2(probs))</a:t>
            </a:r>
          </a:p>
        </p:txBody>
      </p:sp>
      <p:sp>
        <p:nvSpPr>
          <p:cNvPr id="259" name="Shape 5"/>
          <p:cNvSpPr/>
          <p:nvPr/>
        </p:nvSpPr>
        <p:spPr>
          <a:xfrm>
            <a:off x="548640" y="4251959"/>
            <a:ext cx="8229601" cy="365761"/>
          </a:xfrm>
          <a:prstGeom prst="rect">
            <a:avLst/>
          </a:prstGeom>
          <a:solidFill>
            <a:srgbClr val="2D2D2D"/>
          </a:solidFill>
          <a:ln w="12700">
            <a:miter lim="400000"/>
          </a:ln>
        </p:spPr>
        <p:txBody>
          <a:bodyPr lIns="45719" rIns="45719"/>
          <a:lstStyle/>
          <a:p>
            <a:endParaRPr/>
          </a:p>
        </p:txBody>
      </p:sp>
      <p:sp>
        <p:nvSpPr>
          <p:cNvPr id="260" name="Text 6"/>
          <p:cNvSpPr txBox="1"/>
          <p:nvPr/>
        </p:nvSpPr>
        <p:spPr>
          <a:xfrm>
            <a:off x="777240" y="4295139"/>
            <a:ext cx="777240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000" b="1">
                <a:solidFill>
                  <a:srgbClr val="4A9ECC"/>
                </a:solidFill>
              </a:defRPr>
            </a:pPr>
            <a:r>
              <a:t>Note: </a:t>
            </a:r>
            <a:r>
              <a:rPr b="0">
                <a:solidFill>
                  <a:srgbClr val="A0A0A0"/>
                </a:solidFill>
              </a:rPr>
              <a:t>The 'sum' mode captures GoL-relevant structure (since the rule is totalistic). The 'full' mode is more general and captures spatial anisotropy in the patterns.</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62"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63"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64"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Implementing Temporal Entropy</a:t>
            </a:r>
          </a:p>
        </p:txBody>
      </p:sp>
      <p:sp>
        <p:nvSpPr>
          <p:cNvPr id="265" name="Shape 3"/>
          <p:cNvSpPr/>
          <p:nvPr/>
        </p:nvSpPr>
        <p:spPr>
          <a:xfrm>
            <a:off x="548640" y="960119"/>
            <a:ext cx="8229601" cy="3611881"/>
          </a:xfrm>
          <a:prstGeom prst="rect">
            <a:avLst/>
          </a:prstGeom>
          <a:solidFill>
            <a:srgbClr val="1E1E1E"/>
          </a:solidFill>
          <a:ln w="12700">
            <a:solidFill>
              <a:srgbClr val="333333"/>
            </a:solidFill>
          </a:ln>
        </p:spPr>
        <p:txBody>
          <a:bodyPr lIns="45719" rIns="45719"/>
          <a:lstStyle/>
          <a:p>
            <a:endParaRPr/>
          </a:p>
        </p:txBody>
      </p:sp>
      <p:sp>
        <p:nvSpPr>
          <p:cNvPr id="266" name="Text 4"/>
          <p:cNvSpPr txBox="1"/>
          <p:nvPr/>
        </p:nvSpPr>
        <p:spPr>
          <a:xfrm>
            <a:off x="685799" y="1005839"/>
            <a:ext cx="7955282" cy="4686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temporal_entropy_map(history):</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Compute per-cell temporal entropy over a history.</a:t>
            </a:r>
          </a:p>
          <a:p>
            <a:pPr>
              <a:defRPr sz="1000">
                <a:solidFill>
                  <a:srgbClr val="44AA66"/>
                </a:solidFill>
                <a:latin typeface="Consolas"/>
                <a:ea typeface="Consolas"/>
                <a:cs typeface="Consolas"/>
                <a:sym typeface="Consolas"/>
              </a:defRPr>
            </a:pPr>
            <a:r>
              <a:t>    Returns 2D array of H_ij values.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T = len(history)</a:t>
            </a:r>
          </a:p>
          <a:p>
            <a:pPr>
              <a:defRPr sz="1000">
                <a:solidFill>
                  <a:srgbClr val="44AA66"/>
                </a:solidFill>
                <a:latin typeface="Consolas"/>
                <a:ea typeface="Consolas"/>
                <a:cs typeface="Consolas"/>
                <a:sym typeface="Consolas"/>
              </a:defRPr>
            </a:pPr>
            <a:r>
              <a:t>    # Fraction of time each cell is alive</a:t>
            </a:r>
          </a:p>
          <a:p>
            <a:pPr>
              <a:defRPr sz="1000">
                <a:solidFill>
                  <a:srgbClr val="44AA66"/>
                </a:solidFill>
                <a:latin typeface="Consolas"/>
                <a:ea typeface="Consolas"/>
                <a:cs typeface="Consolas"/>
                <a:sym typeface="Consolas"/>
              </a:defRPr>
            </a:pPr>
            <a:r>
              <a:t>    f = history.mean(axis=0)   # shape: (rows, cols)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Binary entropy, handling 0 and 1 edges</a:t>
            </a:r>
          </a:p>
          <a:p>
            <a:pPr>
              <a:defRPr sz="1000">
                <a:solidFill>
                  <a:srgbClr val="44AA66"/>
                </a:solidFill>
                <a:latin typeface="Consolas"/>
                <a:ea typeface="Consolas"/>
                <a:cs typeface="Consolas"/>
                <a:sym typeface="Consolas"/>
              </a:defRPr>
            </a:pPr>
            <a:r>
              <a:t>    H = np.zeros_like(f)</a:t>
            </a:r>
          </a:p>
          <a:p>
            <a:pPr>
              <a:defRPr sz="1000">
                <a:solidFill>
                  <a:srgbClr val="44AA66"/>
                </a:solidFill>
                <a:latin typeface="Consolas"/>
                <a:ea typeface="Consolas"/>
                <a:cs typeface="Consolas"/>
                <a:sym typeface="Consolas"/>
              </a:defRPr>
            </a:pPr>
            <a:r>
              <a:t>    mask = (f &gt; 0) &amp; (f &lt; 1)</a:t>
            </a:r>
          </a:p>
          <a:p>
            <a:pPr>
              <a:defRPr sz="1000">
                <a:solidFill>
                  <a:srgbClr val="44AA66"/>
                </a:solidFill>
                <a:latin typeface="Consolas"/>
                <a:ea typeface="Consolas"/>
                <a:cs typeface="Consolas"/>
                <a:sym typeface="Consolas"/>
              </a:defRPr>
            </a:pPr>
            <a:r>
              <a:t>    H[mask] = (-f[mask] * np.log2(f[mask])</a:t>
            </a:r>
          </a:p>
          <a:p>
            <a:pPr>
              <a:defRPr sz="1000">
                <a:solidFill>
                  <a:srgbClr val="44AA66"/>
                </a:solidFill>
                <a:latin typeface="Consolas"/>
                <a:ea typeface="Consolas"/>
                <a:cs typeface="Consolas"/>
                <a:sym typeface="Consolas"/>
              </a:defRPr>
            </a:pPr>
            <a:r>
              <a:t>               - (1-f[mask]) * np.log2(1-f[mask]))</a:t>
            </a:r>
          </a:p>
          <a:p>
            <a:pPr>
              <a:defRPr sz="1000">
                <a:solidFill>
                  <a:srgbClr val="44AA66"/>
                </a:solidFill>
                <a:latin typeface="Consolas"/>
                <a:ea typeface="Consolas"/>
                <a:cs typeface="Consolas"/>
                <a:sym typeface="Consolas"/>
              </a:defRPr>
            </a:pPr>
            <a:r>
              <a:t>    return H</a:t>
            </a:r>
          </a:p>
          <a:p>
            <a:pPr>
              <a:defRPr sz="1000"/>
            </a:pPr>
            <a:endParaRPr/>
          </a:p>
          <a:p>
            <a:pPr>
              <a:defRPr sz="1000">
                <a:solidFill>
                  <a:srgbClr val="44AA66"/>
                </a:solidFill>
                <a:latin typeface="Consolas"/>
                <a:ea typeface="Consolas"/>
                <a:cs typeface="Consolas"/>
                <a:sym typeface="Consolas"/>
              </a:defRPr>
            </a:pPr>
            <a:r>
              <a:t># Example: visualize activity map</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 evolve(grid, 200)</a:t>
            </a:r>
          </a:p>
          <a:p>
            <a:pPr>
              <a:defRPr sz="1000"/>
            </a:pPr>
            <a:endParaRPr/>
          </a:p>
          <a:p>
            <a:pPr>
              <a:defRPr sz="1000">
                <a:solidFill>
                  <a:srgbClr val="44AA66"/>
                </a:solidFill>
                <a:latin typeface="Consolas"/>
                <a:ea typeface="Consolas"/>
                <a:cs typeface="Consolas"/>
                <a:sym typeface="Consolas"/>
              </a:defRPr>
            </a:pPr>
            <a:r>
              <a:t># Use last 100 steps (after transient)</a:t>
            </a:r>
          </a:p>
          <a:p>
            <a:pPr>
              <a:defRPr sz="1000">
                <a:solidFill>
                  <a:srgbClr val="44AA66"/>
                </a:solidFill>
                <a:latin typeface="Consolas"/>
                <a:ea typeface="Consolas"/>
                <a:cs typeface="Consolas"/>
                <a:sym typeface="Consolas"/>
              </a:defRPr>
            </a:pPr>
            <a:r>
              <a:t>H_map = temporal_entropy_map(history[100:])</a:t>
            </a:r>
          </a:p>
          <a:p>
            <a:pPr>
              <a:defRPr sz="1000"/>
            </a:pPr>
            <a:endParaRPr/>
          </a:p>
          <a:p>
            <a:pPr>
              <a:defRPr sz="1000">
                <a:solidFill>
                  <a:srgbClr val="44AA66"/>
                </a:solidFill>
                <a:latin typeface="Consolas"/>
                <a:ea typeface="Consolas"/>
                <a:cs typeface="Consolas"/>
                <a:sym typeface="Consolas"/>
              </a:defRPr>
            </a:pPr>
            <a:r>
              <a:t>fig, axes = plt.subplots(1, 3, figsize=(14, 4))</a:t>
            </a:r>
          </a:p>
          <a:p>
            <a:pPr>
              <a:defRPr sz="1000">
                <a:solidFill>
                  <a:srgbClr val="44AA66"/>
                </a:solidFill>
                <a:latin typeface="Consolas"/>
                <a:ea typeface="Consolas"/>
                <a:cs typeface="Consolas"/>
                <a:sym typeface="Consolas"/>
              </a:defRPr>
            </a:pPr>
            <a:r>
              <a:t>axes[0].imshow(history[0], cmap='gray_r')</a:t>
            </a:r>
          </a:p>
          <a:p>
            <a:pPr>
              <a:defRPr sz="1000">
                <a:solidFill>
                  <a:srgbClr val="44AA66"/>
                </a:solidFill>
                <a:latin typeface="Consolas"/>
                <a:ea typeface="Consolas"/>
                <a:cs typeface="Consolas"/>
                <a:sym typeface="Consolas"/>
              </a:defRPr>
            </a:pPr>
            <a:r>
              <a:t>axes[0].set_title('t = 0 (random)')</a:t>
            </a:r>
          </a:p>
          <a:p>
            <a:pPr>
              <a:defRPr sz="1000">
                <a:solidFill>
                  <a:srgbClr val="44AA66"/>
                </a:solidFill>
                <a:latin typeface="Consolas"/>
                <a:ea typeface="Consolas"/>
                <a:cs typeface="Consolas"/>
                <a:sym typeface="Consolas"/>
              </a:defRPr>
            </a:pPr>
            <a:r>
              <a:t>axes[1].imshow(history[-1], cmap='gray_r')</a:t>
            </a:r>
          </a:p>
          <a:p>
            <a:pPr>
              <a:defRPr sz="1000">
                <a:solidFill>
                  <a:srgbClr val="44AA66"/>
                </a:solidFill>
                <a:latin typeface="Consolas"/>
                <a:ea typeface="Consolas"/>
                <a:cs typeface="Consolas"/>
                <a:sym typeface="Consolas"/>
              </a:defRPr>
            </a:pPr>
            <a:r>
              <a:t>axes[1].set_title('t = 200 (settled)')</a:t>
            </a:r>
          </a:p>
          <a:p>
            <a:pPr>
              <a:defRPr sz="1000">
                <a:solidFill>
                  <a:srgbClr val="44AA66"/>
                </a:solidFill>
                <a:latin typeface="Consolas"/>
                <a:ea typeface="Consolas"/>
                <a:cs typeface="Consolas"/>
                <a:sym typeface="Consolas"/>
              </a:defRPr>
            </a:pPr>
            <a:r>
              <a:t>axes[2].imshow(H_map, cmap='inferno', vmin=0, vmax=1)</a:t>
            </a:r>
          </a:p>
          <a:p>
            <a:pPr>
              <a:defRPr sz="1000">
                <a:solidFill>
                  <a:srgbClr val="44AA66"/>
                </a:solidFill>
                <a:latin typeface="Consolas"/>
                <a:ea typeface="Consolas"/>
                <a:cs typeface="Consolas"/>
                <a:sym typeface="Consolas"/>
              </a:defRPr>
            </a:pPr>
            <a:r>
              <a:t>axes[2].set_title('Temporal entropy map')</a:t>
            </a:r>
          </a:p>
          <a:p>
            <a:pPr>
              <a:defRPr sz="1000">
                <a:solidFill>
                  <a:srgbClr val="44AA66"/>
                </a:solidFill>
                <a:latin typeface="Consolas"/>
                <a:ea typeface="Consolas"/>
                <a:cs typeface="Consolas"/>
                <a:sym typeface="Consolas"/>
              </a:defRPr>
            </a:pPr>
            <a:r>
              <a:t>plt.colorbar(axes[2].images[0], label='H [bits]')</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68"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69"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70"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Comparative Entropy Analysis</a:t>
            </a:r>
          </a:p>
        </p:txBody>
      </p:sp>
      <p:sp>
        <p:nvSpPr>
          <p:cNvPr id="271" name="Text 3"/>
          <p:cNvSpPr txBox="1"/>
          <p:nvPr/>
        </p:nvSpPr>
        <p:spPr>
          <a:xfrm>
            <a:off x="548640" y="818294"/>
            <a:ext cx="7315201" cy="1922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Different initial conditions → different entropy trajectories</a:t>
            </a:r>
          </a:p>
        </p:txBody>
      </p:sp>
      <p:sp>
        <p:nvSpPr>
          <p:cNvPr id="272" name="Shape 4"/>
          <p:cNvSpPr/>
          <p:nvPr/>
        </p:nvSpPr>
        <p:spPr>
          <a:xfrm>
            <a:off x="548640" y="1143000"/>
            <a:ext cx="8229601" cy="3200400"/>
          </a:xfrm>
          <a:prstGeom prst="rect">
            <a:avLst/>
          </a:prstGeom>
          <a:solidFill>
            <a:srgbClr val="1E1E1E"/>
          </a:solidFill>
          <a:ln w="12700">
            <a:solidFill>
              <a:srgbClr val="333333"/>
            </a:solidFill>
          </a:ln>
        </p:spPr>
        <p:txBody>
          <a:bodyPr lIns="45719" rIns="45719"/>
          <a:lstStyle/>
          <a:p>
            <a:endParaRPr/>
          </a:p>
        </p:txBody>
      </p:sp>
      <p:sp>
        <p:nvSpPr>
          <p:cNvPr id="273" name="Text 5"/>
          <p:cNvSpPr txBox="1"/>
          <p:nvPr/>
        </p:nvSpPr>
        <p:spPr>
          <a:xfrm>
            <a:off x="685799" y="1188719"/>
            <a:ext cx="7955282" cy="411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compare_entropy_trajectories(configs, names, steps=500):</a:t>
            </a:r>
          </a:p>
          <a:p>
            <a:pPr>
              <a:defRPr sz="1000">
                <a:solidFill>
                  <a:srgbClr val="44AA66"/>
                </a:solidFill>
                <a:latin typeface="Consolas"/>
                <a:ea typeface="Consolas"/>
                <a:cs typeface="Consolas"/>
                <a:sym typeface="Consolas"/>
              </a:defRPr>
            </a:pPr>
            <a:r>
              <a:t>    """Compare H(t) curves for different initial conditions."""</a:t>
            </a:r>
          </a:p>
          <a:p>
            <a:pPr>
              <a:defRPr sz="1000">
                <a:solidFill>
                  <a:srgbClr val="44AA66"/>
                </a:solidFill>
                <a:latin typeface="Consolas"/>
                <a:ea typeface="Consolas"/>
                <a:cs typeface="Consolas"/>
                <a:sym typeface="Consolas"/>
              </a:defRPr>
            </a:pPr>
            <a:r>
              <a:t>    fig, axes = plt.subplots(1, 3, figsize=(15, 4))</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for grid, name in zip(configs, names):</a:t>
            </a:r>
          </a:p>
          <a:p>
            <a:pPr>
              <a:defRPr sz="1000">
                <a:solidFill>
                  <a:srgbClr val="44AA66"/>
                </a:solidFill>
                <a:latin typeface="Consolas"/>
                <a:ea typeface="Consolas"/>
                <a:cs typeface="Consolas"/>
                <a:sym typeface="Consolas"/>
              </a:defRPr>
            </a:pPr>
            <a:r>
              <a:t>        hist = evolve(grid.copy(), steps)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Density entropy</a:t>
            </a:r>
          </a:p>
          <a:p>
            <a:pPr>
              <a:defRPr sz="1000">
                <a:solidFill>
                  <a:srgbClr val="44AA66"/>
                </a:solidFill>
                <a:latin typeface="Consolas"/>
                <a:ea typeface="Consolas"/>
                <a:cs typeface="Consolas"/>
                <a:sym typeface="Consolas"/>
              </a:defRPr>
            </a:pPr>
            <a:r>
              <a:t>        H_dens = [density_entropy(h) for h in hist]</a:t>
            </a:r>
          </a:p>
          <a:p>
            <a:pPr>
              <a:defRPr sz="1000">
                <a:solidFill>
                  <a:srgbClr val="44AA66"/>
                </a:solidFill>
                <a:latin typeface="Consolas"/>
                <a:ea typeface="Consolas"/>
                <a:cs typeface="Consolas"/>
                <a:sym typeface="Consolas"/>
              </a:defRPr>
            </a:pPr>
            <a:r>
              <a:t>        axes[0].plot(H_dens,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Block entropy (k=2)</a:t>
            </a:r>
          </a:p>
          <a:p>
            <a:pPr>
              <a:defRPr sz="1000">
                <a:solidFill>
                  <a:srgbClr val="44AA66"/>
                </a:solidFill>
                <a:latin typeface="Consolas"/>
                <a:ea typeface="Consolas"/>
                <a:cs typeface="Consolas"/>
                <a:sym typeface="Consolas"/>
              </a:defRPr>
            </a:pPr>
            <a:r>
              <a:t>        H_block = [block_entropy_2d(h, k=2) for h in hist[::10]]</a:t>
            </a:r>
          </a:p>
          <a:p>
            <a:pPr>
              <a:defRPr sz="1000">
                <a:solidFill>
                  <a:srgbClr val="44AA66"/>
                </a:solidFill>
                <a:latin typeface="Consolas"/>
                <a:ea typeface="Consolas"/>
                <a:cs typeface="Consolas"/>
                <a:sym typeface="Consolas"/>
              </a:defRPr>
            </a:pPr>
            <a:r>
              <a:t>        axes[1].plot(range(0, steps+1, 10), H_block,</a:t>
            </a:r>
          </a:p>
          <a:p>
            <a:pPr>
              <a:defRPr sz="1000">
                <a:solidFill>
                  <a:srgbClr val="44AA66"/>
                </a:solidFill>
                <a:latin typeface="Consolas"/>
                <a:ea typeface="Consolas"/>
                <a:cs typeface="Consolas"/>
                <a:sym typeface="Consolas"/>
              </a:defRPr>
            </a:pPr>
            <a:r>
              <a:t>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 Neighborhood entropy (sum)</a:t>
            </a:r>
          </a:p>
          <a:p>
            <a:pPr>
              <a:defRPr sz="1000">
                <a:solidFill>
                  <a:srgbClr val="44AA66"/>
                </a:solidFill>
                <a:latin typeface="Consolas"/>
                <a:ea typeface="Consolas"/>
                <a:cs typeface="Consolas"/>
                <a:sym typeface="Consolas"/>
              </a:defRPr>
            </a:pPr>
            <a:r>
              <a:t>        H_neigh = [neighborhood_entropy(h) for h in hist[::10]]</a:t>
            </a:r>
          </a:p>
          <a:p>
            <a:pPr>
              <a:defRPr sz="1000">
                <a:solidFill>
                  <a:srgbClr val="44AA66"/>
                </a:solidFill>
                <a:latin typeface="Consolas"/>
                <a:ea typeface="Consolas"/>
                <a:cs typeface="Consolas"/>
                <a:sym typeface="Consolas"/>
              </a:defRPr>
            </a:pPr>
            <a:r>
              <a:t>        axes[2].plot(range(0, steps+1, 10), H_neigh,</a:t>
            </a:r>
          </a:p>
          <a:p>
            <a:pPr>
              <a:defRPr sz="1000">
                <a:solidFill>
                  <a:srgbClr val="44AA66"/>
                </a:solidFill>
                <a:latin typeface="Consolas"/>
                <a:ea typeface="Consolas"/>
                <a:cs typeface="Consolas"/>
                <a:sym typeface="Consolas"/>
              </a:defRPr>
            </a:pPr>
            <a:r>
              <a:t>                     label=name, linewidth=1.5)</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titles = ['Density H', 'Block H (k=2)', 'Neighborhood H']</a:t>
            </a:r>
          </a:p>
          <a:p>
            <a:pPr>
              <a:defRPr sz="1000">
                <a:solidFill>
                  <a:srgbClr val="44AA66"/>
                </a:solidFill>
                <a:latin typeface="Consolas"/>
                <a:ea typeface="Consolas"/>
                <a:cs typeface="Consolas"/>
                <a:sym typeface="Consolas"/>
              </a:defRPr>
            </a:pPr>
            <a:r>
              <a:t>    for ax, title in zip(axes, titles):</a:t>
            </a:r>
          </a:p>
          <a:p>
            <a:pPr>
              <a:defRPr sz="1000">
                <a:solidFill>
                  <a:srgbClr val="44AA66"/>
                </a:solidFill>
                <a:latin typeface="Consolas"/>
                <a:ea typeface="Consolas"/>
                <a:cs typeface="Consolas"/>
                <a:sym typeface="Consolas"/>
              </a:defRPr>
            </a:pPr>
            <a:r>
              <a:t>        ax.set_xlabel('Generation'); ax.set_ylabel('H [bits]')</a:t>
            </a:r>
          </a:p>
          <a:p>
            <a:pPr>
              <a:defRPr sz="1000">
                <a:solidFill>
                  <a:srgbClr val="44AA66"/>
                </a:solidFill>
                <a:latin typeface="Consolas"/>
                <a:ea typeface="Consolas"/>
                <a:cs typeface="Consolas"/>
                <a:sym typeface="Consolas"/>
              </a:defRPr>
            </a:pPr>
            <a:r>
              <a:t>        ax.set_title(title); ax.legend(fontsize=8)</a:t>
            </a:r>
          </a:p>
          <a:p>
            <a:pPr>
              <a:defRPr sz="1000">
                <a:solidFill>
                  <a:srgbClr val="44AA66"/>
                </a:solidFill>
                <a:latin typeface="Consolas"/>
                <a:ea typeface="Consolas"/>
                <a:cs typeface="Consolas"/>
                <a:sym typeface="Consolas"/>
              </a:defRPr>
            </a:pPr>
            <a:r>
              <a:t>        ax.grid(alpha=0.3)</a:t>
            </a:r>
          </a:p>
          <a:p>
            <a:pPr>
              <a:defRPr sz="1000">
                <a:solidFill>
                  <a:srgbClr val="44AA66"/>
                </a:solidFill>
                <a:latin typeface="Consolas"/>
                <a:ea typeface="Consolas"/>
                <a:cs typeface="Consolas"/>
                <a:sym typeface="Consolas"/>
              </a:defRPr>
            </a:pPr>
            <a:r>
              <a:t>    plt.tight_layout()</a:t>
            </a:r>
          </a:p>
        </p:txBody>
      </p:sp>
      <p:sp>
        <p:nvSpPr>
          <p:cNvPr id="274" name="Shape 6"/>
          <p:cNvSpPr/>
          <p:nvPr/>
        </p:nvSpPr>
        <p:spPr>
          <a:xfrm>
            <a:off x="548640" y="4434840"/>
            <a:ext cx="8229601" cy="228601"/>
          </a:xfrm>
          <a:prstGeom prst="rect">
            <a:avLst/>
          </a:prstGeom>
          <a:solidFill>
            <a:srgbClr val="2D2D2D"/>
          </a:solidFill>
          <a:ln w="12700">
            <a:miter lim="400000"/>
          </a:ln>
        </p:spPr>
        <p:txBody>
          <a:bodyPr lIns="45719" rIns="45719"/>
          <a:lstStyle/>
          <a:p>
            <a:endParaRPr/>
          </a:p>
        </p:txBody>
      </p:sp>
      <p:sp>
        <p:nvSpPr>
          <p:cNvPr id="275" name="Text 7"/>
          <p:cNvSpPr txBox="1"/>
          <p:nvPr/>
        </p:nvSpPr>
        <p:spPr>
          <a:xfrm>
            <a:off x="777240" y="4468368"/>
            <a:ext cx="777240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000">
                <a:solidFill>
                  <a:srgbClr val="4A9ECC"/>
                </a:solidFill>
              </a:defRPr>
            </a:lvl1pPr>
          </a:lstStyle>
          <a:p>
            <a:r>
              <a:t>Try: random soups (various ρ₀), Gosper gun, R-pentomino, block field, single glider</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77"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7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7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Entropy Rate &amp; Mutual Information</a:t>
            </a:r>
          </a:p>
        </p:txBody>
      </p:sp>
      <p:sp>
        <p:nvSpPr>
          <p:cNvPr id="280"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Advanced measures: temporal correlations and information flow</a:t>
            </a:r>
          </a:p>
        </p:txBody>
      </p:sp>
      <p:sp>
        <p:nvSpPr>
          <p:cNvPr id="281" name="Shape 4"/>
          <p:cNvSpPr/>
          <p:nvPr/>
        </p:nvSpPr>
        <p:spPr>
          <a:xfrm>
            <a:off x="548639" y="1234439"/>
            <a:ext cx="3931922" cy="1828801"/>
          </a:xfrm>
          <a:prstGeom prst="rect">
            <a:avLst/>
          </a:prstGeom>
          <a:solidFill>
            <a:srgbClr val="2D2D2D"/>
          </a:solidFill>
          <a:ln w="12700">
            <a:miter lim="400000"/>
          </a:ln>
        </p:spPr>
        <p:txBody>
          <a:bodyPr lIns="45719" rIns="45719"/>
          <a:lstStyle/>
          <a:p>
            <a:endParaRPr/>
          </a:p>
        </p:txBody>
      </p:sp>
      <p:sp>
        <p:nvSpPr>
          <p:cNvPr id="282" name="Shape 5"/>
          <p:cNvSpPr/>
          <p:nvPr/>
        </p:nvSpPr>
        <p:spPr>
          <a:xfrm>
            <a:off x="548639" y="1234439"/>
            <a:ext cx="3931922" cy="45721"/>
          </a:xfrm>
          <a:prstGeom prst="rect">
            <a:avLst/>
          </a:prstGeom>
          <a:solidFill>
            <a:srgbClr val="4A9ECC"/>
          </a:solidFill>
          <a:ln w="12700">
            <a:miter lim="400000"/>
          </a:ln>
        </p:spPr>
        <p:txBody>
          <a:bodyPr lIns="45719" rIns="45719"/>
          <a:lstStyle/>
          <a:p>
            <a:endParaRPr/>
          </a:p>
        </p:txBody>
      </p:sp>
      <p:sp>
        <p:nvSpPr>
          <p:cNvPr id="283" name="Text 6"/>
          <p:cNvSpPr txBox="1"/>
          <p:nvPr/>
        </p:nvSpPr>
        <p:spPr>
          <a:xfrm>
            <a:off x="777239" y="1410969"/>
            <a:ext cx="3474722"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4A9ECC"/>
                </a:solidFill>
                <a:latin typeface="Consolas"/>
                <a:ea typeface="Consolas"/>
                <a:cs typeface="Consolas"/>
                <a:sym typeface="Consolas"/>
              </a:defRPr>
            </a:lvl1pPr>
          </a:lstStyle>
          <a:p>
            <a:r>
              <a:t>Entropy Rate</a:t>
            </a:r>
          </a:p>
        </p:txBody>
      </p:sp>
      <p:sp>
        <p:nvSpPr>
          <p:cNvPr id="284" name="Text 7"/>
          <p:cNvSpPr txBox="1"/>
          <p:nvPr/>
        </p:nvSpPr>
        <p:spPr>
          <a:xfrm>
            <a:off x="777239" y="1783079"/>
            <a:ext cx="3474722" cy="12602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h = lim_{n→∞} H(Xₙ | X₁, ..., X_{n-1})</a:t>
            </a:r>
          </a:p>
          <a:p>
            <a:pPr>
              <a:defRPr sz="1200"/>
            </a:pPr>
            <a:endParaRPr/>
          </a:p>
          <a:p>
            <a:pPr>
              <a:defRPr sz="1200">
                <a:solidFill>
                  <a:srgbClr val="F0F0F0"/>
                </a:solidFill>
              </a:defRPr>
            </a:pPr>
            <a:r>
              <a:t>How much new information does each</a:t>
            </a:r>
          </a:p>
          <a:p>
            <a:pPr>
              <a:defRPr sz="1200">
                <a:solidFill>
                  <a:srgbClr val="F0F0F0"/>
                </a:solidFill>
              </a:defRPr>
            </a:pPr>
            <a:r>
              <a:t>generation produce, given the past?</a:t>
            </a:r>
          </a:p>
          <a:p>
            <a:pPr>
              <a:defRPr sz="1200"/>
            </a:pPr>
            <a:endParaRPr/>
          </a:p>
          <a:p>
            <a:pPr>
              <a:defRPr sz="1200">
                <a:solidFill>
                  <a:srgbClr val="F0F0F0"/>
                </a:solidFill>
              </a:defRPr>
            </a:pPr>
            <a:r>
              <a:t>h = 0: deterministic (Class I/II)</a:t>
            </a:r>
          </a:p>
          <a:p>
            <a:pPr>
              <a:defRPr sz="1200">
                <a:solidFill>
                  <a:srgbClr val="F0F0F0"/>
                </a:solidFill>
              </a:defRPr>
            </a:pPr>
            <a:r>
              <a:t>h &gt; 0: unpredictable (Class III/IV)</a:t>
            </a:r>
          </a:p>
        </p:txBody>
      </p:sp>
      <p:sp>
        <p:nvSpPr>
          <p:cNvPr id="285" name="Shape 8"/>
          <p:cNvSpPr/>
          <p:nvPr/>
        </p:nvSpPr>
        <p:spPr>
          <a:xfrm>
            <a:off x="4754879" y="1234439"/>
            <a:ext cx="4023360" cy="1828801"/>
          </a:xfrm>
          <a:prstGeom prst="rect">
            <a:avLst/>
          </a:prstGeom>
          <a:solidFill>
            <a:srgbClr val="2D2D2D"/>
          </a:solidFill>
          <a:ln w="12700">
            <a:miter lim="400000"/>
          </a:ln>
        </p:spPr>
        <p:txBody>
          <a:bodyPr lIns="45719" rIns="45719"/>
          <a:lstStyle/>
          <a:p>
            <a:endParaRPr/>
          </a:p>
        </p:txBody>
      </p:sp>
      <p:sp>
        <p:nvSpPr>
          <p:cNvPr id="286" name="Shape 9"/>
          <p:cNvSpPr/>
          <p:nvPr/>
        </p:nvSpPr>
        <p:spPr>
          <a:xfrm>
            <a:off x="4754879" y="1234439"/>
            <a:ext cx="4023360" cy="45721"/>
          </a:xfrm>
          <a:prstGeom prst="rect">
            <a:avLst/>
          </a:prstGeom>
          <a:solidFill>
            <a:srgbClr val="E8B931"/>
          </a:solidFill>
          <a:ln w="12700">
            <a:miter lim="400000"/>
          </a:ln>
        </p:spPr>
        <p:txBody>
          <a:bodyPr lIns="45719" rIns="45719"/>
          <a:lstStyle/>
          <a:p>
            <a:endParaRPr/>
          </a:p>
        </p:txBody>
      </p:sp>
      <p:sp>
        <p:nvSpPr>
          <p:cNvPr id="287" name="Text 10"/>
          <p:cNvSpPr txBox="1"/>
          <p:nvPr/>
        </p:nvSpPr>
        <p:spPr>
          <a:xfrm>
            <a:off x="4983479" y="1410969"/>
            <a:ext cx="3566160" cy="241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600" b="1">
                <a:solidFill>
                  <a:srgbClr val="E8B931"/>
                </a:solidFill>
                <a:latin typeface="Consolas"/>
                <a:ea typeface="Consolas"/>
                <a:cs typeface="Consolas"/>
                <a:sym typeface="Consolas"/>
              </a:defRPr>
            </a:lvl1pPr>
          </a:lstStyle>
          <a:p>
            <a:r>
              <a:t>Mutual Information</a:t>
            </a:r>
          </a:p>
        </p:txBody>
      </p:sp>
      <p:sp>
        <p:nvSpPr>
          <p:cNvPr id="288" name="Text 11"/>
          <p:cNvSpPr txBox="1"/>
          <p:nvPr/>
        </p:nvSpPr>
        <p:spPr>
          <a:xfrm>
            <a:off x="4983479" y="1783079"/>
            <a:ext cx="3566160" cy="10997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200">
                <a:solidFill>
                  <a:srgbClr val="F0F0F0"/>
                </a:solidFill>
              </a:defRPr>
            </a:pPr>
            <a:r>
              <a:t>I(cᵢⱼ(t) ; cᵢⱼ(t+τ)) = H(cᵢⱼ(t)) + H(cᵢⱼ(t+τ))</a:t>
            </a:r>
          </a:p>
          <a:p>
            <a:pPr>
              <a:defRPr sz="1200">
                <a:solidFill>
                  <a:srgbClr val="F0F0F0"/>
                </a:solidFill>
              </a:defRPr>
            </a:pPr>
            <a:r>
              <a:t>                        − H(cᵢⱼ(t), cᵢⱼ(t+τ))</a:t>
            </a:r>
          </a:p>
          <a:p>
            <a:pPr>
              <a:defRPr sz="1200"/>
            </a:pPr>
            <a:endParaRPr/>
          </a:p>
          <a:p>
            <a:pPr>
              <a:defRPr sz="1200">
                <a:solidFill>
                  <a:srgbClr val="F0F0F0"/>
                </a:solidFill>
              </a:defRPr>
            </a:pPr>
            <a:r>
              <a:t>Measures temporal predictability.</a:t>
            </a:r>
          </a:p>
          <a:p>
            <a:pPr>
              <a:defRPr sz="1200">
                <a:solidFill>
                  <a:srgbClr val="F0F0F0"/>
                </a:solidFill>
              </a:defRPr>
            </a:pPr>
            <a:r>
              <a:t>High I → cell state persists (still lifes).</a:t>
            </a:r>
          </a:p>
          <a:p>
            <a:pPr>
              <a:defRPr sz="1200">
                <a:solidFill>
                  <a:srgbClr val="F0F0F0"/>
                </a:solidFill>
              </a:defRPr>
            </a:pPr>
            <a:r>
              <a:t>Low I → cell state uncorrelated (chaos).</a:t>
            </a:r>
          </a:p>
        </p:txBody>
      </p:sp>
      <p:sp>
        <p:nvSpPr>
          <p:cNvPr id="289" name="Shape 12"/>
          <p:cNvSpPr/>
          <p:nvPr/>
        </p:nvSpPr>
        <p:spPr>
          <a:xfrm>
            <a:off x="548640" y="3291840"/>
            <a:ext cx="8229601" cy="1325881"/>
          </a:xfrm>
          <a:prstGeom prst="rect">
            <a:avLst/>
          </a:prstGeom>
          <a:solidFill>
            <a:srgbClr val="1E1E1E"/>
          </a:solidFill>
          <a:ln w="12700">
            <a:solidFill>
              <a:srgbClr val="333333"/>
            </a:solidFill>
          </a:ln>
        </p:spPr>
        <p:txBody>
          <a:bodyPr lIns="45719" rIns="45719"/>
          <a:lstStyle/>
          <a:p>
            <a:endParaRPr/>
          </a:p>
        </p:txBody>
      </p:sp>
      <p:sp>
        <p:nvSpPr>
          <p:cNvPr id="290" name="Text 13"/>
          <p:cNvSpPr txBox="1"/>
          <p:nvPr/>
        </p:nvSpPr>
        <p:spPr>
          <a:xfrm>
            <a:off x="685799" y="3337559"/>
            <a:ext cx="7955282" cy="2933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900">
                <a:solidFill>
                  <a:srgbClr val="44AA66"/>
                </a:solidFill>
                <a:latin typeface="Consolas"/>
                <a:ea typeface="Consolas"/>
                <a:cs typeface="Consolas"/>
                <a:sym typeface="Consolas"/>
              </a:defRPr>
            </a:pPr>
            <a:r>
              <a:t>def mutual_information_temporal(history, tau=1):</a:t>
            </a:r>
          </a:p>
          <a:p>
            <a:pPr>
              <a:defRPr sz="900">
                <a:solidFill>
                  <a:srgbClr val="44AA66"/>
                </a:solidFill>
                <a:latin typeface="Consolas"/>
                <a:ea typeface="Consolas"/>
                <a:cs typeface="Consolas"/>
                <a:sym typeface="Consolas"/>
              </a:defRPr>
            </a:pPr>
            <a:r>
              <a:t>    """Average MI between cell state at t and t+tau."""</a:t>
            </a:r>
          </a:p>
          <a:p>
            <a:pPr>
              <a:defRPr sz="900">
                <a:solidFill>
                  <a:srgbClr val="44AA66"/>
                </a:solidFill>
                <a:latin typeface="Consolas"/>
                <a:ea typeface="Consolas"/>
                <a:cs typeface="Consolas"/>
                <a:sym typeface="Consolas"/>
              </a:defRPr>
            </a:pPr>
            <a:r>
              <a:t>    T = len(history) - tau</a:t>
            </a:r>
          </a:p>
          <a:p>
            <a:pPr>
              <a:defRPr sz="900">
                <a:solidFill>
                  <a:srgbClr val="44AA66"/>
                </a:solidFill>
                <a:latin typeface="Consolas"/>
                <a:ea typeface="Consolas"/>
                <a:cs typeface="Consolas"/>
                <a:sym typeface="Consolas"/>
              </a:defRPr>
            </a:pPr>
            <a:r>
              <a:t>    current = history[:T].reshape(T, -1)      # (T, N)</a:t>
            </a:r>
          </a:p>
          <a:p>
            <a:pPr>
              <a:defRPr sz="900">
                <a:solidFill>
                  <a:srgbClr val="44AA66"/>
                </a:solidFill>
                <a:latin typeface="Consolas"/>
                <a:ea typeface="Consolas"/>
                <a:cs typeface="Consolas"/>
                <a:sym typeface="Consolas"/>
              </a:defRPr>
            </a:pPr>
            <a:r>
              <a:t>    future  = history[tau:tau+T].reshape(T, -1)</a:t>
            </a:r>
          </a:p>
          <a:p>
            <a:pPr>
              <a:defRPr sz="900">
                <a:solidFill>
                  <a:srgbClr val="44AA66"/>
                </a:solidFill>
                <a:latin typeface="Consolas"/>
                <a:ea typeface="Consolas"/>
                <a:cs typeface="Consolas"/>
                <a:sym typeface="Consolas"/>
              </a:defRPr>
            </a:pPr>
            <a:r>
              <a:t>    </a:t>
            </a:r>
          </a:p>
          <a:p>
            <a:pPr>
              <a:defRPr sz="900">
                <a:solidFill>
                  <a:srgbClr val="44AA66"/>
                </a:solidFill>
                <a:latin typeface="Consolas"/>
                <a:ea typeface="Consolas"/>
                <a:cs typeface="Consolas"/>
                <a:sym typeface="Consolas"/>
              </a:defRPr>
            </a:pPr>
            <a:r>
              <a:t>    # Joint &amp; marginal distributions per cell</a:t>
            </a:r>
          </a:p>
          <a:p>
            <a:pPr>
              <a:defRPr sz="900">
                <a:solidFill>
                  <a:srgbClr val="44AA66"/>
                </a:solidFill>
                <a:latin typeface="Consolas"/>
                <a:ea typeface="Consolas"/>
                <a:cs typeface="Consolas"/>
                <a:sym typeface="Consolas"/>
              </a:defRPr>
            </a:pPr>
            <a:r>
              <a:t>    N = current.shape[1]</a:t>
            </a:r>
          </a:p>
          <a:p>
            <a:pPr>
              <a:defRPr sz="900">
                <a:solidFill>
                  <a:srgbClr val="44AA66"/>
                </a:solidFill>
                <a:latin typeface="Consolas"/>
                <a:ea typeface="Consolas"/>
                <a:cs typeface="Consolas"/>
                <a:sym typeface="Consolas"/>
              </a:defRPr>
            </a:pPr>
            <a:r>
              <a:t>    MI = np.zeros(N)</a:t>
            </a:r>
          </a:p>
          <a:p>
            <a:pPr>
              <a:defRPr sz="900">
                <a:solidFill>
                  <a:srgbClr val="44AA66"/>
                </a:solidFill>
                <a:latin typeface="Consolas"/>
                <a:ea typeface="Consolas"/>
                <a:cs typeface="Consolas"/>
                <a:sym typeface="Consolas"/>
              </a:defRPr>
            </a:pPr>
            <a:r>
              <a:t>    for i in range(N):</a:t>
            </a:r>
          </a:p>
          <a:p>
            <a:pPr>
              <a:defRPr sz="900">
                <a:solidFill>
                  <a:srgbClr val="44AA66"/>
                </a:solidFill>
                <a:latin typeface="Consolas"/>
                <a:ea typeface="Consolas"/>
                <a:cs typeface="Consolas"/>
                <a:sym typeface="Consolas"/>
              </a:defRPr>
            </a:pPr>
            <a:r>
              <a:t>        joint = np.zeros((2, 2))</a:t>
            </a:r>
          </a:p>
          <a:p>
            <a:pPr>
              <a:defRPr sz="900">
                <a:solidFill>
                  <a:srgbClr val="44AA66"/>
                </a:solidFill>
                <a:latin typeface="Consolas"/>
                <a:ea typeface="Consolas"/>
                <a:cs typeface="Consolas"/>
                <a:sym typeface="Consolas"/>
              </a:defRPr>
            </a:pPr>
            <a:r>
              <a:t>        for a, b in zip(current[:, i], future[:, i]):</a:t>
            </a:r>
          </a:p>
          <a:p>
            <a:pPr>
              <a:defRPr sz="900">
                <a:solidFill>
                  <a:srgbClr val="44AA66"/>
                </a:solidFill>
                <a:latin typeface="Consolas"/>
                <a:ea typeface="Consolas"/>
                <a:cs typeface="Consolas"/>
                <a:sym typeface="Consolas"/>
              </a:defRPr>
            </a:pPr>
            <a:r>
              <a:t>            joint[a, b] += 1</a:t>
            </a:r>
          </a:p>
          <a:p>
            <a:pPr>
              <a:defRPr sz="900">
                <a:solidFill>
                  <a:srgbClr val="44AA66"/>
                </a:solidFill>
                <a:latin typeface="Consolas"/>
                <a:ea typeface="Consolas"/>
                <a:cs typeface="Consolas"/>
                <a:sym typeface="Consolas"/>
              </a:defRPr>
            </a:pPr>
            <a:r>
              <a:t>        joint /= T</a:t>
            </a:r>
          </a:p>
          <a:p>
            <a:pPr>
              <a:defRPr sz="900">
                <a:solidFill>
                  <a:srgbClr val="44AA66"/>
                </a:solidFill>
                <a:latin typeface="Consolas"/>
                <a:ea typeface="Consolas"/>
                <a:cs typeface="Consolas"/>
                <a:sym typeface="Consolas"/>
              </a:defRPr>
            </a:pPr>
            <a:r>
              <a:t>        px = joint.sum(axis=1); py = joint.sum(axis=0)</a:t>
            </a:r>
          </a:p>
          <a:p>
            <a:pPr>
              <a:defRPr sz="900">
                <a:solidFill>
                  <a:srgbClr val="44AA66"/>
                </a:solidFill>
                <a:latin typeface="Consolas"/>
                <a:ea typeface="Consolas"/>
                <a:cs typeface="Consolas"/>
                <a:sym typeface="Consolas"/>
              </a:defRPr>
            </a:pPr>
            <a:r>
              <a:t>        for a in range(2):</a:t>
            </a:r>
          </a:p>
          <a:p>
            <a:pPr>
              <a:defRPr sz="900">
                <a:solidFill>
                  <a:srgbClr val="44AA66"/>
                </a:solidFill>
                <a:latin typeface="Consolas"/>
                <a:ea typeface="Consolas"/>
                <a:cs typeface="Consolas"/>
                <a:sym typeface="Consolas"/>
              </a:defRPr>
            </a:pPr>
            <a:r>
              <a:t>            for b in range(2):</a:t>
            </a:r>
          </a:p>
          <a:p>
            <a:pPr>
              <a:defRPr sz="900">
                <a:solidFill>
                  <a:srgbClr val="44AA66"/>
                </a:solidFill>
                <a:latin typeface="Consolas"/>
                <a:ea typeface="Consolas"/>
                <a:cs typeface="Consolas"/>
                <a:sym typeface="Consolas"/>
              </a:defRPr>
            </a:pPr>
            <a:r>
              <a:t>                if joint[a,b] &gt; 0:</a:t>
            </a:r>
          </a:p>
          <a:p>
            <a:pPr>
              <a:defRPr sz="900">
                <a:solidFill>
                  <a:srgbClr val="44AA66"/>
                </a:solidFill>
                <a:latin typeface="Consolas"/>
                <a:ea typeface="Consolas"/>
                <a:cs typeface="Consolas"/>
                <a:sym typeface="Consolas"/>
              </a:defRPr>
            </a:pPr>
            <a:r>
              <a:t>                    MI[i] += joint[a,b] * np.log2(</a:t>
            </a:r>
          </a:p>
          <a:p>
            <a:pPr>
              <a:defRPr sz="900">
                <a:solidFill>
                  <a:srgbClr val="44AA66"/>
                </a:solidFill>
                <a:latin typeface="Consolas"/>
                <a:ea typeface="Consolas"/>
                <a:cs typeface="Consolas"/>
                <a:sym typeface="Consolas"/>
              </a:defRPr>
            </a:pPr>
            <a:r>
              <a:t>                        joint[a,b] / (px[a] * py[b]))</a:t>
            </a:r>
          </a:p>
          <a:p>
            <a:pPr>
              <a:defRPr sz="900">
                <a:solidFill>
                  <a:srgbClr val="44AA66"/>
                </a:solidFill>
                <a:latin typeface="Consolas"/>
                <a:ea typeface="Consolas"/>
                <a:cs typeface="Consolas"/>
                <a:sym typeface="Consolas"/>
              </a:defRPr>
            </a:pPr>
            <a:r>
              <a:t>    return MI.mean(), MI.reshape(history[0].shape)</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92"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293"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294"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Putting It All Together</a:t>
            </a:r>
          </a:p>
        </p:txBody>
      </p:sp>
      <p:sp>
        <p:nvSpPr>
          <p:cNvPr id="295" name="Text 3"/>
          <p:cNvSpPr txBox="1"/>
          <p:nvPr/>
        </p:nvSpPr>
        <p:spPr>
          <a:xfrm>
            <a:off x="548640" y="825500"/>
            <a:ext cx="6400801" cy="177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707070"/>
                </a:solidFill>
              </a:defRPr>
            </a:lvl1pPr>
          </a:lstStyle>
          <a:p>
            <a:r>
              <a:t>A complete entropy analysis pipeline for GoL</a:t>
            </a:r>
          </a:p>
        </p:txBody>
      </p:sp>
      <p:sp>
        <p:nvSpPr>
          <p:cNvPr id="296" name="Shape 4"/>
          <p:cNvSpPr/>
          <p:nvPr/>
        </p:nvSpPr>
        <p:spPr>
          <a:xfrm>
            <a:off x="548640" y="1188719"/>
            <a:ext cx="8229601" cy="3200401"/>
          </a:xfrm>
          <a:prstGeom prst="rect">
            <a:avLst/>
          </a:prstGeom>
          <a:solidFill>
            <a:srgbClr val="1E1E1E"/>
          </a:solidFill>
          <a:ln w="12700">
            <a:solidFill>
              <a:srgbClr val="333333"/>
            </a:solidFill>
          </a:ln>
        </p:spPr>
        <p:txBody>
          <a:bodyPr lIns="45719" rIns="45719"/>
          <a:lstStyle/>
          <a:p>
            <a:endParaRPr/>
          </a:p>
        </p:txBody>
      </p:sp>
      <p:sp>
        <p:nvSpPr>
          <p:cNvPr id="297" name="Text 5"/>
          <p:cNvSpPr txBox="1"/>
          <p:nvPr/>
        </p:nvSpPr>
        <p:spPr>
          <a:xfrm>
            <a:off x="685799" y="1234439"/>
            <a:ext cx="7955282" cy="393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44AA66"/>
                </a:solidFill>
                <a:latin typeface="Consolas"/>
                <a:ea typeface="Consolas"/>
                <a:cs typeface="Consolas"/>
                <a:sym typeface="Consolas"/>
              </a:defRPr>
            </a:pPr>
            <a:r>
              <a:t>def full_entropy_analysis(grid, steps=500, k=2, window=50):</a:t>
            </a:r>
          </a:p>
          <a:p>
            <a:pPr>
              <a:defRPr sz="1000">
                <a:solidFill>
                  <a:srgbClr val="44AA66"/>
                </a:solidFill>
                <a:latin typeface="Consolas"/>
                <a:ea typeface="Consolas"/>
                <a:cs typeface="Consolas"/>
                <a:sym typeface="Consolas"/>
              </a:defRPr>
            </a:pPr>
            <a:r>
              <a:t>    """Complete entropy analysis of a GoL evolution."""</a:t>
            </a:r>
          </a:p>
          <a:p>
            <a:pPr>
              <a:defRPr sz="1000">
                <a:solidFill>
                  <a:srgbClr val="44AA66"/>
                </a:solidFill>
                <a:latin typeface="Consolas"/>
                <a:ea typeface="Consolas"/>
                <a:cs typeface="Consolas"/>
                <a:sym typeface="Consolas"/>
              </a:defRPr>
            </a:pPr>
            <a:r>
              <a:t>    history = evolve(grid, steps)</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results = {</a:t>
            </a:r>
          </a:p>
          <a:p>
            <a:pPr>
              <a:defRPr sz="1000">
                <a:solidFill>
                  <a:srgbClr val="44AA66"/>
                </a:solidFill>
                <a:latin typeface="Consolas"/>
                <a:ea typeface="Consolas"/>
                <a:cs typeface="Consolas"/>
                <a:sym typeface="Consolas"/>
              </a:defRPr>
            </a:pPr>
            <a:r>
              <a:t>        'density_H':      np.array([density_entropy(h) for h in history]),</a:t>
            </a:r>
          </a:p>
          <a:p>
            <a:pPr>
              <a:defRPr sz="1000">
                <a:solidFill>
                  <a:srgbClr val="44AA66"/>
                </a:solidFill>
                <a:latin typeface="Consolas"/>
                <a:ea typeface="Consolas"/>
                <a:cs typeface="Consolas"/>
                <a:sym typeface="Consolas"/>
              </a:defRPr>
            </a:pPr>
            <a:r>
              <a:t>        'density_rho':    np.array([h.mean() for h in history]),</a:t>
            </a:r>
          </a:p>
          <a:p>
            <a:pPr>
              <a:defRPr sz="1000">
                <a:solidFill>
                  <a:srgbClr val="44AA66"/>
                </a:solidFill>
                <a:latin typeface="Consolas"/>
                <a:ea typeface="Consolas"/>
                <a:cs typeface="Consolas"/>
                <a:sym typeface="Consolas"/>
              </a:defRPr>
            </a:pPr>
            <a:r>
              <a:t>        'block_H':        np.array([block_entropy_2d(h, k) for h in history]),</a:t>
            </a:r>
          </a:p>
          <a:p>
            <a:pPr>
              <a:defRPr sz="1000">
                <a:solidFill>
                  <a:srgbClr val="44AA66"/>
                </a:solidFill>
                <a:latin typeface="Consolas"/>
                <a:ea typeface="Consolas"/>
                <a:cs typeface="Consolas"/>
                <a:sym typeface="Consolas"/>
              </a:defRPr>
            </a:pPr>
            <a:r>
              <a:t>        'neighborhood_H': np.array([neighborhood_entropy(h, 'sum')</a:t>
            </a:r>
          </a:p>
          <a:p>
            <a:pPr>
              <a:defRPr sz="1000">
                <a:solidFill>
                  <a:srgbClr val="44AA66"/>
                </a:solidFill>
                <a:latin typeface="Consolas"/>
                <a:ea typeface="Consolas"/>
                <a:cs typeface="Consolas"/>
                <a:sym typeface="Consolas"/>
              </a:defRPr>
            </a:pPr>
            <a:r>
              <a:t>                                     for h in history]),</a:t>
            </a:r>
          </a:p>
          <a:p>
            <a:pPr>
              <a:defRPr sz="1000">
                <a:solidFill>
                  <a:srgbClr val="44AA66"/>
                </a:solidFill>
                <a:latin typeface="Consolas"/>
                <a:ea typeface="Consolas"/>
                <a:cs typeface="Consolas"/>
                <a:sym typeface="Consolas"/>
              </a:defRPr>
            </a:pPr>
            <a:r>
              <a:t>        'temporal_map':   temporal_entropy_map(history[-window:]),</a:t>
            </a:r>
          </a:p>
          <a:p>
            <a:pPr>
              <a:defRPr sz="1000">
                <a:solidFill>
                  <a:srgbClr val="44AA66"/>
                </a:solidFill>
                <a:latin typeface="Consolas"/>
                <a:ea typeface="Consolas"/>
                <a:cs typeface="Consolas"/>
                <a:sym typeface="Consolas"/>
              </a:defRPr>
            </a:pPr>
            <a:r>
              <a:t>        'MI_map':         mutual_information_temporal(history[-window:])[1],</a:t>
            </a:r>
          </a:p>
          <a:p>
            <a:pPr>
              <a:defRPr sz="1000">
                <a:solidFill>
                  <a:srgbClr val="44AA66"/>
                </a:solidFill>
                <a:latin typeface="Consolas"/>
                <a:ea typeface="Consolas"/>
                <a:cs typeface="Consolas"/>
                <a:sym typeface="Consolas"/>
              </a:defRPr>
            </a:pPr>
            <a:r>
              <a:t>        'population':     np.array([h.sum() for h in history]),</a:t>
            </a:r>
          </a:p>
          <a:p>
            <a:pPr>
              <a:defRPr sz="1000">
                <a:solidFill>
                  <a:srgbClr val="44AA66"/>
                </a:solidFill>
                <a:latin typeface="Consolas"/>
                <a:ea typeface="Consolas"/>
                <a:cs typeface="Consolas"/>
                <a:sym typeface="Consolas"/>
              </a:defRPr>
            </a:pPr>
            <a:r>
              <a:t>    }</a:t>
            </a:r>
          </a:p>
          <a:p>
            <a:pPr>
              <a:defRPr sz="1000">
                <a:solidFill>
                  <a:srgbClr val="44AA66"/>
                </a:solidFill>
                <a:latin typeface="Consolas"/>
                <a:ea typeface="Consolas"/>
                <a:cs typeface="Consolas"/>
                <a:sym typeface="Consolas"/>
              </a:defRPr>
            </a:pPr>
            <a:r>
              <a:t>    return history, results</a:t>
            </a:r>
          </a:p>
          <a:p>
            <a:pPr>
              <a:defRPr sz="1000"/>
            </a:pPr>
            <a:endParaRPr/>
          </a:p>
          <a:p>
            <a:pPr>
              <a:defRPr sz="1000">
                <a:solidFill>
                  <a:srgbClr val="44AA66"/>
                </a:solidFill>
                <a:latin typeface="Consolas"/>
                <a:ea typeface="Consolas"/>
                <a:cs typeface="Consolas"/>
                <a:sym typeface="Consolas"/>
              </a:defRPr>
            </a:pPr>
            <a:r>
              <a:t># Run analysis</a:t>
            </a:r>
          </a:p>
          <a:p>
            <a:pPr>
              <a:defRPr sz="1000">
                <a:solidFill>
                  <a:srgbClr val="44AA66"/>
                </a:solidFill>
                <a:latin typeface="Consolas"/>
                <a:ea typeface="Consolas"/>
                <a:cs typeface="Consolas"/>
                <a:sym typeface="Consolas"/>
              </a:defRPr>
            </a:pPr>
            <a:r>
              <a:t>grid = (np.random.random((100, 100)) &lt; 0.5).astype(int)</a:t>
            </a:r>
          </a:p>
          <a:p>
            <a:pPr>
              <a:defRPr sz="1000">
                <a:solidFill>
                  <a:srgbClr val="44AA66"/>
                </a:solidFill>
                <a:latin typeface="Consolas"/>
                <a:ea typeface="Consolas"/>
                <a:cs typeface="Consolas"/>
                <a:sym typeface="Consolas"/>
              </a:defRPr>
            </a:pPr>
            <a:r>
              <a:t>history, R = full_entropy_analysis(grid)</a:t>
            </a:r>
          </a:p>
          <a:p>
            <a:pPr>
              <a:defRPr sz="1000"/>
            </a:pPr>
            <a:endParaRPr/>
          </a:p>
          <a:p>
            <a:pPr>
              <a:defRPr sz="1000">
                <a:solidFill>
                  <a:srgbClr val="44AA66"/>
                </a:solidFill>
                <a:latin typeface="Consolas"/>
                <a:ea typeface="Consolas"/>
                <a:cs typeface="Consolas"/>
                <a:sym typeface="Consolas"/>
              </a:defRPr>
            </a:pPr>
            <a:r>
              <a:t># Summary statistics</a:t>
            </a:r>
          </a:p>
          <a:p>
            <a:pPr>
              <a:defRPr sz="1000">
                <a:solidFill>
                  <a:srgbClr val="44AA66"/>
                </a:solidFill>
                <a:latin typeface="Consolas"/>
                <a:ea typeface="Consolas"/>
                <a:cs typeface="Consolas"/>
                <a:sym typeface="Consolas"/>
              </a:defRPr>
            </a:pPr>
            <a:r>
              <a:t>print(f"Initial density entropy: {R['density_H'][0]:.3f} bits")</a:t>
            </a:r>
          </a:p>
          <a:p>
            <a:pPr>
              <a:defRPr sz="1000">
                <a:solidFill>
                  <a:srgbClr val="44AA66"/>
                </a:solidFill>
                <a:latin typeface="Consolas"/>
                <a:ea typeface="Consolas"/>
                <a:cs typeface="Consolas"/>
                <a:sym typeface="Consolas"/>
              </a:defRPr>
            </a:pPr>
            <a:r>
              <a:t>print(f"Final density entropy:   {R['density_H'][-1]:.3f} bits")</a:t>
            </a:r>
          </a:p>
          <a:p>
            <a:pPr>
              <a:defRPr sz="1000">
                <a:solidFill>
                  <a:srgbClr val="44AA66"/>
                </a:solidFill>
                <a:latin typeface="Consolas"/>
                <a:ea typeface="Consolas"/>
                <a:cs typeface="Consolas"/>
                <a:sym typeface="Consolas"/>
              </a:defRPr>
            </a:pPr>
            <a:r>
              <a:t>print(f"Entropy drop:            {R['density_H'][0]-R['density_H'][-1]:.3f} bits")</a:t>
            </a:r>
          </a:p>
          <a:p>
            <a:pPr>
              <a:defRPr sz="1000">
                <a:solidFill>
                  <a:srgbClr val="44AA66"/>
                </a:solidFill>
                <a:latin typeface="Consolas"/>
                <a:ea typeface="Consolas"/>
                <a:cs typeface="Consolas"/>
                <a:sym typeface="Consolas"/>
              </a:defRPr>
            </a:pPr>
            <a:r>
              <a:t>print(f"Final density:           {R['density_rho'][-1]:.4f}")</a:t>
            </a:r>
          </a:p>
          <a:p>
            <a:pPr>
              <a:defRPr sz="1000">
                <a:solidFill>
                  <a:srgbClr val="44AA66"/>
                </a:solidFill>
                <a:latin typeface="Consolas"/>
                <a:ea typeface="Consolas"/>
                <a:cs typeface="Consolas"/>
                <a:sym typeface="Consolas"/>
              </a:defRPr>
            </a:pPr>
            <a:r>
              <a:t>print(f"Final block entropy:     {R['block_H'][-1]:.3f} / {k*k} bits")</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99"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300"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301"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Exercises</a:t>
            </a:r>
          </a:p>
        </p:txBody>
      </p:sp>
      <p:sp>
        <p:nvSpPr>
          <p:cNvPr id="302" name="Shape 3"/>
          <p:cNvSpPr/>
          <p:nvPr/>
        </p:nvSpPr>
        <p:spPr>
          <a:xfrm>
            <a:off x="548640" y="1005839"/>
            <a:ext cx="8229601" cy="777241"/>
          </a:xfrm>
          <a:prstGeom prst="rect">
            <a:avLst/>
          </a:prstGeom>
          <a:solidFill>
            <a:srgbClr val="2D2D2D"/>
          </a:solidFill>
          <a:ln w="12700">
            <a:miter lim="400000"/>
          </a:ln>
        </p:spPr>
        <p:txBody>
          <a:bodyPr lIns="45719" rIns="45719"/>
          <a:lstStyle/>
          <a:p>
            <a:endParaRPr/>
          </a:p>
        </p:txBody>
      </p:sp>
      <p:sp>
        <p:nvSpPr>
          <p:cNvPr id="303" name="Shape 4"/>
          <p:cNvSpPr/>
          <p:nvPr/>
        </p:nvSpPr>
        <p:spPr>
          <a:xfrm>
            <a:off x="548640" y="1005839"/>
            <a:ext cx="54865" cy="777241"/>
          </a:xfrm>
          <a:prstGeom prst="rect">
            <a:avLst/>
          </a:prstGeom>
          <a:solidFill>
            <a:srgbClr val="4A9ECC"/>
          </a:solidFill>
          <a:ln w="12700">
            <a:miter lim="400000"/>
          </a:ln>
        </p:spPr>
        <p:txBody>
          <a:bodyPr lIns="45719" rIns="45719"/>
          <a:lstStyle/>
          <a:p>
            <a:endParaRPr/>
          </a:p>
        </p:txBody>
      </p:sp>
      <p:sp>
        <p:nvSpPr>
          <p:cNvPr id="304" name="Text 5"/>
          <p:cNvSpPr txBox="1"/>
          <p:nvPr/>
        </p:nvSpPr>
        <p:spPr>
          <a:xfrm>
            <a:off x="777240" y="1082040"/>
            <a:ext cx="365761"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4A9ECC"/>
                </a:solidFill>
                <a:latin typeface="Consolas"/>
                <a:ea typeface="Consolas"/>
                <a:cs typeface="Consolas"/>
                <a:sym typeface="Consolas"/>
              </a:defRPr>
            </a:lvl1pPr>
          </a:lstStyle>
          <a:p>
            <a:r>
              <a:t>1</a:t>
            </a:r>
          </a:p>
        </p:txBody>
      </p:sp>
      <p:sp>
        <p:nvSpPr>
          <p:cNvPr id="305" name="Text 6"/>
          <p:cNvSpPr txBox="1"/>
          <p:nvPr/>
        </p:nvSpPr>
        <p:spPr>
          <a:xfrm>
            <a:off x="1234439" y="1087120"/>
            <a:ext cx="36576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FFFFFF"/>
                </a:solidFill>
                <a:latin typeface="Consolas"/>
                <a:ea typeface="Consolas"/>
                <a:cs typeface="Consolas"/>
                <a:sym typeface="Consolas"/>
              </a:defRPr>
            </a:lvl1pPr>
          </a:lstStyle>
          <a:p>
            <a:r>
              <a:t>Entropy vs. Initial Density</a:t>
            </a:r>
          </a:p>
        </p:txBody>
      </p:sp>
      <p:sp>
        <p:nvSpPr>
          <p:cNvPr id="306" name="Text 7"/>
          <p:cNvSpPr txBox="1"/>
          <p:nvPr/>
        </p:nvSpPr>
        <p:spPr>
          <a:xfrm>
            <a:off x="7772400" y="1118870"/>
            <a:ext cx="91440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r>
              <a:t>30 min</a:t>
            </a:r>
          </a:p>
        </p:txBody>
      </p:sp>
      <p:sp>
        <p:nvSpPr>
          <p:cNvPr id="307" name="Text 8"/>
          <p:cNvSpPr txBox="1"/>
          <p:nvPr/>
        </p:nvSpPr>
        <p:spPr>
          <a:xfrm>
            <a:off x="1234439" y="1325880"/>
            <a:ext cx="6858001" cy="3052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000">
                <a:solidFill>
                  <a:srgbClr val="A0A0A0"/>
                </a:solidFill>
              </a:defRPr>
            </a:lvl1pPr>
          </a:lstStyle>
          <a:p>
            <a:r>
              <a:t>Run GoL from random soups with ρ₀ ∈ {0.1, 0.2, ..., 0.9}. Plot H_density(t) for each. At what ρ₀ does entropy decrease most? Does the equilibrium density always converge to Flammenkamp's constant?</a:t>
            </a:r>
          </a:p>
        </p:txBody>
      </p:sp>
      <p:sp>
        <p:nvSpPr>
          <p:cNvPr id="308" name="Shape 9"/>
          <p:cNvSpPr/>
          <p:nvPr/>
        </p:nvSpPr>
        <p:spPr>
          <a:xfrm>
            <a:off x="548640" y="1965960"/>
            <a:ext cx="8229601" cy="777241"/>
          </a:xfrm>
          <a:prstGeom prst="rect">
            <a:avLst/>
          </a:prstGeom>
          <a:solidFill>
            <a:srgbClr val="2D2D2D"/>
          </a:solidFill>
          <a:ln w="12700">
            <a:miter lim="400000"/>
          </a:ln>
        </p:spPr>
        <p:txBody>
          <a:bodyPr lIns="45719" rIns="45719"/>
          <a:lstStyle/>
          <a:p>
            <a:endParaRPr/>
          </a:p>
        </p:txBody>
      </p:sp>
      <p:sp>
        <p:nvSpPr>
          <p:cNvPr id="309" name="Shape 10"/>
          <p:cNvSpPr/>
          <p:nvPr/>
        </p:nvSpPr>
        <p:spPr>
          <a:xfrm>
            <a:off x="548640" y="1965960"/>
            <a:ext cx="54865" cy="777241"/>
          </a:xfrm>
          <a:prstGeom prst="rect">
            <a:avLst/>
          </a:prstGeom>
          <a:solidFill>
            <a:srgbClr val="E8B931"/>
          </a:solidFill>
          <a:ln w="12700">
            <a:miter lim="400000"/>
          </a:ln>
        </p:spPr>
        <p:txBody>
          <a:bodyPr lIns="45719" rIns="45719"/>
          <a:lstStyle/>
          <a:p>
            <a:endParaRPr/>
          </a:p>
        </p:txBody>
      </p:sp>
      <p:sp>
        <p:nvSpPr>
          <p:cNvPr id="310" name="Text 11"/>
          <p:cNvSpPr txBox="1"/>
          <p:nvPr/>
        </p:nvSpPr>
        <p:spPr>
          <a:xfrm>
            <a:off x="777240" y="2042159"/>
            <a:ext cx="365761"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E8B931"/>
                </a:solidFill>
                <a:latin typeface="Consolas"/>
                <a:ea typeface="Consolas"/>
                <a:cs typeface="Consolas"/>
                <a:sym typeface="Consolas"/>
              </a:defRPr>
            </a:lvl1pPr>
          </a:lstStyle>
          <a:p>
            <a:r>
              <a:t>2</a:t>
            </a:r>
          </a:p>
        </p:txBody>
      </p:sp>
      <p:sp>
        <p:nvSpPr>
          <p:cNvPr id="311" name="Text 12"/>
          <p:cNvSpPr txBox="1"/>
          <p:nvPr/>
        </p:nvSpPr>
        <p:spPr>
          <a:xfrm>
            <a:off x="1234439" y="2047239"/>
            <a:ext cx="36576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FFFFFF"/>
                </a:solidFill>
                <a:latin typeface="Consolas"/>
                <a:ea typeface="Consolas"/>
                <a:cs typeface="Consolas"/>
                <a:sym typeface="Consolas"/>
              </a:defRPr>
            </a:lvl1pPr>
          </a:lstStyle>
          <a:p>
            <a:r>
              <a:t>Block Entropy Scaling</a:t>
            </a:r>
          </a:p>
        </p:txBody>
      </p:sp>
      <p:sp>
        <p:nvSpPr>
          <p:cNvPr id="312" name="Text 13"/>
          <p:cNvSpPr txBox="1"/>
          <p:nvPr/>
        </p:nvSpPr>
        <p:spPr>
          <a:xfrm>
            <a:off x="7772400" y="2078989"/>
            <a:ext cx="91440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r>
              <a:t>45 min</a:t>
            </a:r>
          </a:p>
        </p:txBody>
      </p:sp>
      <p:sp>
        <p:nvSpPr>
          <p:cNvPr id="313" name="Text 14"/>
          <p:cNvSpPr txBox="1"/>
          <p:nvPr/>
        </p:nvSpPr>
        <p:spPr>
          <a:xfrm>
            <a:off x="1234439" y="2286000"/>
            <a:ext cx="6858001" cy="279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000">
                <a:solidFill>
                  <a:srgbClr val="A0A0A0"/>
                </a:solidFill>
              </a:defRPr>
            </a:lvl1pPr>
          </a:lstStyle>
          <a:p>
            <a:r>
              <a:t>For the settled configuration of a random 200×200 soup, compute H_k for k = 1, 2, 3, 4, 5. Plot H_k / k² vs. k. Does it converge? Compare with a purely random grid of the same density.</a:t>
            </a:r>
          </a:p>
        </p:txBody>
      </p:sp>
      <p:sp>
        <p:nvSpPr>
          <p:cNvPr id="314" name="Shape 15"/>
          <p:cNvSpPr/>
          <p:nvPr/>
        </p:nvSpPr>
        <p:spPr>
          <a:xfrm>
            <a:off x="548640" y="2926079"/>
            <a:ext cx="8229601" cy="777241"/>
          </a:xfrm>
          <a:prstGeom prst="rect">
            <a:avLst/>
          </a:prstGeom>
          <a:solidFill>
            <a:srgbClr val="2D2D2D"/>
          </a:solidFill>
          <a:ln w="12700">
            <a:miter lim="400000"/>
          </a:ln>
        </p:spPr>
        <p:txBody>
          <a:bodyPr lIns="45719" rIns="45719"/>
          <a:lstStyle/>
          <a:p>
            <a:endParaRPr/>
          </a:p>
        </p:txBody>
      </p:sp>
      <p:sp>
        <p:nvSpPr>
          <p:cNvPr id="315" name="Shape 16"/>
          <p:cNvSpPr/>
          <p:nvPr/>
        </p:nvSpPr>
        <p:spPr>
          <a:xfrm>
            <a:off x="548640" y="2926079"/>
            <a:ext cx="54865" cy="777241"/>
          </a:xfrm>
          <a:prstGeom prst="rect">
            <a:avLst/>
          </a:prstGeom>
          <a:solidFill>
            <a:srgbClr val="44AA66"/>
          </a:solidFill>
          <a:ln w="12700">
            <a:miter lim="400000"/>
          </a:ln>
        </p:spPr>
        <p:txBody>
          <a:bodyPr lIns="45719" rIns="45719"/>
          <a:lstStyle/>
          <a:p>
            <a:endParaRPr/>
          </a:p>
        </p:txBody>
      </p:sp>
      <p:sp>
        <p:nvSpPr>
          <p:cNvPr id="316" name="Text 17"/>
          <p:cNvSpPr txBox="1"/>
          <p:nvPr/>
        </p:nvSpPr>
        <p:spPr>
          <a:xfrm>
            <a:off x="777240" y="3002279"/>
            <a:ext cx="365761"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44AA66"/>
                </a:solidFill>
                <a:latin typeface="Consolas"/>
                <a:ea typeface="Consolas"/>
                <a:cs typeface="Consolas"/>
                <a:sym typeface="Consolas"/>
              </a:defRPr>
            </a:lvl1pPr>
          </a:lstStyle>
          <a:p>
            <a:r>
              <a:t>3</a:t>
            </a:r>
          </a:p>
        </p:txBody>
      </p:sp>
      <p:sp>
        <p:nvSpPr>
          <p:cNvPr id="317" name="Text 18"/>
          <p:cNvSpPr txBox="1"/>
          <p:nvPr/>
        </p:nvSpPr>
        <p:spPr>
          <a:xfrm>
            <a:off x="1234439" y="3007360"/>
            <a:ext cx="36576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FFFFFF"/>
                </a:solidFill>
                <a:latin typeface="Consolas"/>
                <a:ea typeface="Consolas"/>
                <a:cs typeface="Consolas"/>
                <a:sym typeface="Consolas"/>
              </a:defRPr>
            </a:lvl1pPr>
          </a:lstStyle>
          <a:p>
            <a:r>
              <a:t>Temporal Entropy Maps</a:t>
            </a:r>
          </a:p>
        </p:txBody>
      </p:sp>
      <p:sp>
        <p:nvSpPr>
          <p:cNvPr id="318" name="Text 19"/>
          <p:cNvSpPr txBox="1"/>
          <p:nvPr/>
        </p:nvSpPr>
        <p:spPr>
          <a:xfrm>
            <a:off x="7772400" y="3039110"/>
            <a:ext cx="91440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r>
              <a:t>45 min</a:t>
            </a:r>
          </a:p>
        </p:txBody>
      </p:sp>
      <p:sp>
        <p:nvSpPr>
          <p:cNvPr id="319" name="Text 20"/>
          <p:cNvSpPr txBox="1"/>
          <p:nvPr/>
        </p:nvSpPr>
        <p:spPr>
          <a:xfrm>
            <a:off x="1234439" y="3246120"/>
            <a:ext cx="6858001" cy="279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000">
                <a:solidFill>
                  <a:srgbClr val="A0A0A0"/>
                </a:solidFill>
              </a:defRPr>
            </a:lvl1pPr>
          </a:lstStyle>
          <a:p>
            <a:r>
              <a:t>Evolve a Gosper glider gun for 300 steps. Compute the temporal entropy map. Identify the gun mechanism, glider tracks, and dead zones from the heatmap alone. What is the average temporal entropy of the gun vs. a random soup?</a:t>
            </a:r>
          </a:p>
        </p:txBody>
      </p:sp>
      <p:sp>
        <p:nvSpPr>
          <p:cNvPr id="320" name="Shape 21"/>
          <p:cNvSpPr/>
          <p:nvPr/>
        </p:nvSpPr>
        <p:spPr>
          <a:xfrm>
            <a:off x="548640" y="3886200"/>
            <a:ext cx="8229601" cy="777241"/>
          </a:xfrm>
          <a:prstGeom prst="rect">
            <a:avLst/>
          </a:prstGeom>
          <a:solidFill>
            <a:srgbClr val="2D2D2D"/>
          </a:solidFill>
          <a:ln w="12700">
            <a:miter lim="400000"/>
          </a:ln>
        </p:spPr>
        <p:txBody>
          <a:bodyPr lIns="45719" rIns="45719"/>
          <a:lstStyle/>
          <a:p>
            <a:endParaRPr/>
          </a:p>
        </p:txBody>
      </p:sp>
      <p:sp>
        <p:nvSpPr>
          <p:cNvPr id="321" name="Shape 22"/>
          <p:cNvSpPr/>
          <p:nvPr/>
        </p:nvSpPr>
        <p:spPr>
          <a:xfrm>
            <a:off x="548640" y="3886200"/>
            <a:ext cx="54865" cy="777241"/>
          </a:xfrm>
          <a:prstGeom prst="rect">
            <a:avLst/>
          </a:prstGeom>
          <a:solidFill>
            <a:srgbClr val="D4853B"/>
          </a:solidFill>
          <a:ln w="12700">
            <a:miter lim="400000"/>
          </a:ln>
        </p:spPr>
        <p:txBody>
          <a:bodyPr lIns="45719" rIns="45719"/>
          <a:lstStyle/>
          <a:p>
            <a:endParaRPr/>
          </a:p>
        </p:txBody>
      </p:sp>
      <p:sp>
        <p:nvSpPr>
          <p:cNvPr id="322" name="Text 23"/>
          <p:cNvSpPr txBox="1"/>
          <p:nvPr/>
        </p:nvSpPr>
        <p:spPr>
          <a:xfrm>
            <a:off x="777240" y="3962399"/>
            <a:ext cx="365761" cy="30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000" b="1">
                <a:solidFill>
                  <a:srgbClr val="D4853B"/>
                </a:solidFill>
                <a:latin typeface="Consolas"/>
                <a:ea typeface="Consolas"/>
                <a:cs typeface="Consolas"/>
                <a:sym typeface="Consolas"/>
              </a:defRPr>
            </a:lvl1pPr>
          </a:lstStyle>
          <a:p>
            <a:r>
              <a:t>★</a:t>
            </a:r>
          </a:p>
        </p:txBody>
      </p:sp>
      <p:sp>
        <p:nvSpPr>
          <p:cNvPr id="323" name="Text 24"/>
          <p:cNvSpPr txBox="1"/>
          <p:nvPr/>
        </p:nvSpPr>
        <p:spPr>
          <a:xfrm>
            <a:off x="1234439" y="3967479"/>
            <a:ext cx="3657601"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FFFFFF"/>
                </a:solidFill>
                <a:latin typeface="Consolas"/>
                <a:ea typeface="Consolas"/>
                <a:cs typeface="Consolas"/>
                <a:sym typeface="Consolas"/>
              </a:defRPr>
            </a:lvl1pPr>
          </a:lstStyle>
          <a:p>
            <a:r>
              <a:t>Entropy Across Life-like Rules</a:t>
            </a:r>
          </a:p>
        </p:txBody>
      </p:sp>
      <p:sp>
        <p:nvSpPr>
          <p:cNvPr id="324" name="Text 25"/>
          <p:cNvSpPr txBox="1"/>
          <p:nvPr/>
        </p:nvSpPr>
        <p:spPr>
          <a:xfrm>
            <a:off x="7772400" y="3999229"/>
            <a:ext cx="914400" cy="139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a:solidFill>
                  <a:srgbClr val="707070"/>
                </a:solidFill>
                <a:latin typeface="Consolas"/>
                <a:ea typeface="Consolas"/>
                <a:cs typeface="Consolas"/>
                <a:sym typeface="Consolas"/>
              </a:defRPr>
            </a:lvl1pPr>
          </a:lstStyle>
          <a:p>
            <a:r>
              <a:t>60+ min</a:t>
            </a:r>
          </a:p>
        </p:txBody>
      </p:sp>
      <p:sp>
        <p:nvSpPr>
          <p:cNvPr id="325" name="Text 26"/>
          <p:cNvSpPr txBox="1"/>
          <p:nvPr/>
        </p:nvSpPr>
        <p:spPr>
          <a:xfrm>
            <a:off x="1234439" y="4206240"/>
            <a:ext cx="6858001" cy="419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000">
                <a:solidFill>
                  <a:srgbClr val="A0A0A0"/>
                </a:solidFill>
              </a:defRPr>
            </a:lvl1pPr>
          </a:lstStyle>
          <a:p>
            <a:r>
              <a:t>Choose 5 other life-like rules (e.g., HighLife B36/S23, Seeds B2/S, Day &amp; Night B3678/S34678). Compare entropy trajectories from random soups. Which rules show anti-entropic behavior? Can you identify the 'edge of chaos' from entropy alone?</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27"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328"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329"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Key Takeaways</a:t>
            </a:r>
          </a:p>
        </p:txBody>
      </p:sp>
      <p:sp>
        <p:nvSpPr>
          <p:cNvPr id="330" name="Shape 3"/>
          <p:cNvSpPr/>
          <p:nvPr/>
        </p:nvSpPr>
        <p:spPr>
          <a:xfrm>
            <a:off x="594359" y="1143000"/>
            <a:ext cx="365762" cy="365761"/>
          </a:xfrm>
          <a:prstGeom prst="ellipse">
            <a:avLst/>
          </a:prstGeom>
          <a:solidFill>
            <a:srgbClr val="4A9ECC"/>
          </a:solidFill>
          <a:ln w="12700">
            <a:miter lim="400000"/>
          </a:ln>
        </p:spPr>
        <p:txBody>
          <a:bodyPr lIns="45719" rIns="45719"/>
          <a:lstStyle/>
          <a:p>
            <a:endParaRPr/>
          </a:p>
        </p:txBody>
      </p:sp>
      <p:sp>
        <p:nvSpPr>
          <p:cNvPr id="331" name="Text 4"/>
          <p:cNvSpPr txBox="1"/>
          <p:nvPr/>
        </p:nvSpPr>
        <p:spPr>
          <a:xfrm>
            <a:off x="594359" y="1217930"/>
            <a:ext cx="36576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b="1">
                <a:solidFill>
                  <a:srgbClr val="1A1A1A"/>
                </a:solidFill>
                <a:latin typeface="Consolas"/>
                <a:ea typeface="Consolas"/>
                <a:cs typeface="Consolas"/>
                <a:sym typeface="Consolas"/>
              </a:defRPr>
            </a:lvl1pPr>
          </a:lstStyle>
          <a:p>
            <a:r>
              <a:t>1</a:t>
            </a:r>
          </a:p>
        </p:txBody>
      </p:sp>
      <p:sp>
        <p:nvSpPr>
          <p:cNvPr id="332" name="Text 5"/>
          <p:cNvSpPr txBox="1"/>
          <p:nvPr/>
        </p:nvSpPr>
        <p:spPr>
          <a:xfrm>
            <a:off x="1142999" y="1299210"/>
            <a:ext cx="7498082" cy="190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F0F0F0"/>
                </a:solidFill>
              </a:defRPr>
            </a:lvl1pPr>
          </a:lstStyle>
          <a:p>
            <a:r>
              <a:t>Density entropy is the simplest measure but misses spatial structure entirely.</a:t>
            </a:r>
          </a:p>
        </p:txBody>
      </p:sp>
      <p:sp>
        <p:nvSpPr>
          <p:cNvPr id="333" name="Shape 6"/>
          <p:cNvSpPr/>
          <p:nvPr/>
        </p:nvSpPr>
        <p:spPr>
          <a:xfrm>
            <a:off x="594359" y="1856232"/>
            <a:ext cx="365762" cy="365761"/>
          </a:xfrm>
          <a:prstGeom prst="ellipse">
            <a:avLst/>
          </a:prstGeom>
          <a:solidFill>
            <a:srgbClr val="4A9ECC"/>
          </a:solidFill>
          <a:ln w="12700">
            <a:miter lim="400000"/>
          </a:ln>
        </p:spPr>
        <p:txBody>
          <a:bodyPr lIns="45719" rIns="45719"/>
          <a:lstStyle/>
          <a:p>
            <a:endParaRPr/>
          </a:p>
        </p:txBody>
      </p:sp>
      <p:sp>
        <p:nvSpPr>
          <p:cNvPr id="334" name="Text 7"/>
          <p:cNvSpPr txBox="1"/>
          <p:nvPr/>
        </p:nvSpPr>
        <p:spPr>
          <a:xfrm>
            <a:off x="594359" y="1931161"/>
            <a:ext cx="36576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b="1">
                <a:solidFill>
                  <a:srgbClr val="1A1A1A"/>
                </a:solidFill>
                <a:latin typeface="Consolas"/>
                <a:ea typeface="Consolas"/>
                <a:cs typeface="Consolas"/>
                <a:sym typeface="Consolas"/>
              </a:defRPr>
            </a:lvl1pPr>
          </a:lstStyle>
          <a:p>
            <a:r>
              <a:t>2</a:t>
            </a:r>
          </a:p>
        </p:txBody>
      </p:sp>
      <p:sp>
        <p:nvSpPr>
          <p:cNvPr id="335" name="Text 8"/>
          <p:cNvSpPr txBox="1"/>
          <p:nvPr/>
        </p:nvSpPr>
        <p:spPr>
          <a:xfrm>
            <a:off x="1142999" y="2005164"/>
            <a:ext cx="7498082" cy="205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F0F0F0"/>
                </a:solidFill>
              </a:defRPr>
            </a:lvl1pPr>
          </a:lstStyle>
          <a:p>
            <a:r>
              <a:t>2D block entropy (H_k) captures local correlations; larger k → more information about spatial order.</a:t>
            </a:r>
          </a:p>
        </p:txBody>
      </p:sp>
      <p:sp>
        <p:nvSpPr>
          <p:cNvPr id="336" name="Shape 9"/>
          <p:cNvSpPr/>
          <p:nvPr/>
        </p:nvSpPr>
        <p:spPr>
          <a:xfrm>
            <a:off x="594359" y="2569464"/>
            <a:ext cx="365762" cy="365761"/>
          </a:xfrm>
          <a:prstGeom prst="ellipse">
            <a:avLst/>
          </a:prstGeom>
          <a:solidFill>
            <a:srgbClr val="4A9ECC"/>
          </a:solidFill>
          <a:ln w="12700">
            <a:miter lim="400000"/>
          </a:ln>
        </p:spPr>
        <p:txBody>
          <a:bodyPr lIns="45719" rIns="45719"/>
          <a:lstStyle/>
          <a:p>
            <a:endParaRPr/>
          </a:p>
        </p:txBody>
      </p:sp>
      <p:sp>
        <p:nvSpPr>
          <p:cNvPr id="337" name="Text 10"/>
          <p:cNvSpPr txBox="1"/>
          <p:nvPr/>
        </p:nvSpPr>
        <p:spPr>
          <a:xfrm>
            <a:off x="594359" y="2644394"/>
            <a:ext cx="36576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b="1">
                <a:solidFill>
                  <a:srgbClr val="1A1A1A"/>
                </a:solidFill>
                <a:latin typeface="Consolas"/>
                <a:ea typeface="Consolas"/>
                <a:cs typeface="Consolas"/>
                <a:sym typeface="Consolas"/>
              </a:defRPr>
            </a:lvl1pPr>
          </a:lstStyle>
          <a:p>
            <a:r>
              <a:t>3</a:t>
            </a:r>
          </a:p>
        </p:txBody>
      </p:sp>
      <p:sp>
        <p:nvSpPr>
          <p:cNvPr id="338" name="Text 11"/>
          <p:cNvSpPr txBox="1"/>
          <p:nvPr/>
        </p:nvSpPr>
        <p:spPr>
          <a:xfrm>
            <a:off x="1142999" y="2630423"/>
            <a:ext cx="7498082"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F0F0F0"/>
                </a:solidFill>
              </a:defRPr>
            </a:lvl1pPr>
          </a:lstStyle>
          <a:p>
            <a:r>
              <a:t>Temporal entropy maps reveal the 'activity skeleton' of GoL — still lifes, oscillators, and glider tracks.</a:t>
            </a:r>
          </a:p>
        </p:txBody>
      </p:sp>
      <p:sp>
        <p:nvSpPr>
          <p:cNvPr id="339" name="Shape 12"/>
          <p:cNvSpPr/>
          <p:nvPr/>
        </p:nvSpPr>
        <p:spPr>
          <a:xfrm>
            <a:off x="594359" y="3282696"/>
            <a:ext cx="365762" cy="365761"/>
          </a:xfrm>
          <a:prstGeom prst="ellipse">
            <a:avLst/>
          </a:prstGeom>
          <a:solidFill>
            <a:srgbClr val="E8B931"/>
          </a:solidFill>
          <a:ln w="12700">
            <a:miter lim="400000"/>
          </a:ln>
        </p:spPr>
        <p:txBody>
          <a:bodyPr lIns="45719" rIns="45719"/>
          <a:lstStyle/>
          <a:p>
            <a:endParaRPr/>
          </a:p>
        </p:txBody>
      </p:sp>
      <p:sp>
        <p:nvSpPr>
          <p:cNvPr id="340" name="Text 13"/>
          <p:cNvSpPr txBox="1"/>
          <p:nvPr/>
        </p:nvSpPr>
        <p:spPr>
          <a:xfrm>
            <a:off x="594359" y="3357626"/>
            <a:ext cx="36576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b="1">
                <a:solidFill>
                  <a:srgbClr val="1A1A1A"/>
                </a:solidFill>
                <a:latin typeface="Consolas"/>
                <a:ea typeface="Consolas"/>
                <a:cs typeface="Consolas"/>
                <a:sym typeface="Consolas"/>
              </a:defRPr>
            </a:lvl1pPr>
          </a:lstStyle>
          <a:p>
            <a:r>
              <a:t>4</a:t>
            </a:r>
          </a:p>
        </p:txBody>
      </p:sp>
      <p:sp>
        <p:nvSpPr>
          <p:cNvPr id="341" name="Text 14"/>
          <p:cNvSpPr txBox="1"/>
          <p:nvPr/>
        </p:nvSpPr>
        <p:spPr>
          <a:xfrm>
            <a:off x="1142999" y="3343655"/>
            <a:ext cx="7498082"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F0F0F0"/>
                </a:solidFill>
              </a:defRPr>
            </a:lvl1pPr>
          </a:lstStyle>
          <a:p>
            <a:r>
              <a:t>GoL exhibits anti-entropic behavior: entropy spontaneously decreases from random initial conditions. This is possible because the dynamics are non-reversible (dissipative).</a:t>
            </a:r>
          </a:p>
        </p:txBody>
      </p:sp>
      <p:sp>
        <p:nvSpPr>
          <p:cNvPr id="342" name="Shape 15"/>
          <p:cNvSpPr/>
          <p:nvPr/>
        </p:nvSpPr>
        <p:spPr>
          <a:xfrm>
            <a:off x="594359" y="3995928"/>
            <a:ext cx="365762" cy="365761"/>
          </a:xfrm>
          <a:prstGeom prst="ellipse">
            <a:avLst/>
          </a:prstGeom>
          <a:solidFill>
            <a:srgbClr val="E8B931"/>
          </a:solidFill>
          <a:ln w="12700">
            <a:miter lim="400000"/>
          </a:ln>
        </p:spPr>
        <p:txBody>
          <a:bodyPr lIns="45719" rIns="45719"/>
          <a:lstStyle/>
          <a:p>
            <a:endParaRPr/>
          </a:p>
        </p:txBody>
      </p:sp>
      <p:sp>
        <p:nvSpPr>
          <p:cNvPr id="343" name="Text 16"/>
          <p:cNvSpPr txBox="1"/>
          <p:nvPr/>
        </p:nvSpPr>
        <p:spPr>
          <a:xfrm>
            <a:off x="594359" y="4070858"/>
            <a:ext cx="365762" cy="215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400" b="1">
                <a:solidFill>
                  <a:srgbClr val="1A1A1A"/>
                </a:solidFill>
                <a:latin typeface="Consolas"/>
                <a:ea typeface="Consolas"/>
                <a:cs typeface="Consolas"/>
                <a:sym typeface="Consolas"/>
              </a:defRPr>
            </a:lvl1pPr>
          </a:lstStyle>
          <a:p>
            <a:r>
              <a:t>5</a:t>
            </a:r>
          </a:p>
        </p:txBody>
      </p:sp>
      <p:sp>
        <p:nvSpPr>
          <p:cNvPr id="344" name="Text 17"/>
          <p:cNvSpPr txBox="1"/>
          <p:nvPr/>
        </p:nvSpPr>
        <p:spPr>
          <a:xfrm>
            <a:off x="1142999" y="4056888"/>
            <a:ext cx="7498082"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a:solidFill>
                  <a:srgbClr val="F0F0F0"/>
                </a:solidFill>
              </a:defRPr>
            </a:lvl1pPr>
          </a:lstStyle>
          <a:p>
            <a:r>
              <a:t>Entropy signatures place GoL at the 'edge of chaos' — a special point in rule space that maximizes complexity.</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346" name="Shape 0"/>
          <p:cNvSpPr/>
          <p:nvPr/>
        </p:nvSpPr>
        <p:spPr>
          <a:xfrm>
            <a:off x="0" y="4709159"/>
            <a:ext cx="9144000" cy="434341"/>
          </a:xfrm>
          <a:prstGeom prst="rect">
            <a:avLst/>
          </a:prstGeom>
          <a:solidFill>
            <a:srgbClr val="111111"/>
          </a:solidFill>
          <a:ln w="12700">
            <a:miter lim="400000"/>
          </a:ln>
        </p:spPr>
        <p:txBody>
          <a:bodyPr lIns="45719" rIns="45719"/>
          <a:lstStyle/>
          <a:p>
            <a:endParaRPr/>
          </a:p>
        </p:txBody>
      </p:sp>
      <p:sp>
        <p:nvSpPr>
          <p:cNvPr id="347" name="Text 1"/>
          <p:cNvSpPr txBox="1"/>
          <p:nvPr/>
        </p:nvSpPr>
        <p:spPr>
          <a:xfrm>
            <a:off x="457200" y="4805680"/>
            <a:ext cx="64008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800">
                <a:solidFill>
                  <a:srgbClr val="707070"/>
                </a:solidFill>
              </a:defRPr>
            </a:lvl1pPr>
          </a:lstStyle>
          <a:p>
            <a:r>
              <a:t>From Conway to LangGraph  •  University of Bologna  •  Dept. of Physics</a:t>
            </a:r>
          </a:p>
        </p:txBody>
      </p:sp>
      <p:sp>
        <p:nvSpPr>
          <p:cNvPr id="348" name="Text 2"/>
          <p:cNvSpPr txBox="1"/>
          <p:nvPr/>
        </p:nvSpPr>
        <p:spPr>
          <a:xfrm>
            <a:off x="548640" y="332740"/>
            <a:ext cx="8229601" cy="431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800" b="1">
                <a:solidFill>
                  <a:srgbClr val="FFFFFF"/>
                </a:solidFill>
                <a:latin typeface="Consolas"/>
                <a:ea typeface="Consolas"/>
                <a:cs typeface="Consolas"/>
                <a:sym typeface="Consolas"/>
              </a:defRPr>
            </a:lvl1pPr>
          </a:lstStyle>
          <a:p>
            <a:r>
              <a:t>References</a:t>
            </a:r>
          </a:p>
        </p:txBody>
      </p:sp>
      <p:sp>
        <p:nvSpPr>
          <p:cNvPr id="349" name="Shape 3"/>
          <p:cNvSpPr/>
          <p:nvPr/>
        </p:nvSpPr>
        <p:spPr>
          <a:xfrm>
            <a:off x="365759" y="764541"/>
            <a:ext cx="8046719" cy="3383281"/>
          </a:xfrm>
          <a:prstGeom prst="rect">
            <a:avLst/>
          </a:prstGeom>
          <a:solidFill>
            <a:srgbClr val="2D2D2D"/>
          </a:solidFill>
          <a:ln w="12700">
            <a:miter lim="400000"/>
          </a:ln>
        </p:spPr>
        <p:txBody>
          <a:bodyPr lIns="45719" rIns="45719"/>
          <a:lstStyle/>
          <a:p>
            <a:endParaRPr dirty="0"/>
          </a:p>
        </p:txBody>
      </p:sp>
      <p:sp>
        <p:nvSpPr>
          <p:cNvPr id="350" name="Text 4"/>
          <p:cNvSpPr txBox="1"/>
          <p:nvPr/>
        </p:nvSpPr>
        <p:spPr>
          <a:xfrm>
            <a:off x="548640" y="861062"/>
            <a:ext cx="7589519" cy="31264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spcBef>
                <a:spcPts val="100"/>
              </a:spcBef>
              <a:defRPr sz="1300" b="1">
                <a:solidFill>
                  <a:srgbClr val="4A9ECC"/>
                </a:solidFill>
              </a:defRPr>
            </a:pPr>
            <a:r>
              <a:rPr dirty="0"/>
              <a:t>Foundational</a:t>
            </a:r>
          </a:p>
          <a:p>
            <a:pPr>
              <a:spcBef>
                <a:spcPts val="100"/>
              </a:spcBef>
              <a:defRPr sz="1300" b="1">
                <a:solidFill>
                  <a:srgbClr val="4A9ECC"/>
                </a:solidFill>
              </a:defRPr>
            </a:pPr>
            <a:endParaRPr sz="1000" dirty="0"/>
          </a:p>
          <a:p>
            <a:pPr>
              <a:spcBef>
                <a:spcPts val="100"/>
              </a:spcBef>
              <a:defRPr sz="1000">
                <a:solidFill>
                  <a:srgbClr val="A0A0A0"/>
                </a:solidFill>
              </a:defRPr>
            </a:pPr>
            <a:r>
              <a:rPr dirty="0"/>
              <a:t>Shannon, C.E. (1948). A Mathematical Theory of Communication. Bell System Technical Journal.</a:t>
            </a:r>
          </a:p>
          <a:p>
            <a:pPr>
              <a:spcBef>
                <a:spcPts val="100"/>
              </a:spcBef>
              <a:defRPr sz="1000">
                <a:solidFill>
                  <a:srgbClr val="A0A0A0"/>
                </a:solidFill>
              </a:defRPr>
            </a:pPr>
            <a:endParaRPr dirty="0"/>
          </a:p>
          <a:p>
            <a:pPr>
              <a:spcBef>
                <a:spcPts val="100"/>
              </a:spcBef>
              <a:defRPr sz="1000">
                <a:solidFill>
                  <a:srgbClr val="A0A0A0"/>
                </a:solidFill>
              </a:defRPr>
            </a:pPr>
            <a:r>
              <a:rPr dirty="0"/>
              <a:t>Wolfram, S. (1984). Computation theory of cellular automata. Comm. Math. Phys. 96(1), 15–57.</a:t>
            </a:r>
          </a:p>
          <a:p>
            <a:pPr>
              <a:spcBef>
                <a:spcPts val="100"/>
              </a:spcBef>
              <a:defRPr sz="1000">
                <a:solidFill>
                  <a:srgbClr val="A0A0A0"/>
                </a:solidFill>
              </a:defRPr>
            </a:pPr>
            <a:endParaRPr dirty="0"/>
          </a:p>
          <a:p>
            <a:pPr>
              <a:spcBef>
                <a:spcPts val="100"/>
              </a:spcBef>
              <a:defRPr sz="1000">
                <a:solidFill>
                  <a:srgbClr val="A0A0A0"/>
                </a:solidFill>
              </a:defRPr>
            </a:pPr>
            <a:r>
              <a:rPr dirty="0"/>
              <a:t>Cover, T.M. &amp; Thomas, J.A. (2006). Elements of Information Theory. 2nd ed., Wiley.</a:t>
            </a:r>
          </a:p>
          <a:p>
            <a:pPr>
              <a:spcBef>
                <a:spcPts val="100"/>
              </a:spcBef>
              <a:defRPr sz="1000">
                <a:solidFill>
                  <a:srgbClr val="A0A0A0"/>
                </a:solidFill>
              </a:defRPr>
            </a:pPr>
            <a:endParaRPr dirty="0"/>
          </a:p>
          <a:p>
            <a:pPr>
              <a:spcBef>
                <a:spcPts val="100"/>
              </a:spcBef>
              <a:defRPr sz="1000">
                <a:solidFill>
                  <a:srgbClr val="A0A0A0"/>
                </a:solidFill>
              </a:defRPr>
            </a:pPr>
            <a:endParaRPr dirty="0"/>
          </a:p>
          <a:p>
            <a:pPr>
              <a:spcBef>
                <a:spcPts val="100"/>
              </a:spcBef>
              <a:defRPr sz="1300" b="1">
                <a:solidFill>
                  <a:srgbClr val="4A9ECC"/>
                </a:solidFill>
              </a:defRPr>
            </a:pPr>
            <a:r>
              <a:rPr dirty="0"/>
              <a:t>Entropy in </a:t>
            </a:r>
            <a:r>
              <a:rPr dirty="0" err="1"/>
              <a:t>GoL</a:t>
            </a:r>
            <a:r>
              <a:rPr dirty="0"/>
              <a:t> and 2D CA</a:t>
            </a:r>
          </a:p>
          <a:p>
            <a:pPr>
              <a:spcBef>
                <a:spcPts val="100"/>
              </a:spcBef>
              <a:defRPr sz="1000">
                <a:solidFill>
                  <a:srgbClr val="A0A0A0"/>
                </a:solidFill>
              </a:defRPr>
            </a:pPr>
            <a:r>
              <a:rPr dirty="0"/>
              <a:t>Ruivo et al. (2023). Thermodynamics in Stochastic Conway's </a:t>
            </a:r>
            <a:r>
              <a:rPr dirty="0" err="1"/>
              <a:t>GoL</a:t>
            </a:r>
            <a:r>
              <a:rPr dirty="0"/>
              <a:t>. MDPI Dynamics 8(2), 47.</a:t>
            </a:r>
          </a:p>
          <a:p>
            <a:pPr>
              <a:spcBef>
                <a:spcPts val="100"/>
              </a:spcBef>
              <a:defRPr sz="1000">
                <a:solidFill>
                  <a:srgbClr val="A0A0A0"/>
                </a:solidFill>
              </a:defRPr>
            </a:pPr>
            <a:endParaRPr dirty="0"/>
          </a:p>
          <a:p>
            <a:pPr>
              <a:spcBef>
                <a:spcPts val="100"/>
              </a:spcBef>
              <a:defRPr sz="1000">
                <a:solidFill>
                  <a:srgbClr val="A0A0A0"/>
                </a:solidFill>
              </a:defRPr>
            </a:pPr>
            <a:r>
              <a:rPr dirty="0"/>
              <a:t>Contreras-Reyes, J.E. (2021). Lerch distribution based on </a:t>
            </a:r>
            <a:r>
              <a:rPr dirty="0" err="1"/>
              <a:t>MaxNSEntr</a:t>
            </a:r>
            <a:r>
              <a:rPr dirty="0"/>
              <a:t>: Application to </a:t>
            </a:r>
            <a:r>
              <a:rPr dirty="0" err="1"/>
              <a:t>GoL</a:t>
            </a:r>
            <a:r>
              <a:rPr dirty="0"/>
              <a:t>. Chaos, Solitons &amp; Fractals.</a:t>
            </a:r>
          </a:p>
          <a:p>
            <a:pPr>
              <a:spcBef>
                <a:spcPts val="100"/>
              </a:spcBef>
              <a:defRPr sz="1000">
                <a:solidFill>
                  <a:srgbClr val="A0A0A0"/>
                </a:solidFill>
              </a:defRPr>
            </a:pPr>
            <a:endParaRPr dirty="0"/>
          </a:p>
          <a:p>
            <a:pPr>
              <a:spcBef>
                <a:spcPts val="100"/>
              </a:spcBef>
              <a:defRPr sz="1000">
                <a:solidFill>
                  <a:srgbClr val="A0A0A0"/>
                </a:solidFill>
              </a:defRPr>
            </a:pPr>
            <a:r>
              <a:rPr dirty="0"/>
              <a:t>Sherrill et al. (2024). Conway's </a:t>
            </a:r>
            <a:r>
              <a:rPr dirty="0" err="1"/>
              <a:t>GoL</a:t>
            </a:r>
            <a:r>
              <a:rPr dirty="0"/>
              <a:t> as an Analogue to a Habitable World. arXiv:2410.22389.</a:t>
            </a:r>
          </a:p>
          <a:p>
            <a:pPr>
              <a:spcBef>
                <a:spcPts val="100"/>
              </a:spcBef>
              <a:defRPr sz="1300" b="1">
                <a:solidFill>
                  <a:srgbClr val="4A9ECC"/>
                </a:solidFill>
              </a:defRPr>
            </a:pPr>
            <a:r>
              <a:rPr dirty="0" err="1"/>
              <a:t>Omniperiodicity</a:t>
            </a:r>
            <a:endParaRPr dirty="0"/>
          </a:p>
          <a:p>
            <a:pPr>
              <a:spcBef>
                <a:spcPts val="100"/>
              </a:spcBef>
              <a:defRPr sz="1300" b="1">
                <a:solidFill>
                  <a:srgbClr val="4A9ECC"/>
                </a:solidFill>
              </a:defRPr>
            </a:pPr>
            <a:endParaRPr sz="1000" dirty="0"/>
          </a:p>
          <a:p>
            <a:pPr>
              <a:spcBef>
                <a:spcPts val="100"/>
              </a:spcBef>
              <a:defRPr sz="1000">
                <a:solidFill>
                  <a:srgbClr val="A0A0A0"/>
                </a:solidFill>
              </a:defRPr>
            </a:pPr>
            <a:r>
              <a:rPr dirty="0"/>
              <a:t>Brown, N. et al. (2023). Conway's Game of Life is </a:t>
            </a:r>
            <a:r>
              <a:rPr dirty="0" err="1"/>
              <a:t>Omniperiodic</a:t>
            </a:r>
            <a:r>
              <a:rPr dirty="0"/>
              <a:t>. arXiv:2312.02799.</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0F0F"/>
        </a:solidFill>
        <a:effectLst/>
      </p:bgPr>
    </p:bg>
    <p:spTree>
      <p:nvGrpSpPr>
        <p:cNvPr id="1" name=""/>
        <p:cNvGrpSpPr/>
        <p:nvPr/>
      </p:nvGrpSpPr>
      <p:grpSpPr>
        <a:xfrm>
          <a:off x="0" y="0"/>
          <a:ext cx="0" cy="0"/>
          <a:chOff x="0" y="0"/>
          <a:chExt cx="0" cy="0"/>
        </a:xfrm>
      </p:grpSpPr>
      <p:sp>
        <p:nvSpPr>
          <p:cNvPr id="352" name="Shape 0"/>
          <p:cNvSpPr/>
          <p:nvPr/>
        </p:nvSpPr>
        <p:spPr>
          <a:xfrm>
            <a:off x="3562724" y="4908834"/>
            <a:ext cx="109729" cy="109729"/>
          </a:xfrm>
          <a:prstGeom prst="rect">
            <a:avLst/>
          </a:prstGeom>
          <a:solidFill>
            <a:srgbClr val="4A9ECC">
              <a:alpha val="15000"/>
            </a:srgbClr>
          </a:solidFill>
          <a:ln w="12700">
            <a:miter lim="400000"/>
          </a:ln>
        </p:spPr>
        <p:txBody>
          <a:bodyPr lIns="45719" rIns="45719"/>
          <a:lstStyle/>
          <a:p>
            <a:endParaRPr/>
          </a:p>
        </p:txBody>
      </p:sp>
      <p:sp>
        <p:nvSpPr>
          <p:cNvPr id="353" name="Shape 1"/>
          <p:cNvSpPr/>
          <p:nvPr/>
        </p:nvSpPr>
        <p:spPr>
          <a:xfrm>
            <a:off x="1737211" y="2316414"/>
            <a:ext cx="109729" cy="109729"/>
          </a:xfrm>
          <a:prstGeom prst="rect">
            <a:avLst/>
          </a:prstGeom>
          <a:solidFill>
            <a:srgbClr val="4A9ECC">
              <a:alpha val="15000"/>
            </a:srgbClr>
          </a:solidFill>
          <a:ln w="12700">
            <a:miter lim="400000"/>
          </a:ln>
        </p:spPr>
        <p:txBody>
          <a:bodyPr lIns="45719" rIns="45719"/>
          <a:lstStyle/>
          <a:p>
            <a:endParaRPr/>
          </a:p>
        </p:txBody>
      </p:sp>
      <p:sp>
        <p:nvSpPr>
          <p:cNvPr id="354" name="Shape 2"/>
          <p:cNvSpPr/>
          <p:nvPr/>
        </p:nvSpPr>
        <p:spPr>
          <a:xfrm>
            <a:off x="2407621" y="643077"/>
            <a:ext cx="109729" cy="109729"/>
          </a:xfrm>
          <a:prstGeom prst="rect">
            <a:avLst/>
          </a:prstGeom>
          <a:solidFill>
            <a:srgbClr val="4A9ECC">
              <a:alpha val="15000"/>
            </a:srgbClr>
          </a:solidFill>
          <a:ln w="12700">
            <a:miter lim="400000"/>
          </a:ln>
        </p:spPr>
        <p:txBody>
          <a:bodyPr lIns="45719" rIns="45719"/>
          <a:lstStyle/>
          <a:p>
            <a:endParaRPr/>
          </a:p>
        </p:txBody>
      </p:sp>
      <p:sp>
        <p:nvSpPr>
          <p:cNvPr id="355" name="Shape 3"/>
          <p:cNvSpPr/>
          <p:nvPr/>
        </p:nvSpPr>
        <p:spPr>
          <a:xfrm>
            <a:off x="4728324" y="2307539"/>
            <a:ext cx="109729" cy="109729"/>
          </a:xfrm>
          <a:prstGeom prst="rect">
            <a:avLst/>
          </a:prstGeom>
          <a:solidFill>
            <a:srgbClr val="4A9ECC">
              <a:alpha val="15000"/>
            </a:srgbClr>
          </a:solidFill>
          <a:ln w="12700">
            <a:miter lim="400000"/>
          </a:ln>
        </p:spPr>
        <p:txBody>
          <a:bodyPr lIns="45719" rIns="45719"/>
          <a:lstStyle/>
          <a:p>
            <a:endParaRPr/>
          </a:p>
        </p:txBody>
      </p:sp>
      <p:sp>
        <p:nvSpPr>
          <p:cNvPr id="356" name="Shape 4"/>
          <p:cNvSpPr/>
          <p:nvPr/>
        </p:nvSpPr>
        <p:spPr>
          <a:xfrm>
            <a:off x="4231244" y="2246985"/>
            <a:ext cx="109729" cy="109729"/>
          </a:xfrm>
          <a:prstGeom prst="rect">
            <a:avLst/>
          </a:prstGeom>
          <a:solidFill>
            <a:srgbClr val="4A9ECC">
              <a:alpha val="15000"/>
            </a:srgbClr>
          </a:solidFill>
          <a:ln w="12700">
            <a:miter lim="400000"/>
          </a:ln>
        </p:spPr>
        <p:txBody>
          <a:bodyPr lIns="45719" rIns="45719"/>
          <a:lstStyle/>
          <a:p>
            <a:endParaRPr/>
          </a:p>
        </p:txBody>
      </p:sp>
      <p:sp>
        <p:nvSpPr>
          <p:cNvPr id="357" name="Shape 5"/>
          <p:cNvSpPr/>
          <p:nvPr/>
        </p:nvSpPr>
        <p:spPr>
          <a:xfrm>
            <a:off x="3088843" y="3382379"/>
            <a:ext cx="109729" cy="109729"/>
          </a:xfrm>
          <a:prstGeom prst="rect">
            <a:avLst/>
          </a:prstGeom>
          <a:solidFill>
            <a:srgbClr val="4A9ECC">
              <a:alpha val="15000"/>
            </a:srgbClr>
          </a:solidFill>
          <a:ln w="12700">
            <a:miter lim="400000"/>
          </a:ln>
        </p:spPr>
        <p:txBody>
          <a:bodyPr lIns="45719" rIns="45719"/>
          <a:lstStyle/>
          <a:p>
            <a:endParaRPr/>
          </a:p>
        </p:txBody>
      </p:sp>
      <p:sp>
        <p:nvSpPr>
          <p:cNvPr id="358" name="Shape 6"/>
          <p:cNvSpPr/>
          <p:nvPr/>
        </p:nvSpPr>
        <p:spPr>
          <a:xfrm>
            <a:off x="6422218" y="49222"/>
            <a:ext cx="109729" cy="109728"/>
          </a:xfrm>
          <a:prstGeom prst="rect">
            <a:avLst/>
          </a:prstGeom>
          <a:solidFill>
            <a:srgbClr val="4A9ECC">
              <a:alpha val="15000"/>
            </a:srgbClr>
          </a:solidFill>
          <a:ln w="12700">
            <a:miter lim="400000"/>
          </a:ln>
        </p:spPr>
        <p:txBody>
          <a:bodyPr lIns="45719" rIns="45719"/>
          <a:lstStyle/>
          <a:p>
            <a:endParaRPr/>
          </a:p>
        </p:txBody>
      </p:sp>
      <p:sp>
        <p:nvSpPr>
          <p:cNvPr id="359" name="Shape 7"/>
          <p:cNvSpPr/>
          <p:nvPr/>
        </p:nvSpPr>
        <p:spPr>
          <a:xfrm>
            <a:off x="8991668" y="4289788"/>
            <a:ext cx="109729" cy="109729"/>
          </a:xfrm>
          <a:prstGeom prst="rect">
            <a:avLst/>
          </a:prstGeom>
          <a:solidFill>
            <a:srgbClr val="4A9ECC">
              <a:alpha val="15000"/>
            </a:srgbClr>
          </a:solidFill>
          <a:ln w="12700">
            <a:miter lim="400000"/>
          </a:ln>
        </p:spPr>
        <p:txBody>
          <a:bodyPr lIns="45719" rIns="45719"/>
          <a:lstStyle/>
          <a:p>
            <a:endParaRPr/>
          </a:p>
        </p:txBody>
      </p:sp>
      <p:sp>
        <p:nvSpPr>
          <p:cNvPr id="360" name="Shape 8"/>
          <p:cNvSpPr/>
          <p:nvPr/>
        </p:nvSpPr>
        <p:spPr>
          <a:xfrm>
            <a:off x="8156567" y="4988361"/>
            <a:ext cx="109729" cy="109729"/>
          </a:xfrm>
          <a:prstGeom prst="rect">
            <a:avLst/>
          </a:prstGeom>
          <a:solidFill>
            <a:srgbClr val="4A9ECC">
              <a:alpha val="15000"/>
            </a:srgbClr>
          </a:solidFill>
          <a:ln w="12700">
            <a:miter lim="400000"/>
          </a:ln>
        </p:spPr>
        <p:txBody>
          <a:bodyPr lIns="45719" rIns="45719"/>
          <a:lstStyle/>
          <a:p>
            <a:endParaRPr/>
          </a:p>
        </p:txBody>
      </p:sp>
      <p:sp>
        <p:nvSpPr>
          <p:cNvPr id="361" name="Text 9"/>
          <p:cNvSpPr txBox="1"/>
          <p:nvPr/>
        </p:nvSpPr>
        <p:spPr>
          <a:xfrm>
            <a:off x="731520" y="1470342"/>
            <a:ext cx="7680960" cy="11741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115000"/>
              </a:lnSpc>
              <a:defRPr sz="3600" b="1">
                <a:solidFill>
                  <a:srgbClr val="FFFFFF"/>
                </a:solidFill>
                <a:latin typeface="Consolas"/>
                <a:ea typeface="Consolas"/>
                <a:cs typeface="Consolas"/>
                <a:sym typeface="Consolas"/>
              </a:defRPr>
            </a:pPr>
            <a:r>
              <a:t>Next: From Local Rules to</a:t>
            </a:r>
          </a:p>
          <a:p>
            <a:pPr>
              <a:lnSpc>
                <a:spcPct val="115000"/>
              </a:lnSpc>
              <a:defRPr sz="3600" b="1">
                <a:solidFill>
                  <a:srgbClr val="FFFFFF"/>
                </a:solidFill>
                <a:latin typeface="Consolas"/>
                <a:ea typeface="Consolas"/>
                <a:cs typeface="Consolas"/>
                <a:sym typeface="Consolas"/>
              </a:defRPr>
            </a:pPr>
            <a:r>
              <a:t>Global Agents</a:t>
            </a:r>
          </a:p>
        </p:txBody>
      </p:sp>
      <p:sp>
        <p:nvSpPr>
          <p:cNvPr id="362" name="Text 10"/>
          <p:cNvSpPr txBox="1"/>
          <p:nvPr/>
        </p:nvSpPr>
        <p:spPr>
          <a:xfrm>
            <a:off x="731520" y="2951479"/>
            <a:ext cx="7680960" cy="406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400">
                <a:solidFill>
                  <a:srgbClr val="A0A0A0"/>
                </a:solidFill>
              </a:defRPr>
            </a:pPr>
            <a:r>
              <a:t>How the entropy perspective connects cellular automata</a:t>
            </a:r>
          </a:p>
          <a:p>
            <a:pPr>
              <a:defRPr sz="1400">
                <a:solidFill>
                  <a:srgbClr val="A0A0A0"/>
                </a:solidFill>
              </a:defRPr>
            </a:pPr>
            <a:r>
              <a:t>to multi-agent systems and emergent intelligence</a:t>
            </a:r>
          </a:p>
        </p:txBody>
      </p:sp>
      <p:sp>
        <p:nvSpPr>
          <p:cNvPr id="363" name="Shape 11"/>
          <p:cNvSpPr/>
          <p:nvPr/>
        </p:nvSpPr>
        <p:spPr>
          <a:xfrm>
            <a:off x="0" y="4709159"/>
            <a:ext cx="9144000" cy="434341"/>
          </a:xfrm>
          <a:prstGeom prst="rect">
            <a:avLst/>
          </a:prstGeom>
          <a:solidFill>
            <a:srgbClr val="080808"/>
          </a:solidFill>
          <a:ln w="12700">
            <a:miter lim="400000"/>
          </a:ln>
        </p:spPr>
        <p:txBody>
          <a:bodyPr lIns="45719" rIns="45719"/>
          <a:lstStyle/>
          <a:p>
            <a:endParaRPr/>
          </a:p>
        </p:txBody>
      </p:sp>
      <p:sp>
        <p:nvSpPr>
          <p:cNvPr id="364" name="Text 12"/>
          <p:cNvSpPr txBox="1"/>
          <p:nvPr/>
        </p:nvSpPr>
        <p:spPr>
          <a:xfrm>
            <a:off x="457200" y="4805680"/>
            <a:ext cx="8229600" cy="21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spAutoFit/>
          </a:bodyPr>
          <a:lstStyle>
            <a:lvl1pPr>
              <a:defRPr sz="900">
                <a:solidFill>
                  <a:srgbClr val="707070"/>
                </a:solidFill>
              </a:defRPr>
            </a:lvl1pPr>
          </a:lstStyle>
          <a:p>
            <a:r>
              <a:t>Prof. Mirko Degli Esposti  •  mirko.degliesposti@unibo.it  •  University of Bologna</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4478</Words>
  <Application>Microsoft Macintosh PowerPoint</Application>
  <PresentationFormat>Presentazione su schermo (16:9)</PresentationFormat>
  <Paragraphs>531</Paragraphs>
  <Slides>24</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24</vt:i4>
      </vt:variant>
    </vt:vector>
  </HeadingPairs>
  <TitlesOfParts>
    <vt:vector size="28" baseType="lpstr">
      <vt:lpstr>Arial</vt:lpstr>
      <vt:lpstr>Calibri</vt:lpstr>
      <vt:lpstr>Calibri Light</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Mirko Degli Esposti</cp:lastModifiedBy>
  <cp:revision>1</cp:revision>
  <dcterms:modified xsi:type="dcterms:W3CDTF">2026-03-09T13:13:05Z</dcterms:modified>
</cp:coreProperties>
</file>