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243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19:13.55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24575,'84'50'0,"0"0"0,0 1 0,0-1 0,0 0 0,0 1 0,0-1 0,0 0 0,-1 0 0,1 1 0,0-1 0,0 0 0,0 1 0,0-1 0,0 0 0,0 1 0,0-1 0,0 0 0,6 3 0,2 2 0,1 0 0,1 0 0,0 1 0,-1-1 0,0-1 0,-2-1 0,-3-1 0,-2-1 0,-3-3 0,-5-2 0,-4-3 0,-6-3 0,-5-3-888,25 15 0,-13-8 0,-6-3 0,-2-2 0,4 1 888,6 2 0,2 1 0,-1-2 0,-1-1 0,-6-1 0,13 7 0,-6-3 0,4 3 0,-2-2 0,5 2 0,0 0 0,-1-1 0,-11-7 0,0-2 0,-1 1 0,3 4 0,-1 2 0,2 5 0,1 1 0,-1-1 0,-3-4 0,0-3 0,-2-2 0,-1-1 0,-1 1 314,1 3 0,1 2 0,-3-2 0,-8-7-314,6 1 0,-12-10 746,-4-13-746,-62-38 0,8 15 0,-19-19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13:19:14.87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2604 0 24575,'0'2'0,"-52"80"0,20-33 0,-5 4 0,-7 7 0,-6 8 0,-2 0-1012,-7 4 1,-2 1-1,-3 2 1012,12-14 0,-1 2 0,-1 0 0,-1 2-340,-5 6 1,-1 2 0,-1 1 0,3-2 339,6-6 0,1-1 0,0 0 0,0 3 0,-5 8 0,-1 3 0,1 1 0,1 0-360,2 0 1,1 0 0,1 2 0,-1 2 359,6-10 0,1 2 0,-1 1 0,0 1 0,0 2 0,4-6 0,-2 3 0,1 1 0,0 0 0,1-2 0,2-4 0,-10 15 0,3-4 0,0-1 0,1 0-135,1 3 1,1 2 0,1-4 0,4-11 134,-9 5 0,7-10 589,13-7 0,5-7-589,-4-3 0,18-23 0,7-15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622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2.xml"/><Relationship Id="rId5" Type="http://schemas.openxmlformats.org/officeDocument/2006/relationships/image" Target="../media/image3.png"/><Relationship Id="rId4" Type="http://schemas.openxmlformats.org/officeDocument/2006/relationships/customXml" Target="../ink/ink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Shape 1"/>
          <p:cNvSpPr/>
          <p:nvPr/>
        </p:nvSpPr>
        <p:spPr>
          <a:xfrm>
            <a:off x="164592" y="0"/>
            <a:ext cx="8979408" cy="27432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457200" y="3474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50" dirty="0">
                <a:solidFill>
                  <a:srgbClr val="9999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CONWAY'S GAME OF LIFE  ·  STATISTICAL MECHANICS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749808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Flammenkamp's Constant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Self-organization, attractors, and the limits of proof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4114800" cy="22860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57200" y="242316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asymptotic density of live cells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random GoL soup?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486400" y="214884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2.87115 %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5486400" y="2880360"/>
            <a:ext cx="3383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 constant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3767328"/>
            <a:ext cx="2651760" cy="8046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594360" y="38221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Achim Flammenkamp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594360" y="4078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large-scale simulations, 1994–2004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291840" y="3767328"/>
            <a:ext cx="2651760" cy="8046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429000" y="38221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Turing-complete system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429000" y="4078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 computes anything a UTM can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26480" y="3767328"/>
            <a:ext cx="2651760" cy="8046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263640" y="38221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analytic proof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63640" y="4078224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undecidability is the hard barrier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</a:rPr>
              <a:t>Conway to LangGraph  ·  University of Bologna</a:t>
            </a:r>
            <a:r>
              <a:rPr lang="en-US" sz="800" dirty="0">
                <a:solidFill>
                  <a:srgbClr val="444444"/>
                </a:solidFill>
              </a:rPr>
              <a:t>   |   </a:t>
            </a:r>
            <a:r>
              <a:rPr lang="en-US" sz="800" b="1" dirty="0">
                <a:solidFill>
                  <a:srgbClr val="CCCCCC"/>
                </a:solidFill>
              </a:rPr>
              <a:t>FLAMMENKAMP'S CONSTANT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00" dirty="0">
                <a:solidFill>
                  <a:srgbClr val="9999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OBSERVATION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 Soups Converge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13816"/>
            <a:ext cx="841248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384048" y="1005840"/>
            <a:ext cx="274320" cy="530352"/>
          </a:xfrm>
          <a:prstGeom prst="rect">
            <a:avLst/>
          </a:prstGeom>
          <a:solidFill>
            <a:srgbClr val="E8E8E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384048" y="1005840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04672" y="95097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 soup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4672" y="120700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cell alive with probability p₀ ∈ (0,1), independently. Maximum disorder, maximum entropy.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" y="1901952"/>
            <a:ext cx="274320" cy="530352"/>
          </a:xfrm>
          <a:prstGeom prst="rect">
            <a:avLst/>
          </a:prstGeom>
          <a:solidFill>
            <a:srgbClr val="E8E8E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384048" y="1901952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" y="18470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Transient dynamics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04672" y="21031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clusters form, interact, annihilate. Gliders, still lifes and oscillators emerge from noise.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84048" y="2798064"/>
            <a:ext cx="274320" cy="530352"/>
          </a:xfrm>
          <a:prstGeom prst="rect">
            <a:avLst/>
          </a:prstGeom>
          <a:solidFill>
            <a:srgbClr val="E8E8E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84048" y="2798064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" y="27432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Quiescent state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04672" y="299923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grid settles into isolated stable objects (ash). No further global evolution is possible.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4048" y="3694176"/>
            <a:ext cx="274320" cy="530352"/>
          </a:xfrm>
          <a:prstGeom prst="rect">
            <a:avLst/>
          </a:prstGeom>
          <a:solidFill>
            <a:srgbClr val="E8E8E8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384048" y="3694176"/>
            <a:ext cx="274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" y="363931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Attractor density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04672" y="389534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Regardless of p₀ (over a wide range), the final live-cell density converges to the same value.</a:t>
            </a:r>
            <a:endParaRPr lang="en-US" sz="1000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914400"/>
            <a:ext cx="3840480" cy="349300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074920" y="4434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ρ(t) from three initial conditions → Flammenkamp attractor.</a:t>
            </a:r>
            <a:endParaRPr lang="en-US" sz="750" dirty="0"/>
          </a:p>
          <a:p>
            <a:pPr marL="0" indent="0" algn="ctr">
              <a:buNone/>
            </a:pPr>
            <a:r>
              <a:rPr lang="en-US" sz="7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Approximate model: ρ(t) ≈ ρ∞ + (ρ₀ − ρ∞) e^{−t/τ}</a:t>
            </a:r>
            <a:endParaRPr lang="en-US" sz="750" dirty="0"/>
          </a:p>
        </p:txBody>
      </p:sp>
      <p:sp>
        <p:nvSpPr>
          <p:cNvPr id="24" name="Shape 21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Text 22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</a:rPr>
              <a:t>Conway to LangGraph  ·  University of Bologna</a:t>
            </a:r>
            <a:r>
              <a:rPr lang="en-US" sz="800" dirty="0">
                <a:solidFill>
                  <a:srgbClr val="444444"/>
                </a:solidFill>
              </a:rPr>
              <a:t>   |   </a:t>
            </a:r>
            <a:r>
              <a:rPr lang="en-US" sz="800" b="1" dirty="0">
                <a:solidFill>
                  <a:srgbClr val="CCCCCC"/>
                </a:solidFill>
              </a:rPr>
              <a:t>SOUP CONVERGENCE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00" dirty="0">
                <a:solidFill>
                  <a:srgbClr val="9999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CONSTANT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412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ρ∞  =  2.87115 %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65760" y="886968"/>
            <a:ext cx="841248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365760" y="987552"/>
            <a:ext cx="2514600" cy="361188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384048" y="1115568"/>
            <a:ext cx="247802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2.87115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84048" y="1938528"/>
            <a:ext cx="2478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%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594360" y="2404872"/>
            <a:ext cx="2011680" cy="13716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457200" y="252374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1/e  (e = 2.718...)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99923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10⁸ random soups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57200" y="34747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 up to 10⁴ × 10⁴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395020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BBBB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Flammenkamp, 1994–2004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090672" y="987552"/>
            <a:ext cx="5687568" cy="111556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3090672" y="987552"/>
            <a:ext cx="54864" cy="11155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3246120" y="107899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Universal attractor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246120" y="13350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ρ∞ is independent of p₀ for a wide range (~0.10 &lt; p₀ &lt; 0.90). This is the signature of a thermodynamic fixed point.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246120" y="177393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∀ p₀ ∈ (0.1, 0.9) :  ρ(t→∞) → ρ∞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090672" y="2203704"/>
            <a:ext cx="5687568" cy="111556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Shape 18"/>
          <p:cNvSpPr/>
          <p:nvPr/>
        </p:nvSpPr>
        <p:spPr>
          <a:xfrm>
            <a:off x="3090672" y="2203704"/>
            <a:ext cx="54864" cy="11155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3246120" y="2295144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Exponential relaxation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246120" y="255117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relaxes exponentially to ρ∞ with time-scale τ_L ~ L^z,   z = 1.66 ± 0.05   (Bagnoli et al., 1993).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246120" y="299008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ρ(t) ≈ ρ∞ + (ρ₀ − ρ∞) e^{−t/τ_L}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090672" y="3419856"/>
            <a:ext cx="5687568" cy="111556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3090672" y="3419856"/>
            <a:ext cx="54864" cy="11155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3246120" y="351129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Spatial correlations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246120" y="37673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length ξ(t) ~ t^{1/z} before saturation. Cells are NOT independent — mean-field fails quantitatively.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46120" y="4206240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ξ(t) ~ t^{1/z},    z ≈ 1.66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0" name="Text 28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</a:rPr>
              <a:t>Conway to LangGraph  ·  University of Bologna</a:t>
            </a:r>
            <a:r>
              <a:rPr lang="en-US" sz="800" dirty="0">
                <a:solidFill>
                  <a:srgbClr val="444444"/>
                </a:solidFill>
              </a:rPr>
              <a:t>   |   </a:t>
            </a:r>
            <a:r>
              <a:rPr lang="en-US" sz="800" b="1" dirty="0">
                <a:solidFill>
                  <a:srgbClr val="CCCCCC"/>
                </a:solidFill>
              </a:rPr>
              <a:t>THE NUMBER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00" dirty="0">
                <a:solidFill>
                  <a:srgbClr val="9999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MEAN-FIELD ANALYSIS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Mean-Field Fails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13816"/>
            <a:ext cx="841248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365760" y="9144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Mean-field approximation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1207008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 cells are independent:  P(alive) = ρ(t).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490472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 rule: dead cell with exactly 3 live neighbors.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65760" y="1773936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P(birth) = C(8,3)·ρ³(1−ρ)⁵  =  56ρ³(1−ρ)⁵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65760" y="2057400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Survival: live cell with 2 or 3 live neighbors.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65760" y="2340864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P(survive) = C(8,2)ρ²(1−ρ)⁶ + 56ρ³(1−ρ)⁵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5760" y="2624328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point:  ρ* = P(birth) + ρ·P(survive) − 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65760" y="2907792"/>
            <a:ext cx="4434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 prediction: ρ* ≈ 5–8%  (depends on p₀)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328416"/>
            <a:ext cx="4434840" cy="65836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365760" y="3328416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AAA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 predicts ~5–8%   </a:t>
            </a:r>
            <a:r>
              <a:rPr lang="en-US" sz="110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vs.</a:t>
            </a: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Flammenkamp 2.87%</a:t>
            </a:r>
            <a:endParaRPr lang="en-US" sz="110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868680"/>
            <a:ext cx="3931920" cy="269748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4937760" y="3584448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Asymptotic density vs. p₀. MF overestimates ρ∞</a:t>
            </a:r>
            <a:endParaRPr lang="en-US" sz="800" dirty="0"/>
          </a:p>
          <a:p>
            <a:pPr marL="0" indent="0" algn="ctr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it ignores spatial correlations and cluster structure.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937760" y="402336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mean-field ignores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937760" y="42976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clusters: still lifes and oscillators are highly correlated structures.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4937760" y="45262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 extend over ξ(t) ~ t^{0.6}: cells are far from independent.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937760" y="475488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9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 objects are large, sparse and stable — not capturable by local ρ alone.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3" name="Text 20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</a:rPr>
              <a:t>Conway to LangGraph  ·  University of Bologna</a:t>
            </a:r>
            <a:r>
              <a:rPr lang="en-US" sz="800" dirty="0">
                <a:solidFill>
                  <a:srgbClr val="444444"/>
                </a:solidFill>
              </a:rPr>
              <a:t>   |   </a:t>
            </a:r>
            <a:r>
              <a:rPr lang="en-US" sz="800" b="1" dirty="0">
                <a:solidFill>
                  <a:srgbClr val="CCCCCC"/>
                </a:solidFill>
              </a:rPr>
              <a:t>MEAN-FIELD vs REALITY</a:t>
            </a:r>
            <a:endParaRPr lang="en-US" sz="800" dirty="0"/>
          </a:p>
        </p:txBody>
      </p:sp>
      <p:grpSp>
        <p:nvGrpSpPr>
          <p:cNvPr id="28" name="Gruppo 27">
            <a:extLst>
              <a:ext uri="{FF2B5EF4-FFF2-40B4-BE49-F238E27FC236}">
                <a16:creationId xmlns:a16="http://schemas.microsoft.com/office/drawing/2014/main" id="{FAD67FD4-054A-4A91-CD7E-A941B80716C2}"/>
              </a:ext>
            </a:extLst>
          </p:cNvPr>
          <p:cNvGrpSpPr/>
          <p:nvPr/>
        </p:nvGrpSpPr>
        <p:grpSpPr>
          <a:xfrm>
            <a:off x="6129072" y="1294416"/>
            <a:ext cx="1984680" cy="1683000"/>
            <a:chOff x="6129072" y="1294416"/>
            <a:chExt cx="1984680" cy="168300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">
              <p14:nvContentPartPr>
                <p14:cNvPr id="25" name="Input penna 24">
                  <a:extLst>
                    <a:ext uri="{FF2B5EF4-FFF2-40B4-BE49-F238E27FC236}">
                      <a16:creationId xmlns:a16="http://schemas.microsoft.com/office/drawing/2014/main" id="{B41AACC1-A410-5F76-B20E-9E962CDE52B5}"/>
                    </a:ext>
                  </a:extLst>
                </p14:cNvPr>
                <p14:cNvContentPartPr/>
                <p14:nvPr/>
              </p14:nvContentPartPr>
              <p14:xfrm>
                <a:off x="6129072" y="1294416"/>
                <a:ext cx="1984680" cy="1143360"/>
              </p14:xfrm>
            </p:contentPart>
          </mc:Choice>
          <mc:Fallback>
            <p:pic>
              <p:nvPicPr>
                <p:cNvPr id="25" name="Input penna 24">
                  <a:extLst>
                    <a:ext uri="{FF2B5EF4-FFF2-40B4-BE49-F238E27FC236}">
                      <a16:creationId xmlns:a16="http://schemas.microsoft.com/office/drawing/2014/main" id="{B41AACC1-A410-5F76-B20E-9E962CDE52B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120432" y="1285776"/>
                  <a:ext cx="2002320" cy="11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6">
              <p14:nvContentPartPr>
                <p14:cNvPr id="26" name="Input penna 25">
                  <a:extLst>
                    <a:ext uri="{FF2B5EF4-FFF2-40B4-BE49-F238E27FC236}">
                      <a16:creationId xmlns:a16="http://schemas.microsoft.com/office/drawing/2014/main" id="{7EA83FAA-9CE5-FBCC-285A-B789B99AFEB9}"/>
                    </a:ext>
                  </a:extLst>
                </p14:cNvPr>
                <p14:cNvContentPartPr/>
                <p14:nvPr/>
              </p14:nvContentPartPr>
              <p14:xfrm>
                <a:off x="6445512" y="1574496"/>
                <a:ext cx="937800" cy="1402920"/>
              </p14:xfrm>
            </p:contentPart>
          </mc:Choice>
          <mc:Fallback>
            <p:pic>
              <p:nvPicPr>
                <p:cNvPr id="26" name="Input penna 25">
                  <a:extLst>
                    <a:ext uri="{FF2B5EF4-FFF2-40B4-BE49-F238E27FC236}">
                      <a16:creationId xmlns:a16="http://schemas.microsoft.com/office/drawing/2014/main" id="{7EA83FAA-9CE5-FBCC-285A-B789B99AFEB9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6436512" y="1565496"/>
                  <a:ext cx="955440" cy="14205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CasellaDiTesto 28">
            <a:extLst>
              <a:ext uri="{FF2B5EF4-FFF2-40B4-BE49-F238E27FC236}">
                <a16:creationId xmlns:a16="http://schemas.microsoft.com/office/drawing/2014/main" id="{E340B9FC-7B33-7E9D-9CF3-4352DC802B9D}"/>
              </a:ext>
            </a:extLst>
          </p:cNvPr>
          <p:cNvSpPr txBox="1"/>
          <p:nvPr/>
        </p:nvSpPr>
        <p:spPr>
          <a:xfrm>
            <a:off x="7946136" y="1682496"/>
            <a:ext cx="9908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 err="1"/>
              <a:t>Exercise</a:t>
            </a:r>
            <a:r>
              <a:rPr lang="it-IT" dirty="0"/>
              <a:t> </a:t>
            </a:r>
          </a:p>
        </p:txBody>
      </p: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1E10DFBE-FB55-41B1-D31C-8E278CEFE476}"/>
              </a:ext>
            </a:extLst>
          </p:cNvPr>
          <p:cNvSpPr txBox="1"/>
          <p:nvPr/>
        </p:nvSpPr>
        <p:spPr>
          <a:xfrm>
            <a:off x="1666064" y="2538460"/>
            <a:ext cx="1605632" cy="369332"/>
          </a:xfrm>
          <a:prstGeom prst="rect">
            <a:avLst/>
          </a:prstGeom>
          <a:solidFill>
            <a:schemeClr val="accent2"/>
          </a:solidFill>
        </p:spPr>
        <p:txBody>
          <a:bodyPr wrap="none" rtlCol="0">
            <a:spAutoFit/>
          </a:bodyPr>
          <a:lstStyle/>
          <a:p>
            <a:r>
              <a:rPr lang="it-IT" dirty="0"/>
              <a:t>See notebook 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00" dirty="0">
                <a:solidFill>
                  <a:srgbClr val="9999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COMPUTABILITY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No Analytic Proof Exists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13816"/>
            <a:ext cx="841248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475488" y="111556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50976" y="1042416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 is Turing-complete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50976" y="1335024"/>
            <a:ext cx="7635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computable function can be encoded as a GoL initial configuration. Gliders act as wires; collisions implement logic gates (AND, OR, NOT).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2064" y="176479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911096"/>
            <a:ext cx="841248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475488" y="207568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0976" y="2002536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Turing-completeness ⟹ Halting Problem applies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50976" y="2295144"/>
            <a:ext cx="7635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any Turing-complete system, there is no general algorithm to determine whether a given computation terminates. Rice's theorem generalizes this.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12064" y="272491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2871216"/>
            <a:ext cx="8412480" cy="822960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475488" y="303580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DDD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0976" y="2962656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Long-term behavior is undecidable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50976" y="3255264"/>
            <a:ext cx="7635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pattern P, it is formally undecidable whether P will ever stabilize, or which attractor it will reach. Proved as a corollary of the Halting Problem.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2064" y="3685032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" y="3831336"/>
            <a:ext cx="8412480" cy="822960"/>
          </a:xfrm>
          <a:prstGeom prst="rect">
            <a:avLst/>
          </a:prstGeom>
          <a:solidFill>
            <a:srgbClr val="1A1A1A"/>
          </a:solidFill>
          <a:ln w="635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475488" y="3995928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4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50976" y="3922776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ρ∞ cannot be derived analytically — the barrier is fundamental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950976" y="4215384"/>
            <a:ext cx="7635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Computing ρ∞ would require predicting the fate of every configuration — equivalent to solving the Halting Problem. This is not a gap in technique; it is a formal impossibility.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</a:rPr>
              <a:t>Conway to LangGraph  ·  University of Bologna</a:t>
            </a:r>
            <a:r>
              <a:rPr lang="en-US" sz="800" dirty="0">
                <a:solidFill>
                  <a:srgbClr val="444444"/>
                </a:solidFill>
              </a:rPr>
              <a:t>   |   </a:t>
            </a:r>
            <a:r>
              <a:rPr lang="en-US" sz="800" b="1" dirty="0">
                <a:solidFill>
                  <a:srgbClr val="CCCCCC"/>
                </a:solidFill>
              </a:rPr>
              <a:t>UNDECIDABILITY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365760" y="914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00" dirty="0">
                <a:solidFill>
                  <a:srgbClr val="9999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PHYSICS READING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365760" y="256032"/>
            <a:ext cx="8412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Flammenkamp's Constant as a Physical Object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365760" y="813816"/>
            <a:ext cx="8412480" cy="18288"/>
          </a:xfrm>
          <a:prstGeom prst="rect">
            <a:avLst/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2697480" cy="148132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50292" cy="148132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493776" y="10241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Fixed-point attractor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93776" y="124358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mechanics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3776" y="140817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ρ∞ is a fixed point of the density map T: ρ↦T(ρ). The system flows toward it from any initial condition, like a thermodynamic equilibrium state.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93776" y="21214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T(ρ∞) = ρ∞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46120" y="950976"/>
            <a:ext cx="2697480" cy="148132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>
            <a:off x="3246120" y="950976"/>
            <a:ext cx="50292" cy="148132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3374136" y="10241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 parameter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74136" y="124358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transitions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3374136" y="140817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ρ(t) plays the role of an order parameter. GoL undergoes an order–disorder transition from soup to ash. ρ∞ is the equilibrium value of the absorbing state.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3374136" y="21214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Φ = ρ∞  (absorbing state)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126480" y="950976"/>
            <a:ext cx="2697480" cy="148132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6126480" y="950976"/>
            <a:ext cx="50292" cy="148132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6254496" y="102412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Renormalization group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254496" y="124358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RG flow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254496" y="1408176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Mean-field is the zeroth-order RG approximation. ρ∞ is the true fixed point of the full RG flow; MF truncation gives the wrong answer because correlations are relevant.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254496" y="212140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ρ*_MF ≈ 5–8%  ≠  ρ∞ = 2.87%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65760" y="2578608"/>
            <a:ext cx="2697480" cy="148132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5" name="Shape 23"/>
          <p:cNvSpPr/>
          <p:nvPr/>
        </p:nvSpPr>
        <p:spPr>
          <a:xfrm>
            <a:off x="365760" y="2578608"/>
            <a:ext cx="50292" cy="1481328"/>
          </a:xfrm>
          <a:prstGeom prst="rect">
            <a:avLst/>
          </a:prstGeom>
          <a:solidFill>
            <a:srgbClr val="888888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493776" y="26517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Self-organized criticality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93776" y="28712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BTW sandpile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93776" y="303580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the Bak–Tang–Wiesenfeld sandpile, GoL self-organizes to a critical state without tuning a control parameter. ρ∞ is the critical density of the absorbing-state transition.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93776" y="3749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tuning parameter → ρ∞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46120" y="2578608"/>
            <a:ext cx="2697480" cy="148132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1" name="Shape 29"/>
          <p:cNvSpPr/>
          <p:nvPr/>
        </p:nvSpPr>
        <p:spPr>
          <a:xfrm>
            <a:off x="3246120" y="2578608"/>
            <a:ext cx="50292" cy="1481328"/>
          </a:xfrm>
          <a:prstGeom prst="rect">
            <a:avLst/>
          </a:prstGeom>
          <a:solidFill>
            <a:srgbClr val="888888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2" name="Text 30"/>
          <p:cNvSpPr/>
          <p:nvPr/>
        </p:nvSpPr>
        <p:spPr>
          <a:xfrm>
            <a:off x="3374136" y="26517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Finite-size scaling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3374136" y="28712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systems near Tc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374136" y="303580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τ_L ~ L^{1.66} is the relaxation timescale. This power-law FSS is structurally identical to spin models near their critical temperature.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3374136" y="3749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τ_L ∝ L^z,   z = 1.66 ± 0.05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26480" y="2578608"/>
            <a:ext cx="2697480" cy="1481328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Shape 35"/>
          <p:cNvSpPr/>
          <p:nvPr/>
        </p:nvSpPr>
        <p:spPr>
          <a:xfrm>
            <a:off x="6126480" y="2578608"/>
            <a:ext cx="50292" cy="1481328"/>
          </a:xfrm>
          <a:prstGeom prst="rect">
            <a:avLst/>
          </a:prstGeom>
          <a:solidFill>
            <a:srgbClr val="888888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6"/>
          <p:cNvSpPr/>
          <p:nvPr/>
        </p:nvSpPr>
        <p:spPr>
          <a:xfrm>
            <a:off x="6254496" y="265176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Undecidability as phase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254496" y="2871216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of chaos (Wolfram Class IV)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254496" y="3035808"/>
            <a:ext cx="2468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IV CAs live at the boundary of order and chaos. GoL is Class IV: its long-term behavior is undecidable. ρ∞ exists and is measurable, but is not derivable — like Chaitin's Ω.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254496" y="3749040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IV  ↔  undecidable long-run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65760" y="4315968"/>
            <a:ext cx="8412480" cy="530352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3" name="Text 41"/>
          <p:cNvSpPr/>
          <p:nvPr/>
        </p:nvSpPr>
        <p:spPr>
          <a:xfrm>
            <a:off x="594360" y="4315968"/>
            <a:ext cx="79552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takeaway: </a:t>
            </a:r>
            <a:r>
              <a:rPr lang="en-US" sz="105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ρ∞ = 2.87115% is an empirical constant like α or G — its existence is clear, its value is measured, but its derivation lies beyond current mathematics.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0" y="4956048"/>
            <a:ext cx="9144000" cy="192024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274320" y="4956048"/>
            <a:ext cx="85953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999999"/>
                </a:solidFill>
              </a:rPr>
              <a:t>Conway to LangGraph  ·  University of Bologna</a:t>
            </a:r>
            <a:r>
              <a:rPr lang="en-US" sz="800" dirty="0">
                <a:solidFill>
                  <a:srgbClr val="444444"/>
                </a:solidFill>
              </a:rPr>
              <a:t>   |   </a:t>
            </a:r>
            <a:r>
              <a:rPr lang="en-US" sz="800" b="1" dirty="0">
                <a:solidFill>
                  <a:srgbClr val="CCCCCC"/>
                </a:solidFill>
              </a:rPr>
              <a:t>PHYSICS READING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1110</Words>
  <Application>Microsoft Macintosh PowerPoint</Application>
  <PresentationFormat>Presentazione su schermo (16:9)</PresentationFormat>
  <Paragraphs>121</Paragraphs>
  <Slides>6</Slides>
  <Notes>6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6</vt:i4>
      </vt:variant>
    </vt:vector>
  </HeadingPairs>
  <TitlesOfParts>
    <vt:vector size="10" baseType="lpstr"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Flammenkamp's Constant</dc:title>
  <dc:subject>PptxGenJS Presentation</dc:subject>
  <dc:creator>Mirko Degli Esposti</dc:creator>
  <cp:lastModifiedBy>Mirko Degli Esposti</cp:lastModifiedBy>
  <cp:revision>2</cp:revision>
  <dcterms:created xsi:type="dcterms:W3CDTF">2026-03-08T21:41:13Z</dcterms:created>
  <dcterms:modified xsi:type="dcterms:W3CDTF">2026-03-09T14:02:24Z</dcterms:modified>
</cp:coreProperties>
</file>