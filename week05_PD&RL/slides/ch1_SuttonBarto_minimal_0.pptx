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Reinforcement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Reinforcement Learning: An Introduction (2nd ed.)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Conway to LangGraph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944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 di Bologna  |  Dipartimento di Fisica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11680" cy="41148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— Introduction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Reinforcement Learning?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to act by interacting with an environment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RL?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60704"/>
            <a:ext cx="50292" cy="69494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152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mapping from situations to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4081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as to maximise a cumulative numerical reward signal.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65376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65376"/>
            <a:ext cx="50292" cy="69494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labelled examples: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212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must discover which actions yield the most reward by trying them.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70048"/>
            <a:ext cx="50292" cy="69494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key distinguishing features: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0175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trial-and-error search  +  delayed reward.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74720"/>
            <a:ext cx="50292" cy="69494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framework: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8221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control of a partially-known Markov Decision Process (MDP).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vs Other Machine Learning Paradigms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vs Supervised / Unsupervised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2670048" cy="3429000"/>
          </a:xfrm>
          <a:prstGeom prst="rect">
            <a:avLst/>
          </a:prstGeom>
          <a:solidFill>
            <a:srgbClr val="F0FBF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0704"/>
            <a:ext cx="50292" cy="342900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8872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572768"/>
            <a:ext cx="2395728" cy="1463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248716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labelled examples.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external teacher provides the correct action.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adequate alone for interactive problems.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060704"/>
            <a:ext cx="267004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60704"/>
            <a:ext cx="50292" cy="3429000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8872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0128" y="1572768"/>
            <a:ext cx="2395728" cy="14630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645920"/>
            <a:ext cx="248716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hidden structure in unlabelled data.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discover patterns,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maximise a reward signal.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60704"/>
            <a:ext cx="2670048" cy="3429000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60704"/>
            <a:ext cx="50292" cy="342900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18872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1572768"/>
            <a:ext cx="2395728" cy="1463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645920"/>
            <a:ext cx="248716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interaction with an environment.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teacher, no labels — only a reward signal.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third, distinct ML paradigm.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Agent-Environment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signals: state, action, reward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Agent-Environment Loop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377440" cy="1188720"/>
          </a:xfrm>
          <a:prstGeom prst="rect">
            <a:avLst/>
          </a:prstGeom>
          <a:solidFill>
            <a:srgbClr val="EEF5FC"/>
          </a:solidFill>
          <a:ln w="19050">
            <a:solidFill>
              <a:srgbClr val="3A7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377440" cy="1188720"/>
          </a:xfrm>
          <a:prstGeom prst="rect">
            <a:avLst/>
          </a:prstGeom>
          <a:solidFill>
            <a:srgbClr val="FFF8DC"/>
          </a:solidFill>
          <a:ln w="19050">
            <a:solidFill>
              <a:srgbClr val="B8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08960" y="1737360"/>
            <a:ext cx="2926080" cy="0"/>
          </a:xfrm>
          <a:prstGeom prst="line">
            <a:avLst/>
          </a:prstGeom>
          <a:noFill/>
          <a:ln w="25400">
            <a:solidFill>
              <a:srgbClr val="2E7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 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2468880"/>
            <a:ext cx="2926080" cy="0"/>
          </a:xfrm>
          <a:prstGeom prst="line">
            <a:avLst/>
          </a:prstGeom>
          <a:noFill/>
          <a:ln w="25400">
            <a:solidFill>
              <a:srgbClr val="B0303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00400" y="2542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st+1  |  Reward rt+1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8412480" cy="566928"/>
          </a:xfrm>
          <a:prstGeom prst="rect">
            <a:avLst/>
          </a:prstGeom>
          <a:solidFill>
            <a:srgbClr val="EEF5FC"/>
          </a:solidFill>
          <a:ln w="15240">
            <a:solidFill>
              <a:srgbClr val="3A7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95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find a policy  p: S -&gt; A  maximising expected cumulative discounted reward  Gt = sum(gamma^k * r_{t+k+1})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Exploration-Exploitation Dilemma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tension unique to reinforcement 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vs Exploitation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4114800" cy="2560320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60704"/>
            <a:ext cx="50292" cy="256032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070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162763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what you already know.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action with the highest estimated value.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Earns reward now but may miss better options.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060704"/>
            <a:ext cx="4114800" cy="2560320"/>
          </a:xfrm>
          <a:prstGeom prst="rect">
            <a:avLst/>
          </a:prstGeom>
          <a:solidFill>
            <a:srgbClr val="FFF8D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60704"/>
            <a:ext cx="50292" cy="2560320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070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64608" y="162763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new actions to gather information.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sacrifice immediate reward.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finding the true optimum.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767328"/>
            <a:ext cx="8412480" cy="475488"/>
          </a:xfrm>
          <a:prstGeom prst="rect">
            <a:avLst/>
          </a:prstGeom>
          <a:solidFill>
            <a:srgbClr val="FFF0F0"/>
          </a:solidFill>
          <a:ln w="15240">
            <a:solidFill>
              <a:srgbClr val="B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856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can be pursued exclusively. This dilemma does not arise in supervised or unsupervised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Elements of an RL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 |  Reward  |  Value Function  |  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4114800" cy="1417320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0704"/>
            <a:ext cx="50292" cy="141732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52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 (pi)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179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from perceived states to actions. The core of the agent — alone it determines behaviour. May be stochastic.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60704"/>
            <a:ext cx="4114800" cy="1417320"/>
          </a:xfrm>
          <a:prstGeom prst="rect">
            <a:avLst/>
          </a:prstGeom>
          <a:solidFill>
            <a:srgbClr val="FFF0F0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60704"/>
            <a:ext cx="50292" cy="141732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52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 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5179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signal from environment at each step. Defines what is immediately good. Primary basis for changing the policy.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4114800" cy="1417320"/>
          </a:xfrm>
          <a:prstGeom prst="rect">
            <a:avLst/>
          </a:prstGeom>
          <a:solidFill>
            <a:srgbClr val="FFF8D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42616"/>
            <a:ext cx="50292" cy="1417320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34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Function  V(s)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09981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cumulative future reward from state s. Indicates long-term desirability. The central challenge: estimating V efficiently.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642616"/>
            <a:ext cx="4114800" cy="1417320"/>
          </a:xfrm>
          <a:prstGeom prst="rect">
            <a:avLst/>
          </a:prstGeom>
          <a:solidFill>
            <a:srgbClr val="F0FBF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42616"/>
            <a:ext cx="50292" cy="141732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734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 (optional)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309981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environment dynamics (s,a) -&gt; (s',r). Enables planning. Model-based vs model-free is a key distinction.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vs Value Function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distinction in RL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vs Value Function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8412480" cy="585216"/>
          </a:xfrm>
          <a:prstGeom prst="rect">
            <a:avLst/>
          </a:prstGeom>
          <a:solidFill>
            <a:srgbClr val="FFF8DC"/>
          </a:solidFill>
          <a:ln w="15240">
            <a:solidFill>
              <a:srgbClr val="B8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"Rewards are like pleasure/pain (immediate). Values are a refined, farsighted judgement of desirability."  — Sutton &amp; Barto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164592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7393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1773936"/>
            <a:ext cx="343814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77393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 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32704" y="1773936"/>
            <a:ext cx="343814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177393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 V(s)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579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84832" y="2121408"/>
            <a:ext cx="34381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215798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directly by environment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32704" y="2121408"/>
            <a:ext cx="34381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215798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estimated from experience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596896"/>
            <a:ext cx="16459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3347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84832" y="2596896"/>
            <a:ext cx="3438144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2633472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(one step)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32704" y="2596896"/>
            <a:ext cx="3438144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24144" y="2633472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 (entire future trajectory)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072384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0896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84832" y="3072384"/>
            <a:ext cx="34381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3108960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problem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32704" y="3072384"/>
            <a:ext cx="34381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24144" y="3108960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action selection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16459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844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Hardness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84832" y="3547872"/>
            <a:ext cx="3438144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584448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observe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32704" y="3547872"/>
            <a:ext cx="3438144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24144" y="3584448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— central algorithmic challenge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Tic-Tac-Toe and TD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Illustrating value functions and temporal-difference updates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Tic-Tac-Toe — TD Learning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84124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60704"/>
            <a:ext cx="50292" cy="676656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188720"/>
            <a:ext cx="402336" cy="402336"/>
          </a:xfrm>
          <a:prstGeom prst="ellipse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133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426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V(s) = 1.0 for won states, 0.0 for lost/draw, 0.5 for all others.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8412480" cy="676656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28800"/>
            <a:ext cx="50292" cy="676656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1956816"/>
            <a:ext cx="402336" cy="402336"/>
          </a:xfrm>
          <a:prstGeom prst="ellipse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play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1945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moves: choose the action leading to the state with the highest V(s).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596896"/>
            <a:ext cx="84124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96896"/>
            <a:ext cx="50292" cy="676656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724912"/>
            <a:ext cx="402336" cy="402336"/>
          </a:xfrm>
          <a:prstGeom prst="ellipse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moves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29626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Occasionally select randomly to visit unseen states (epsilon-greedy).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364992"/>
            <a:ext cx="8412480" cy="676656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64992"/>
            <a:ext cx="50292" cy="676656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3493008"/>
            <a:ext cx="402336" cy="402336"/>
          </a:xfrm>
          <a:prstGeom prst="ellipse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update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730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greedy move:  V(St) &lt;- V(St) + alpha * [ V(St+1) - V(St) 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4187952"/>
            <a:ext cx="8412480" cy="512064"/>
          </a:xfrm>
          <a:prstGeom prst="rect">
            <a:avLst/>
          </a:prstGeom>
          <a:solidFill>
            <a:srgbClr val="F0FBF4"/>
          </a:solidFill>
          <a:ln w="15240">
            <a:solidFill>
              <a:srgbClr val="2E7D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245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alpha * [V(St+1) - V(St)] is a temporal-difference error — the engine of TD learning. The policy improves from interaction alone, with no model of the opponent.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Historical Threads of RL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Trial-and-Error  |  Optimal Control  |  TD Learning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2697480" cy="3401568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0704"/>
            <a:ext cx="50292" cy="3401568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52144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Trial-and-Error Learning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609344"/>
            <a:ext cx="2423160" cy="1463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190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Thorndike's Law of Effect (1911)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2340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Turing's pleasure-pain systems (1948)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" y="296265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Michie: MENACE &amp; BOXES (1961-68)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2064" y="35844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Klopf (1972); Actor-Critic (Barto et al. 1983)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23260" y="1060704"/>
            <a:ext cx="2697480" cy="3401568"/>
          </a:xfrm>
          <a:prstGeom prst="rect">
            <a:avLst/>
          </a:prstGeom>
          <a:solidFill>
            <a:srgbClr val="FFF8D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3260" y="1060704"/>
            <a:ext cx="50292" cy="3401568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2988" y="1152144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Control &amp;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2988" y="1609344"/>
            <a:ext cx="2423160" cy="14630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9564" y="17190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Bellman equation and DP (mid-1950s)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69564" y="2340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Markov Decision Processes (Bellman 1957)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69564" y="296265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iteration (Howard 1960)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9564" y="35844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with RL via Q-learning (1989)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1060704"/>
            <a:ext cx="2697480" cy="3401568"/>
          </a:xfrm>
          <a:prstGeom prst="rect">
            <a:avLst/>
          </a:prstGeom>
          <a:solidFill>
            <a:srgbClr val="F0FBF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060704"/>
            <a:ext cx="50292" cy="3401568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1152144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Temporal-Difference Learning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0488" y="1609344"/>
            <a:ext cx="2423160" cy="1463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17190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Samuel's checkers program (1959)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27064" y="2340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Witten's tabular TD(0) (1977)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27064" y="296265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Sutton's TD(lambda) (1988)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27064" y="35844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Dopamine connection (Schultz et al. 1997)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 Q-Learning (Watkins, 1989)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three threads finally meet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Q-Learning — Watkins 1989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8412480" cy="786384"/>
          </a:xfrm>
          <a:prstGeom prst="rect">
            <a:avLst/>
          </a:prstGeom>
          <a:solidFill>
            <a:srgbClr val="EEF5FC"/>
          </a:solidFill>
          <a:ln w="15240">
            <a:solidFill>
              <a:srgbClr val="3A7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3385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Q(s,a)  &lt;-  Q(s,a)  +  alpha * [ r  +  gamma * max_a' Q(s',a')  -  Q(s,a)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14800" cy="1152144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11680"/>
            <a:ext cx="50292" cy="115214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03120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Off-policy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468880"/>
            <a:ext cx="3950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optimal Q* regardless of the behaviour policy used to collect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4114800" cy="1152144"/>
          </a:xfrm>
          <a:prstGeom prst="rect">
            <a:avLst/>
          </a:prstGeom>
          <a:solidFill>
            <a:srgbClr val="F0FBF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011680"/>
            <a:ext cx="50292" cy="1152144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103120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Model-free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468880"/>
            <a:ext cx="3950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transition model needed. Updates driven by sampled (s, a, r, s') tuples.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4114800" cy="1152144"/>
          </a:xfrm>
          <a:prstGeom prst="rect">
            <a:avLst/>
          </a:prstGeom>
          <a:solidFill>
            <a:srgbClr val="FFF8D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28416"/>
            <a:ext cx="50292" cy="1152144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19856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root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785616"/>
            <a:ext cx="3950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TD error  delta = r + gamma*max Q(s',a') - Q(s,a)  is the Bellman residual.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328416"/>
            <a:ext cx="4114800" cy="1152144"/>
          </a:xfrm>
          <a:prstGeom prst="rect">
            <a:avLst/>
          </a:prstGeom>
          <a:solidFill>
            <a:srgbClr val="FFF0F0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328416"/>
            <a:ext cx="50292" cy="1152144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419856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3785616"/>
            <a:ext cx="3950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to converge to Q* in the tabular case under standard step-size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vs Model-Free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vs Model-Free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4297680" cy="3383280"/>
          </a:xfrm>
          <a:prstGeom prst="rect">
            <a:avLst/>
          </a:prstGeom>
          <a:solidFill>
            <a:srgbClr val="F0FBF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0704"/>
            <a:ext cx="50292" cy="338328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70432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1572768"/>
            <a:ext cx="4041648" cy="1463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1907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a learned or given model: P(s'|s,a) and R(s,a)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2064" y="235915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planning before execution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" y="29992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when an accurate model is available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" y="363931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model errors propagate into value estimates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1060704"/>
            <a:ext cx="4297680" cy="3383280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060704"/>
            <a:ext cx="50292" cy="338328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170432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Model-Free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56048" y="1572768"/>
            <a:ext cx="4041648" cy="14630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171907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Learns directly from raw interaction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235915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transition model — avoids modelling errors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92624" y="29992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Q-learning, SARSA, TD(lambda) are canonical examples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363931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Building block for hybrid model-based methods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—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Sutton &amp; Barto — RL: An Introduction  |  UniBo, Dip. di Fisica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4114800" cy="969264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0704"/>
            <a:ext cx="50292" cy="96926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353312"/>
            <a:ext cx="347472" cy="347472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170432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is a third ML paradigm: evaluative feedback, not labelled examples or latent structure.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60704"/>
            <a:ext cx="4114800" cy="969264"/>
          </a:xfrm>
          <a:prstGeom prst="rect">
            <a:avLst/>
          </a:prstGeom>
          <a:solidFill>
            <a:srgbClr val="FFF0F0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60704"/>
            <a:ext cx="50292" cy="969264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353312"/>
            <a:ext cx="347472" cy="3474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1170432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Trial-and-error search + delayed reward are the two distinguishing features.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176272"/>
            <a:ext cx="4114800" cy="969264"/>
          </a:xfrm>
          <a:prstGeom prst="rect">
            <a:avLst/>
          </a:prstGeom>
          <a:solidFill>
            <a:srgbClr val="FFF8D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76272"/>
            <a:ext cx="50292" cy="969264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2286000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building blocks: policy, reward signal, value function, model (optional).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176272"/>
            <a:ext cx="4114800" cy="969264"/>
          </a:xfrm>
          <a:prstGeom prst="rect">
            <a:avLst/>
          </a:prstGeom>
          <a:solidFill>
            <a:srgbClr val="F0FBF4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76272"/>
            <a:ext cx="50292" cy="969264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2468880"/>
            <a:ext cx="347472" cy="347472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0368" y="2286000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functions are central: they enable efficient policy improvement beyond evolutionary search.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4114800" cy="969264"/>
          </a:xfrm>
          <a:prstGeom prst="rect">
            <a:avLst/>
          </a:prstGeom>
          <a:solidFill>
            <a:srgbClr val="EEF5F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291840"/>
            <a:ext cx="50292" cy="969264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584448"/>
            <a:ext cx="347472" cy="347472"/>
          </a:xfrm>
          <a:prstGeom prst="rect">
            <a:avLst/>
          </a:prstGeom>
          <a:solidFill>
            <a:srgbClr val="3A78A8"/>
          </a:solidFill>
          <a:ln w="12700">
            <a:solidFill>
              <a:srgbClr val="3A78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3401568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vs exploitation is a fundamental, unresolved dilemma unique to RL.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3291840"/>
            <a:ext cx="4114800" cy="969264"/>
          </a:xfrm>
          <a:prstGeom prst="rect">
            <a:avLst/>
          </a:prstGeom>
          <a:solidFill>
            <a:srgbClr val="FFF8DC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291840"/>
            <a:ext cx="50292" cy="969264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3584448"/>
            <a:ext cx="347472" cy="347472"/>
          </a:xfrm>
          <a:prstGeom prst="rect">
            <a:avLst/>
          </a:prstGeom>
          <a:solidFill>
            <a:srgbClr val="B88A00"/>
          </a:solidFill>
          <a:ln w="12700">
            <a:solidFill>
              <a:srgbClr val="B88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0368" y="3401568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Q-learning (Watkins 1989) unified the three historical threads into modern RL.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Chapter 1 – Sutton &amp; Barto</dc:title>
  <dc:subject>PptxGenJS Presentation</dc:subject>
  <dc:creator>PptxGenJS</dc:creator>
  <cp:lastModifiedBy>PptxGenJS</cp:lastModifiedBy>
  <cp:revision>1</cp:revision>
  <dcterms:created xsi:type="dcterms:W3CDTF">2026-04-13T13:26:14Z</dcterms:created>
  <dcterms:modified xsi:type="dcterms:W3CDTF">2026-04-13T13:26:14Z</dcterms:modified>
</cp:coreProperties>
</file>