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8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Case Studies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R(s,a) and P(s’|s,a) enter Chess, Poker, and GridWorld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926080" y="2450592"/>
            <a:ext cx="3291840" cy="0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257860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Reinforcement Learning: The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Dipartimento di Fisica, UniBo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Quantities That Must Be Defined in Every MDP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Bellman optimality equation for Q*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987552"/>
            <a:ext cx="832104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11480" y="987552"/>
            <a:ext cx="64008" cy="5943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98755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  =  R(s,a)  +  γ Σₛ’ P(s’|s,a) · maxₐ’ Q*(s’,a’)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3858768" cy="2487168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11480" y="1719072"/>
            <a:ext cx="64008" cy="2487168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3630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 —  The reward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084832"/>
            <a:ext cx="3630168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the environment gives the agent after taking action a in state s.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Dense: non-zero at every step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Sparse: zero almost everywhere, non-zero only at terminal states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Mixed: small per-step cost + large terminal reward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73752" y="1719072"/>
            <a:ext cx="3858768" cy="2487168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873752" y="1719072"/>
            <a:ext cx="64008" cy="248716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010912" y="1755648"/>
            <a:ext cx="3630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 —  The transition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0912" y="2084832"/>
            <a:ext cx="3630168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over next states given s and action a.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Deterministic: exactly one s’ with probability 1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Stochastic: a distribution over multiple s’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Hidden: agent cannot observe the true s (POMDP)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4315968"/>
            <a:ext cx="8321040" cy="658368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11480" y="4315968"/>
            <a:ext cx="64008" cy="658368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43159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is model-free: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needs to write down R or P explicitly. Instead it observes the reward r directly, and the environment samples s’ from P automatically when the agent takes action a. The table is filled in by experience, not by specification.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 Chess  —  Deterministic Transitions, Sparse Terminal Reward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3931920" cy="3200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5214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9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1152144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configuration — positions of all 32 pieces (up to ~10⁴³ states)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9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5296" y="1719072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moves (~20 on average, up to 218 in one position)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9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286000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win · −1 loss · 0 draw — emitted only at the final move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85292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9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5296" y="2852928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board encodes the full game state; no hidden information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749808"/>
            <a:ext cx="4069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791456" y="80467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 —  deterministic, but huge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11556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board s and legal move a, exactly one board position s’ results. The sum ΣP[…] collapses to a single term. Q-learning observes s’ directly without needing to enumerate ~10⁴³ states.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91456" y="1920240"/>
            <a:ext cx="367588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91456" y="199339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 —  sparse terminal reward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2304288"/>
            <a:ext cx="38221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non-terminal moves: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R(s,a) = 0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final move only: R = +1, −1, or 0.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for non-terminal s: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Q*(s,a) = γ maxₐ’ Q*(s’,a’)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64008" cy="658368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48640" y="40416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difficulty: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must play a full game (~40 moves) before receiving any reward signal. The +1 or −1 at the end propagates backward through γᵗ discounting. With γ = 0.99 and t = 40 moves, the first move receives γ⁴⁰ ≈ 0.67 of the terminal reward. Sparse reward is the hardest case for Q-learning.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Poker  —  Partial Observability Breaks the Markov Property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3931920" cy="3200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5214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1152144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cards + own hand  (opponent’s hand is hidden)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5296" y="1719072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Fold, call, raise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286000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won/lost at showdown  (terminal reward only)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85292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5296" y="2852928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opponent’s cards are hidden; observed state is incomplete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749808"/>
            <a:ext cx="4069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791456" y="700596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 —  ill-defined from the agent’s perspective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118394"/>
            <a:ext cx="3822192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game state is: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(own hand, opp. hand, board cards)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observes only: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(own hand, board cards)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P(s’|s_obs, a) now integrates over all possible opponent hands consistent with the observation. This is a POMDP (Partially Observable MDP).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91456" y="3090672"/>
            <a:ext cx="367588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91456" y="314553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 —  sparse, high variance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345643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won/lost at showdown only. Same optimal strategy can produce wildly different outcomes due to card randomness.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F3EFFE"/>
          </a:solidFill>
          <a:ln w="9525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64008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48640" y="4041647"/>
            <a:ext cx="8138160" cy="85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POMDP solution: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must maintain a belief state — a probability distribution over all full game states consistent with what it has observed. The agent acts on this belief state rather than the observed state. Standard Q-learning cannot be applied directly; it requires extensions (e.g. Q-learning over belief states, or CFR for poker).</a:t>
            </a:r>
          </a:p>
          <a:p>
            <a:pPr marL="0" indent="0">
              <a:buNone/>
            </a:pPr>
            <a:endParaRPr lang="en-US" sz="12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it-IT" sz="1000" b="1" dirty="0"/>
              <a:t>CFR — </a:t>
            </a:r>
            <a:r>
              <a:rPr lang="it-IT" sz="1000" b="1" dirty="0" err="1"/>
              <a:t>Counterfactual</a:t>
            </a:r>
            <a:r>
              <a:rPr lang="it-IT" sz="1000" b="1" dirty="0"/>
              <a:t> </a:t>
            </a:r>
            <a:r>
              <a:rPr lang="it-IT" sz="1000" b="1" dirty="0" err="1"/>
              <a:t>Regret</a:t>
            </a:r>
            <a:r>
              <a:rPr lang="it-IT" sz="1000" b="1" dirty="0"/>
              <a:t> </a:t>
            </a:r>
            <a:r>
              <a:rPr lang="it-IT" sz="1000" b="1" dirty="0" err="1"/>
              <a:t>Minimization</a:t>
            </a:r>
            <a:r>
              <a:rPr lang="it-IT" sz="1000" dirty="0"/>
              <a:t> è l'algoritmo che ha risolto il Texas Hold'em a due giocatori (</a:t>
            </a:r>
            <a:r>
              <a:rPr lang="it-IT" sz="1000" dirty="0" err="1"/>
              <a:t>Libratus</a:t>
            </a:r>
            <a:r>
              <a:rPr lang="it-IT" sz="1000" dirty="0"/>
              <a:t>, 2017; Pluribus, 2019).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  GridWorld  —  The Pedagogically Clean Case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3931920" cy="3200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5214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4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1152144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(row, col)  —  5×5 = 25 states, each fully observable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4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5296" y="1719072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Up, Down, Left, Right  (4 discrete actions)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4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286000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 per step  +  +1.0 at goal cell (3,4)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85292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4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5296" y="2852928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current position fully describes the state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749808"/>
            <a:ext cx="4069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791456" y="80467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 —  deterministic, one non-zero term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170432"/>
            <a:ext cx="3822192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Right from (r,c):
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P((r,c+1)|(r,c), Right) = 1   if (r,c+1) is free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P((r,c)  |(r,c), Right) = 1   if blocked by wall
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does this implicitly: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valid: self.state = (nr, nc)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else:     self.state unchanged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observes s’ without knowing 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91456" y="3008898"/>
            <a:ext cx="367588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91456" y="292995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 —  mixed dense + terminal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345643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cost −0.01 penalises long paths.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+1.0 rewards reaching the goal.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make the optimal policy the shortest path.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64008" cy="658368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48640" y="40416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step cost −0.01 is essential: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every path to the goal is equally valued (pure terminal reward = Chess). With it, Q*(s, a_opt) ≈ γᵈ · 1 − 0.01 · (1−γᵈ)/(1−γ) for a cell at distance d. The term penalising length makes the greedy policy extract the shortest path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Comparison: R, P, and Q-Learning Applicability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77240"/>
          <a:ext cx="8321040" cy="395020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♟  Chess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♥  Poker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▦  GridWorld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P(s’|s,a)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(one s’ per move)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 + partially hidden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(POMDP)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(move or bounce)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ΣP[...]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term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(collapses to one s’)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Integral over hidden cards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(ill-defined from obs.)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term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(collapses to one s’)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R(s,a)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 at game end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(pure sparse)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±chips at showdown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(sparse + high variance)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 every 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at goal (mixed)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terminal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terminal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+ terminal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Markov?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(board = full state)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(opponent hand hidden)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(position = full state)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Q-learning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Intractable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(~10⁴³ states)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(non-Markovian)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 × 4 = 100 entries)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(MCTS + neural net)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CFR / belief-state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(this notebook!)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GridWorld: Where P(s’|s,a) and R(s,a) Live in the 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6352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env.step(action) method implements both P and R simultaneously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969264"/>
            <a:ext cx="5029200" cy="233172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30352" y="1024128"/>
            <a:ext cx="47914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step(self, action):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nr, nc = r+dr, c+dc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P(s'|s,a): transition model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valid(nr,nc) and not wall: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(nr,nc)  # P=1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else: unchanged  # P=1 bounce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R(s,a): reward model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self.state == goal: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state, +1.0, True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state, -0.01, False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15000" y="982980"/>
            <a:ext cx="3044952" cy="233172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687568" y="969264"/>
            <a:ext cx="64008" cy="233172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824728" y="1024128"/>
            <a:ext cx="281635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is implicit:
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if/else block is the transition function. The environment never stores a matrix P — it executes the physics. Q-learning reads s’ from self.state.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is conditional: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r=−0.01 every non-goal step; r=+1.0 at the goal. The Bellman equation accumulates these via discounted return.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712464"/>
            <a:ext cx="832104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11480" y="3712464"/>
            <a:ext cx="64008" cy="5943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8640" y="3712464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 ←  Q(s,a)  +  α [ r  +  γ maxₐ’ Q(s’,a’)  −  Q(s,a) ]     ←  r and s’ come from env.step(a)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1480" y="4416552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30352" y="44119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Q-learning agent uses r and s’ directly — R and P never appear explicitly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R(s,a) = −0.01 per Step Is Not Optional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6352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step cost: pure terminal reward (like Chess)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969264"/>
            <a:ext cx="8321040" cy="566928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11480" y="969264"/>
            <a:ext cx="64008" cy="566928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9692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= 0 for all non-goal states  ⇒  Q*(s,a) = γᵈ for any path of length d to the goal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160934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to the goal has the same Q-value. The greedy policy is arbitrary — there is no incentive to take the shortest route. The agent may wander and still converge to a ‘correct’ but suboptimal policy.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0352" y="21899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step cost: shortest-path incentive built into the Bellman equation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395728"/>
            <a:ext cx="8321040" cy="566928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11480" y="2395728"/>
            <a:ext cx="64008" cy="566928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48640" y="23957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= −0.01 per step  ⇒  Q*(s, a_opt) ≈ γᵈ · 1 − 0.01 · (1−γᵈ)/(1−γ)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" y="301752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term grows with path length d. A longer path means more −0.01 penalties. The greedy policy therefore selects the action that minimises d — the shortest path emerges automatically from the Bellman equation.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3717666"/>
            <a:ext cx="3858768" cy="1078992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11480" y="3621024"/>
            <a:ext cx="64008" cy="107899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36301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terminal reward  (γ=0.9, d=6)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 = 0.9⁶ = 0.531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 = 0.9³ = 0.729 (d=3)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shorter path preferred... but only weakly via γ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73752" y="3739968"/>
            <a:ext cx="3858768" cy="1078992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873752" y="3621024"/>
            <a:ext cx="64008" cy="1078992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010912" y="3672468"/>
            <a:ext cx="36301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step cost  (γ=0.9, d=6)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 ≈ 0.531 − 0.063 = 0.468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 ≈ 0.729 − 0.029 = 0.700 (d=3)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explicit penalty for length: shorter ≫ longer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1934</Words>
  <Application>Microsoft Macintosh PowerPoint</Application>
  <PresentationFormat>Presentazione su schermo (16:9)</PresentationFormat>
  <Paragraphs>184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 Case Studies: R, P, and Q-Learning</dc:title>
  <dc:subject>PptxGenJS Presentation</dc:subject>
  <dc:creator>PptxGenJS</dc:creator>
  <cp:lastModifiedBy>Mirko Degli Esposti</cp:lastModifiedBy>
  <cp:revision>3</cp:revision>
  <dcterms:created xsi:type="dcterms:W3CDTF">2026-04-14T16:02:25Z</dcterms:created>
  <dcterms:modified xsi:type="dcterms:W3CDTF">2026-04-14T16:42:54Z</dcterms:modified>
</cp:coreProperties>
</file>