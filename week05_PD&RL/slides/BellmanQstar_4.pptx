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4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245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E8E1F-E15A-102C-9412-7C7957836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D4856E-377F-74F8-1A6E-83A608570A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02A4EA-DD99-283C-3ADA-5983CC0376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C45CAE-B8DD-5D9E-58F5-0F2CA35EFB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6068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645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A9ECC"/>
          </a:solidFill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7680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Bellman to Q-Learning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029968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Derivation: 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r>
              <a:rPr lang="en-US" sz="1600" baseline="3000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π</a:t>
            </a:r>
            <a:r>
              <a:rPr lang="en-US" sz="14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r>
              <a:rPr lang="en-US" sz="1600" baseline="30000" dirty="0">
                <a:solidFill>
                  <a:schemeClr val="bg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</a:t>
            </a:r>
            <a:r>
              <a:rPr lang="en-US" sz="14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Optimality Equations, and the Update Rule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2926080" y="2697480"/>
            <a:ext cx="3291840" cy="0"/>
          </a:xfrm>
          <a:prstGeom prst="line">
            <a:avLst/>
          </a:prstGeom>
          <a:noFill/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— Reinforcement Learning: The Idea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318211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Conway to LangGraph  ·  Dipartimento di Fisica, UniBo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84048" y="0"/>
            <a:ext cx="8375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Point: The Two Bellman Equations for Policy π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457200" y="4873752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Conway to LangGraph  ·  Università di Bologna  ·  Week 5 — Reinforcement Learning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786384"/>
            <a:ext cx="54864" cy="201168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30352" y="7818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coupled equations (valid for any fixed policy π)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005840"/>
            <a:ext cx="8321040" cy="585216"/>
          </a:xfrm>
          <a:prstGeom prst="rect">
            <a:avLst/>
          </a:prstGeom>
          <a:solidFill>
            <a:srgbClr val="EBF4FA"/>
          </a:solidFill>
          <a:ln w="9525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411480" y="1005840"/>
            <a:ext cx="64008" cy="585216"/>
          </a:xfrm>
          <a:prstGeom prst="rect">
            <a:avLst/>
          </a:prstGeom>
          <a:solidFill>
            <a:srgbClr val="4A9ECC"/>
          </a:solidFill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548640" y="1005840"/>
            <a:ext cx="8138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r>
              <a:rPr lang="en-US" sz="1350" baseline="30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π</a:t>
            </a:r>
            <a:r>
              <a:rPr lang="en-US" sz="13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(s)  =  Σₐ  π(a|s) · Q</a:t>
            </a:r>
            <a:r>
              <a:rPr lang="en-US" sz="1350" baseline="30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</a:t>
            </a:r>
            <a:r>
              <a:rPr lang="en-US" sz="13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(s, a)          ←  value = weighted average over actions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11480" y="1682496"/>
            <a:ext cx="8321040" cy="585216"/>
          </a:xfrm>
          <a:prstGeom prst="rect">
            <a:avLst/>
          </a:prstGeom>
          <a:solidFill>
            <a:srgbClr val="EBF4FA"/>
          </a:solidFill>
          <a:ln w="9525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411480" y="1682496"/>
            <a:ext cx="64008" cy="585216"/>
          </a:xfrm>
          <a:prstGeom prst="rect">
            <a:avLst/>
          </a:prstGeom>
          <a:solidFill>
            <a:srgbClr val="4A9ECC"/>
          </a:solidFill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548640" y="1682496"/>
            <a:ext cx="8138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r>
              <a:rPr lang="en-US" sz="1350" baseline="30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</a:t>
            </a:r>
            <a:r>
              <a:rPr lang="en-US" sz="13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(s, a)  =  R(s, a)  +  </a:t>
            </a:r>
            <a:r>
              <a:rPr lang="en-US" sz="135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</a:t>
            </a:r>
            <a:r>
              <a:rPr lang="en-US" sz="13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r>
              <a:rPr lang="en-US" sz="1350" baseline="-250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1350" baseline="-25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’</a:t>
            </a:r>
            <a:r>
              <a:rPr lang="en-US" sz="13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P(s’|s,a) · V </a:t>
            </a:r>
            <a:r>
              <a:rPr lang="en-US" sz="1350" baseline="30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</a:t>
            </a:r>
            <a:r>
              <a:rPr lang="en-US" sz="13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(s’)      ←  Q = reward + discounted future V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11480" y="2414016"/>
            <a:ext cx="54864" cy="201168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530352" y="240944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these equations say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2615184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r>
              <a:rPr lang="en-US" sz="1200" baseline="30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π</a:t>
            </a: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(s) </a:t>
            </a: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average of Q over all actions, weighted by how often policy π selects each action.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94360" y="294436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r>
              <a:rPr lang="en-US" sz="1200" baseline="30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</a:t>
            </a: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(s, a)  </a:t>
            </a: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immediate reward plus the discounted value of wherever you land next.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11480" y="3364992"/>
            <a:ext cx="54864" cy="201168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530352" y="33604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a free parameter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35661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equations contain π as a free parameter. Different policies give different functions. There is an infinite family of solutions — one per policy. The question for optimality: what do these equations become when we choose the best policy?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84048" y="0"/>
            <a:ext cx="8375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Optimal Value Functions V* and Q*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457200" y="4873752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Conway to LangGraph  ·  Università di Bologna  ·  Week 5 — Reinforcement Learning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786384"/>
            <a:ext cx="54864" cy="201168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30352" y="7818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over all possible policies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98755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all policies π, define the one(s) that maximise the total discounted reward from every state simultaneously: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" y="1389888"/>
            <a:ext cx="3858768" cy="713232"/>
          </a:xfrm>
          <a:prstGeom prst="rect">
            <a:avLst/>
          </a:prstGeom>
          <a:solidFill>
            <a:srgbClr val="EBF4FA"/>
          </a:solidFill>
          <a:ln w="9525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411480" y="1389888"/>
            <a:ext cx="64008" cy="713232"/>
          </a:xfrm>
          <a:prstGeom prst="rect">
            <a:avLst/>
          </a:prstGeom>
          <a:solidFill>
            <a:srgbClr val="4A9ECC"/>
          </a:solidFill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548640" y="1389888"/>
            <a:ext cx="3675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V*(s)  =  max_π </a:t>
            </a: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r>
              <a:rPr lang="en-US" sz="1200" baseline="30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π</a:t>
            </a: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(s) 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achievable total reward starting from 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873752" y="1389888"/>
            <a:ext cx="3858768" cy="713232"/>
          </a:xfrm>
          <a:prstGeom prst="rect">
            <a:avLst/>
          </a:prstGeom>
          <a:solidFill>
            <a:srgbClr val="EBF4FA"/>
          </a:solidFill>
          <a:ln w="9525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4873752" y="1389888"/>
            <a:ext cx="64008" cy="713232"/>
          </a:xfrm>
          <a:prstGeom prst="rect">
            <a:avLst/>
          </a:prstGeom>
          <a:solidFill>
            <a:srgbClr val="4A9ECC"/>
          </a:solidFill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5010912" y="1389888"/>
            <a:ext cx="3675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Q*(s,a)  =  max_π </a:t>
            </a: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r>
              <a:rPr lang="en-US" sz="1200" baseline="30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</a:t>
            </a: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(s, a) 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reward: force action a, then act optimally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11480" y="2249424"/>
            <a:ext cx="54864" cy="201168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530352" y="22448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Q*(s,a) decomposes into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2450592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Q*(s,a) has two parts: (1) you take action a in state s — fixed and forced, regardless of what any policy would have chosen; (2) from the resulting state s’ onward, you act optimally. The * refers entirely to step (2).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11480" y="3035808"/>
            <a:ext cx="54864" cy="201168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530352" y="303123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Q* is more useful than V*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3246120"/>
            <a:ext cx="3858768" cy="1389888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530352" y="3291840"/>
            <a:ext cx="363931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V*(s)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you how good a state is.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to extract the best action you still need P(s’|s,a): argmaxₐ Σ P(s’|s,a) V*(s’).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873752" y="3246120"/>
            <a:ext cx="3858768" cy="1389888"/>
          </a:xfrm>
          <a:prstGeom prst="rect">
            <a:avLst/>
          </a:prstGeom>
          <a:solidFill>
            <a:srgbClr val="EAFAF1"/>
          </a:solidFill>
          <a:ln w="9525">
            <a:solidFill>
              <a:srgbClr val="44AA6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4873752" y="3246120"/>
            <a:ext cx="64008" cy="1389888"/>
          </a:xfrm>
          <a:prstGeom prst="rect">
            <a:avLst/>
          </a:prstGeom>
          <a:solidFill>
            <a:srgbClr val="44AA66"/>
          </a:solidFill>
          <a:ln w="12700">
            <a:solidFill>
              <a:srgbClr val="44AA6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5010912" y="3291840"/>
            <a:ext cx="363931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Q*(s,a)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you the value of each (s,a) pair directly.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policy is trivially read off: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π*(s)  =  argmaxₐ Q*(s,a)  — no model needed.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84048" y="0"/>
            <a:ext cx="8375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Crucial Link: V*(s)  =  maxₐ Q*(s,a)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457200" y="4873752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Conway to LangGraph  ·  Università di Bologna  ·  Week 5 — Reinforcement Learning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786384"/>
            <a:ext cx="54864" cy="201168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30352" y="7818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policy vs optimal policy: the average collapses to a max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1230130"/>
              </p:ext>
            </p:extLst>
          </p:nvPr>
        </p:nvGraphicFramePr>
        <p:xfrm>
          <a:off x="411480" y="1005840"/>
          <a:ext cx="8321040" cy="17830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policy π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Optimal policy π*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in terms of Q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r>
                        <a:rPr lang="en-US" sz="1400" baseline="30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π</a:t>
                      </a:r>
                      <a:r>
                        <a:rPr lang="en-US" sz="14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(s)</a:t>
                      </a:r>
                      <a:r>
                        <a:rPr lang="en-US" sz="12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Σₐ π(a|s) · </a:t>
                      </a:r>
                      <a:r>
                        <a:rPr lang="en-US" sz="14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</a:t>
                      </a:r>
                      <a:r>
                        <a:rPr lang="en-US" sz="1400" baseline="30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</a:t>
                      </a:r>
                      <a:r>
                        <a:rPr lang="en-US" sz="14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(s, a) </a:t>
                      </a:r>
                      <a:endParaRPr lang="en-US" sz="16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V*(s) = maxₐ Q*(s,a)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character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Stochastic — mixes actions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 — one best action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 on Q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average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maximum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11480" y="2907792"/>
            <a:ext cx="54864" cy="201168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530352" y="29032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must be true (not an assumption)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4360" y="3108960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V*(s) is defined as the maximum of Vᵃ(s) over all π. The optimal policy puts all probability on the single best action: π*(a|s) = 1 if a = argmax Q*, else 0. Inserting this into Σₐ π*(a|s) Q*(s,a) immediately gives maxₐ Q*(s,a). No assumptions needed.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11480" y="3703320"/>
            <a:ext cx="8321040" cy="749808"/>
          </a:xfrm>
          <a:prstGeom prst="rect">
            <a:avLst/>
          </a:prstGeom>
          <a:solidFill>
            <a:srgbClr val="FEF9E7"/>
          </a:solidFill>
          <a:ln w="9525">
            <a:solidFill>
              <a:srgbClr val="C89A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0"/>
          <p:cNvSpPr/>
          <p:nvPr/>
        </p:nvSpPr>
        <p:spPr>
          <a:xfrm>
            <a:off x="411480" y="3703320"/>
            <a:ext cx="64008" cy="749808"/>
          </a:xfrm>
          <a:prstGeom prst="rect">
            <a:avLst/>
          </a:prstGeom>
          <a:solidFill>
            <a:srgbClr val="C89A00"/>
          </a:solidFill>
          <a:ln w="12700">
            <a:solidFill>
              <a:srgbClr val="C89A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548640" y="3703320"/>
            <a:ext cx="8138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V*(s) = maxₐ Q*(s,a) is the bridge that converts the sum-over-π in the general Bellman equation into the max-over-a in the optimality equation. This single substitution is what creates the self-referential fixed-point equation for Q*.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84048" y="0"/>
            <a:ext cx="8375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the Bellman Optimality Equation for Q*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457200" y="4873752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Conway to LangGraph  ·  Università di Bologna  ·  Week 5 — Reinforcement Learning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777240"/>
            <a:ext cx="54864" cy="201168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30352" y="7726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substitutions — nothing else needed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987552"/>
            <a:ext cx="274320" cy="27432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11480" y="987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6384" y="987552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the general Bellman equation for </a:t>
            </a: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r>
              <a:rPr lang="en-US" sz="1200" baseline="30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π.    </a:t>
            </a: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valid for any policy, including π*: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11480" y="1307592"/>
            <a:ext cx="8321040" cy="512064"/>
          </a:xfrm>
          <a:prstGeom prst="rect">
            <a:avLst/>
          </a:prstGeom>
          <a:solidFill>
            <a:srgbClr val="EBF4FA"/>
          </a:solidFill>
          <a:ln w="9525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411480" y="1307592"/>
            <a:ext cx="64008" cy="512064"/>
          </a:xfrm>
          <a:prstGeom prst="rect">
            <a:avLst/>
          </a:prstGeom>
          <a:solidFill>
            <a:srgbClr val="4A9ECC"/>
          </a:solidFill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548640" y="1307592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r>
              <a:rPr lang="en-US" sz="1200" baseline="30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</a:t>
            </a:r>
            <a:r>
              <a:rPr lang="en-US" sz="13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(s, a)  =  R(s, a)  +  </a:t>
            </a:r>
            <a:r>
              <a:rPr lang="en-US" sz="135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</a:t>
            </a:r>
            <a:r>
              <a:rPr lang="en-US" sz="13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r>
              <a:rPr lang="en-US" sz="1350" baseline="-250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1350" baseline="-25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’ </a:t>
            </a:r>
            <a:r>
              <a:rPr lang="en-US" sz="13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P(s’|s,a) · </a:t>
            </a: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r>
              <a:rPr lang="en-US" sz="1200" baseline="30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π</a:t>
            </a:r>
            <a:r>
              <a:rPr lang="en-US" sz="13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(s’)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11480" y="1920240"/>
            <a:ext cx="274320" cy="27432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411480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86384" y="19202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Specialise to π = π* (the optimal policy):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11480" y="2240280"/>
            <a:ext cx="8321040" cy="512064"/>
          </a:xfrm>
          <a:prstGeom prst="rect">
            <a:avLst/>
          </a:prstGeom>
          <a:solidFill>
            <a:srgbClr val="EBF4FA"/>
          </a:solidFill>
          <a:ln w="9525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411480" y="2240280"/>
            <a:ext cx="64008" cy="512064"/>
          </a:xfrm>
          <a:prstGeom prst="rect">
            <a:avLst/>
          </a:prstGeom>
          <a:solidFill>
            <a:srgbClr val="4A9ECC"/>
          </a:solidFill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548640" y="224028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Q*(s, a)  =  R(s, a)  +  </a:t>
            </a:r>
            <a:r>
              <a:rPr lang="en-US" sz="135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</a:t>
            </a:r>
            <a:r>
              <a:rPr lang="en-US" sz="13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r>
              <a:rPr lang="en-US" sz="1350" baseline="-250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1350" baseline="-25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’  </a:t>
            </a:r>
            <a:r>
              <a:rPr lang="en-US" sz="13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P(s’|s,a) · V*(s’)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11480" y="2852928"/>
            <a:ext cx="274320" cy="27432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411480" y="2852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86384" y="285292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 V*(s’) = maxₐ Q*(s’,a’) from the previous slide: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11480" y="3172968"/>
            <a:ext cx="8321040" cy="658368"/>
          </a:xfrm>
          <a:prstGeom prst="rect">
            <a:avLst/>
          </a:prstGeom>
          <a:solidFill>
            <a:srgbClr val="FEF9E7"/>
          </a:solidFill>
          <a:ln w="12700">
            <a:solidFill>
              <a:srgbClr val="C89A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Shape 22"/>
          <p:cNvSpPr/>
          <p:nvPr/>
        </p:nvSpPr>
        <p:spPr>
          <a:xfrm>
            <a:off x="411480" y="3172968"/>
            <a:ext cx="64008" cy="658368"/>
          </a:xfrm>
          <a:prstGeom prst="rect">
            <a:avLst/>
          </a:prstGeom>
          <a:solidFill>
            <a:srgbClr val="C89A00"/>
          </a:solidFill>
          <a:ln w="12700">
            <a:solidFill>
              <a:srgbClr val="C89A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566928" y="3191256"/>
            <a:ext cx="8065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Q*(s, a)  =  R(s, a)  +  </a:t>
            </a:r>
            <a:r>
              <a:rPr lang="en-US" sz="1600" b="1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</a:t>
            </a:r>
            <a:r>
              <a:rPr lang="en-US" sz="16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r>
              <a:rPr lang="en-US" sz="1600" baseline="-250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1600" baseline="-25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’ </a:t>
            </a:r>
            <a:r>
              <a:rPr lang="en-US" sz="16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P(s’|s,a) · </a:t>
            </a:r>
            <a:r>
              <a:rPr lang="en-US" sz="1600" b="1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r>
              <a:rPr lang="en-US" sz="1600" baseline="-250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600" baseline="-25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’ </a:t>
            </a:r>
            <a:r>
              <a:rPr lang="en-US" sz="16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Q*(s’, a’)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11480" y="395020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Bellman Optimality Equation for Q*   —   no new assumptions, just three substitutions from the definitions.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84048" y="0"/>
            <a:ext cx="8375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‘Tighter’? </a:t>
            </a: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r>
              <a:rPr lang="en-US" sz="2000" baseline="30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</a:t>
            </a: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Q*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457200" y="4873752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Conway to LangGraph  ·  Università di Bologna  ·  Week 5 — Reinforcement Learning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786384"/>
            <a:ext cx="3858768" cy="374904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30352" y="841248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r>
              <a:rPr lang="en-US" sz="1400" baseline="30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" y="1170432"/>
            <a:ext cx="3639312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</a:t>
            </a:r>
            <a:endParaRPr lang="en-US" sz="1200" dirty="0">
              <a:solidFill>
                <a:srgbClr val="2D2D2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r>
              <a:rPr lang="en-US" sz="1200" baseline="30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</a:t>
            </a: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R + γ ΣP · V</a:t>
            </a:r>
            <a:r>
              <a:rPr lang="en-US" sz="1200" baseline="30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π </a:t>
            </a: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parameter</a:t>
            </a:r>
            <a:endParaRPr lang="en-US" sz="1200" dirty="0"/>
          </a:p>
          <a:p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π appears on both sides via V</a:t>
            </a:r>
            <a:r>
              <a:rPr lang="en-US" sz="1200" baseline="30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π</a:t>
            </a:r>
            <a:endParaRPr lang="en-US" sz="1200" dirty="0">
              <a:solidFill>
                <a:srgbClr val="2D2D2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</a:t>
            </a:r>
            <a:endParaRPr lang="en-US" sz="1200" dirty="0"/>
          </a:p>
          <a:p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</a:t>
            </a:r>
            <a:r>
              <a:rPr lang="en-US" sz="1200" baseline="30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  </a:t>
            </a: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policy π
∞ many solutions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analogy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function Z(β) for a given Hamiltonian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specify π first, solve, then compare πs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73752" y="786384"/>
            <a:ext cx="3858768" cy="3749040"/>
          </a:xfrm>
          <a:prstGeom prst="rect">
            <a:avLst/>
          </a:prstGeom>
          <a:solidFill>
            <a:srgbClr val="EBF4FA"/>
          </a:solidFill>
          <a:ln w="9525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0" name="Shape 8"/>
          <p:cNvSpPr/>
          <p:nvPr/>
        </p:nvSpPr>
        <p:spPr>
          <a:xfrm>
            <a:off x="4873752" y="786384"/>
            <a:ext cx="64008" cy="3749040"/>
          </a:xfrm>
          <a:prstGeom prst="rect">
            <a:avLst/>
          </a:prstGeom>
          <a:solidFill>
            <a:srgbClr val="4A9ECC"/>
          </a:solidFill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5010912" y="841248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Q*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10912" y="937260"/>
            <a:ext cx="3639312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Q* = R + γ ΣP · maxₐ Q*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parameter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RHS determined by Q* itself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fixed point: Q* = T[Q*]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analogy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state energy E₀ — unique (non-degenerate)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Self-referential, but has a unique solution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79392" y="2331720"/>
            <a:ext cx="5852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251960" y="276148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over π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84048" y="0"/>
            <a:ext cx="8375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a Unique Solution Exist? — The Contraction Mapping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457200" y="4873752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Conway to LangGraph  ·  Università di Bologna  ·  Week 5 — Reinforcement Learning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786384"/>
            <a:ext cx="54864" cy="201168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30352" y="7818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Bellman optimality operator 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98755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operator T that maps any Q-function to a new one by applying the RHS of the Bellman equation: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" y="1344168"/>
            <a:ext cx="8321040" cy="548640"/>
          </a:xfrm>
          <a:prstGeom prst="rect">
            <a:avLst/>
          </a:prstGeom>
          <a:solidFill>
            <a:srgbClr val="EBF4FA"/>
          </a:solidFill>
          <a:ln w="9525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411480" y="1344168"/>
            <a:ext cx="64008" cy="548640"/>
          </a:xfrm>
          <a:prstGeom prst="rect">
            <a:avLst/>
          </a:prstGeom>
          <a:solidFill>
            <a:srgbClr val="4A9ECC"/>
          </a:solidFill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548640" y="134416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(T[Q])(s,a)  =  R(s,a)  +  </a:t>
            </a:r>
            <a:r>
              <a:rPr lang="en-US" sz="14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r>
              <a:rPr lang="en-US" sz="1400" baseline="-250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1400" baseline="-25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’ 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P(s’|s,a) · </a:t>
            </a:r>
            <a:r>
              <a:rPr lang="en-US" sz="14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r>
              <a:rPr lang="en-US" sz="1400" baseline="-250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400" baseline="-25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’ 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Q(s’,a’)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1975104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Q* is equivalent to finding the fixed point T[Q*] = Q*.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11480" y="2377440"/>
            <a:ext cx="54864" cy="201168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530352" y="23728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contraction property (γ &lt; 1 is essential)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2578608"/>
            <a:ext cx="8321040" cy="530352"/>
          </a:xfrm>
          <a:prstGeom prst="rect">
            <a:avLst/>
          </a:prstGeom>
          <a:solidFill>
            <a:srgbClr val="EBF4FA"/>
          </a:solidFill>
          <a:ln w="9525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411480" y="2578608"/>
            <a:ext cx="64008" cy="530352"/>
          </a:xfrm>
          <a:prstGeom prst="rect">
            <a:avLst/>
          </a:prstGeom>
          <a:solidFill>
            <a:srgbClr val="4A9ECC"/>
          </a:solidFill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548640" y="2578608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‖T[Q] − T[Q’]‖∞  ≤  γ · ‖Q − Q’‖∞          with  γ ∈ [0,1)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" y="3200400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application of T shrinks the sup-norm distance between any two Q-estimates by factor γ. Starting from any Q₀, the sequence T[Q₀], T²[Q₀], T³[Q₀], … converges to Q*. This is the Banach fixed-point theorem applied to function space.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11480" y="3767328"/>
            <a:ext cx="8321040" cy="804672"/>
          </a:xfrm>
          <a:prstGeom prst="rect">
            <a:avLst/>
          </a:prstGeom>
          <a:solidFill>
            <a:srgbClr val="EAFAF1"/>
          </a:solidFill>
          <a:ln w="9525">
            <a:solidFill>
              <a:srgbClr val="44AA6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411480" y="3767328"/>
            <a:ext cx="64008" cy="804672"/>
          </a:xfrm>
          <a:prstGeom prst="rect">
            <a:avLst/>
          </a:prstGeom>
          <a:solidFill>
            <a:srgbClr val="44AA66"/>
          </a:solidFill>
          <a:ln w="12700">
            <a:solidFill>
              <a:srgbClr val="44AA6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548640" y="3767328"/>
            <a:ext cx="8138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analogy — Renormalisation Group: </a:t>
            </a: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is an RG flow on the space of Q-functions. The fixed point Q* is the IR fixed point (the universality class). The discount factor γ plays the role of the RG step size — it controls how fast irrelevant operators decay. Q-learning converges by the same mechanism that makes RG fixed points universal: the contraction ensures all trajectories end at the same point, independent of Q₀.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8D33EF-00DB-6EC5-64BB-2B0F9D789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9793579-A43F-8F57-E20C-2332CE44D246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D324AB3-75FC-1478-CD1A-B148957BB62A}"/>
              </a:ext>
            </a:extLst>
          </p:cNvPr>
          <p:cNvSpPr/>
          <p:nvPr/>
        </p:nvSpPr>
        <p:spPr>
          <a:xfrm>
            <a:off x="384048" y="0"/>
            <a:ext cx="8375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Summary: From </a:t>
            </a: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r>
              <a:rPr lang="en-US" sz="2000" baseline="30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π</a:t>
            </a:r>
            <a:r>
              <a:rPr lang="en-US" sz="2000" baseline="30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2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r>
              <a:rPr lang="en-US" sz="2000" baseline="30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</a:t>
            </a: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Q* — Complete Comparison</a:t>
            </a:r>
            <a:endParaRPr lang="en-US" sz="19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696DC26-234D-354D-CA4E-F25D2A418D9E}"/>
              </a:ext>
            </a:extLst>
          </p:cNvPr>
          <p:cNvSpPr/>
          <p:nvPr/>
        </p:nvSpPr>
        <p:spPr>
          <a:xfrm>
            <a:off x="457200" y="4873752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9314332-BF7B-2850-99C2-BD0F9182EE30}"/>
              </a:ext>
            </a:extLst>
          </p:cNvPr>
          <p:cNvSpPr/>
          <p:nvPr/>
        </p:nvSpPr>
        <p:spPr>
          <a:xfrm>
            <a:off x="0" y="4882896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Conway to LangGraph  ·  Università di Bologna  ·  Week 5 — Reinforcement Learning</a:t>
            </a:r>
            <a:endParaRPr lang="en-US" sz="800" dirty="0"/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3D7EC92E-5827-8DF5-7F5C-656299A6DF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2858043"/>
              </p:ext>
            </p:extLst>
          </p:nvPr>
        </p:nvGraphicFramePr>
        <p:xfrm>
          <a:off x="411480" y="804672"/>
          <a:ext cx="8321040" cy="3794763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815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0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21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policy 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Optimal policy π*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1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in terms of Q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r>
                        <a:rPr lang="en-US" sz="1400" baseline="30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π</a:t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Σₐ π(a|s) </a:t>
                      </a:r>
                      <a:r>
                        <a:rPr lang="en-US" sz="14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</a:t>
                      </a:r>
                      <a:r>
                        <a:rPr lang="en-US" sz="1400" baseline="30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V* = maxₐ Q*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1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 equation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</a:t>
                      </a:r>
                      <a:r>
                        <a:rPr lang="en-US" sz="1400" baseline="30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 </a:t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R + </a:t>
                      </a:r>
                      <a:r>
                        <a:rPr lang="en-US" sz="1300" dirty="0" err="1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γΣP</a:t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(…)·</a:t>
                      </a:r>
                      <a:r>
                        <a:rPr lang="en-US" sz="14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r>
                        <a:rPr lang="en-US" sz="1400" baseline="30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Q* = R + γΣP·max Q*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1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parameter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1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solutions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per policy (∞ many)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fixed point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1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Physics analogy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Partition fn at given 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 state energy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21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to find 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evaluation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Q-learning (next slides)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6728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645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A9ECC"/>
          </a:solidFill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731520" y="1078992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5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536192"/>
            <a:ext cx="7680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Q-Learning Update Rule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4231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Derivation and Justification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926080" y="2944368"/>
            <a:ext cx="3291840" cy="0"/>
          </a:xfrm>
          <a:prstGeom prst="line">
            <a:avLst/>
          </a:prstGeom>
          <a:noFill/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731520" y="3090672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J. C. H. Watkins (1989) — learning Q* from experience without knowing P(s’|s,a)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84048" y="0"/>
            <a:ext cx="8375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What Problem Are We Solving?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457200" y="4873752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Conway to LangGraph  ·  Università di Bologna  ·  Week 5 — Reinforcement Learning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777240"/>
            <a:ext cx="54864" cy="201168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30352" y="7726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Bellman optimality equation requires R and P — both often unknown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987552"/>
            <a:ext cx="8321040" cy="548640"/>
          </a:xfrm>
          <a:prstGeom prst="rect">
            <a:avLst/>
          </a:prstGeom>
          <a:solidFill>
            <a:srgbClr val="EBF4FA"/>
          </a:solidFill>
          <a:ln w="9525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411480" y="987552"/>
            <a:ext cx="64008" cy="548640"/>
          </a:xfrm>
          <a:prstGeom prst="rect">
            <a:avLst/>
          </a:prstGeom>
          <a:solidFill>
            <a:srgbClr val="4A9ECC"/>
          </a:solidFill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548640" y="98755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Q*(s,a)  =  R(s,a)  +  </a:t>
            </a:r>
            <a:r>
              <a:rPr lang="en-US" sz="14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r>
              <a:rPr lang="en-US" sz="1400" baseline="-250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1400" baseline="-25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’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P(s’|s,a) · </a:t>
            </a:r>
            <a:r>
              <a:rPr lang="en-US" sz="14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r>
              <a:rPr lang="en-US" sz="1400" baseline="-250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400" baseline="-25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’ 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Q*(s’,a’)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" y="1664208"/>
            <a:ext cx="3858768" cy="987552"/>
          </a:xfrm>
          <a:prstGeom prst="rect">
            <a:avLst/>
          </a:prstGeom>
          <a:solidFill>
            <a:srgbClr val="FDEDED"/>
          </a:solidFill>
          <a:ln w="9525">
            <a:solidFill>
              <a:srgbClr val="CC444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411480" y="1664208"/>
            <a:ext cx="64008" cy="987552"/>
          </a:xfrm>
          <a:prstGeom prst="rect">
            <a:avLst/>
          </a:prstGeom>
          <a:solidFill>
            <a:srgbClr val="CC4444"/>
          </a:solidFill>
          <a:ln w="12700">
            <a:solidFill>
              <a:srgbClr val="CC444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548640" y="1691640"/>
            <a:ext cx="3630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R(s,a)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reward function must be specified for all (s,a). In many real environments this is implicit in the simulator, not a formula.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73752" y="1664208"/>
            <a:ext cx="3858768" cy="987552"/>
          </a:xfrm>
          <a:prstGeom prst="rect">
            <a:avLst/>
          </a:prstGeom>
          <a:solidFill>
            <a:srgbClr val="FDEDED"/>
          </a:solidFill>
          <a:ln w="9525">
            <a:solidFill>
              <a:srgbClr val="CC444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4873752" y="1664208"/>
            <a:ext cx="64008" cy="987552"/>
          </a:xfrm>
          <a:prstGeom prst="rect">
            <a:avLst/>
          </a:prstGeom>
          <a:solidFill>
            <a:srgbClr val="CC4444"/>
          </a:solidFill>
          <a:ln w="12700">
            <a:solidFill>
              <a:srgbClr val="CC444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5010912" y="1691640"/>
            <a:ext cx="3630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P(s’|s,a)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transition model of the environment. Unavailable for robots, games, most real-world agents.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2798064"/>
            <a:ext cx="54864" cy="201168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530352" y="27934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Q-learning’s answer: learn from raw experience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2999232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solving the equation, interact with the environment and collect transitions (s, a, r, s’). The reward r is observed directly. The next state s’ is produced by the environment — it samples from P(s’|s,a) implicitly, so we never need P explicitly.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11480" y="3584448"/>
            <a:ext cx="8321040" cy="731520"/>
          </a:xfrm>
          <a:prstGeom prst="rect">
            <a:avLst/>
          </a:prstGeom>
          <a:solidFill>
            <a:srgbClr val="FEF9E7"/>
          </a:solidFill>
          <a:ln w="9525">
            <a:solidFill>
              <a:srgbClr val="C89A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411480" y="3584448"/>
            <a:ext cx="64008" cy="731520"/>
          </a:xfrm>
          <a:prstGeom prst="rect">
            <a:avLst/>
          </a:prstGeom>
          <a:solidFill>
            <a:srgbClr val="C89A00"/>
          </a:solidFill>
          <a:ln w="12700">
            <a:solidFill>
              <a:srgbClr val="C89A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548640" y="358444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Model-free RL: </a:t>
            </a: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intractable expectation ΣP[…] with a single observed transition. Each observed s’ is one unbiased sample from P(·|s,a). The noise averages out over many visits to (s,a).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84048" y="0"/>
            <a:ext cx="8375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Rewrite the Target as an Expectation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457200" y="4873752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Conway to LangGraph  ·  Università di Bologna  ·  Week 5 — Reinforcement Learning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777240"/>
            <a:ext cx="54864" cy="201168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30352" y="7726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Bellman equation is already an expectation over s’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978408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 Σₛ’ P(s’|s,a)[…] is an expected value over next states. Write it explicitly: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" y="1353312"/>
            <a:ext cx="8321040" cy="621792"/>
          </a:xfrm>
          <a:prstGeom prst="rect">
            <a:avLst/>
          </a:prstGeom>
          <a:solidFill>
            <a:srgbClr val="EBF4FA"/>
          </a:solidFill>
          <a:ln w="9525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411480" y="1353312"/>
            <a:ext cx="64008" cy="621792"/>
          </a:xfrm>
          <a:prstGeom prst="rect">
            <a:avLst/>
          </a:prstGeom>
          <a:solidFill>
            <a:srgbClr val="4A9ECC"/>
          </a:solidFill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548640" y="1353312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Q*(s,a)  =  𝔼</a:t>
            </a:r>
            <a:r>
              <a:rPr lang="en-US" sz="1500" baseline="-25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s’</a:t>
            </a: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  +  </a:t>
            </a:r>
            <a:r>
              <a:rPr lang="en-US" sz="15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</a:t>
            </a: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r>
              <a:rPr lang="en-US" sz="1500" baseline="-250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500" baseline="-25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’ </a:t>
            </a: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Q*(s’,a’) ]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11480" y="2121408"/>
            <a:ext cx="54864" cy="201168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530352" y="211683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quantity inside the expectation: the TD target 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2322576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single observed transition (s, a, r, s’), the Temporal Difference (TD) target is: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11480" y="2697480"/>
            <a:ext cx="8321040" cy="585216"/>
          </a:xfrm>
          <a:prstGeom prst="rect">
            <a:avLst/>
          </a:prstGeom>
          <a:solidFill>
            <a:srgbClr val="EBF4FA"/>
          </a:solidFill>
          <a:ln w="9525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411480" y="2697480"/>
            <a:ext cx="64008" cy="585216"/>
          </a:xfrm>
          <a:prstGeom prst="rect">
            <a:avLst/>
          </a:prstGeom>
          <a:solidFill>
            <a:srgbClr val="4A9ECC"/>
          </a:solidFill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548640" y="2697480"/>
            <a:ext cx="8138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 =  r  +  γ · </a:t>
            </a:r>
            <a:r>
              <a:rPr lang="en-US" sz="15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r>
              <a:rPr lang="en-US" sz="1500" baseline="-250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500" baseline="-25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’</a:t>
            </a: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Q(s’, a’)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94360" y="3383280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Bellman equation now simply says: Q*(s,a) = E[y]. Your Q(s,a) should equal the long-run average of y over all transitions from (s,a).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11480" y="3913632"/>
            <a:ext cx="8321040" cy="713232"/>
          </a:xfrm>
          <a:prstGeom prst="rect">
            <a:avLst/>
          </a:prstGeom>
          <a:solidFill>
            <a:srgbClr val="EAFAF1"/>
          </a:solidFill>
          <a:ln w="9525">
            <a:solidFill>
              <a:srgbClr val="44AA6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411480" y="3913632"/>
            <a:ext cx="64008" cy="713232"/>
          </a:xfrm>
          <a:prstGeom prst="rect">
            <a:avLst/>
          </a:prstGeom>
          <a:solidFill>
            <a:srgbClr val="44AA66"/>
          </a:solidFill>
          <a:ln w="12700">
            <a:solidFill>
              <a:srgbClr val="44AA6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548640" y="3913632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analogy — Monte Carlo integration: </a:t>
            </a: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expectation Eₛ’[y] is an integral over phase space. Estimating it from a single sample s’ is exactly a one-sample Monte Carlo estimator. The estimator is unbiased; the variance is large but decreases as 1/√N with the number N of independent samples.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84048" y="0"/>
            <a:ext cx="8375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The TD Error: Measuring How Wrong You Are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457200" y="4873752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Conway to LangGraph  ·  Università di Bologna  ·  Week 5 — Reinforcement Learning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777240"/>
            <a:ext cx="54864" cy="201168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30352" y="7726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δ — the prediction error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978408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Q = Q*, the Bellman equation says E[y] = Q(s,a). For one transition, define the TD error: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" y="1353312"/>
            <a:ext cx="8321040" cy="621792"/>
          </a:xfrm>
          <a:prstGeom prst="rect">
            <a:avLst/>
          </a:prstGeom>
          <a:solidFill>
            <a:srgbClr val="EBF4FA"/>
          </a:solidFill>
          <a:ln w="9525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411480" y="1353312"/>
            <a:ext cx="64008" cy="621792"/>
          </a:xfrm>
          <a:prstGeom prst="rect">
            <a:avLst/>
          </a:prstGeom>
          <a:solidFill>
            <a:srgbClr val="4A9ECC"/>
          </a:solidFill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548640" y="1353312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 =  y − Q(s,a)  =  [ r  +  γ maxₐ’ Q(s’,a’) ]  −  Q(s,a)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11480" y="2121408"/>
            <a:ext cx="2761488" cy="1444752"/>
          </a:xfrm>
          <a:prstGeom prst="rect">
            <a:avLst/>
          </a:prstGeom>
          <a:solidFill>
            <a:srgbClr val="EAFAF1"/>
          </a:solidFill>
          <a:ln w="9525">
            <a:solidFill>
              <a:srgbClr val="44AA6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411480" y="2121408"/>
            <a:ext cx="64008" cy="1444752"/>
          </a:xfrm>
          <a:prstGeom prst="rect">
            <a:avLst/>
          </a:prstGeom>
          <a:solidFill>
            <a:srgbClr val="44AA66"/>
          </a:solidFill>
          <a:ln w="12700">
            <a:solidFill>
              <a:srgbClr val="44AA6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539496" y="2157984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4A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&gt; 0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9496" y="2523744"/>
            <a:ext cx="2542032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y is higher than your estimate.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underestimated (s,a).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increase Q(s,a).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19272" y="2121408"/>
            <a:ext cx="2761488" cy="1444752"/>
          </a:xfrm>
          <a:prstGeom prst="rect">
            <a:avLst/>
          </a:prstGeom>
          <a:solidFill>
            <a:srgbClr val="F0F0F0"/>
          </a:solidFill>
          <a:ln w="9525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3319272" y="2121408"/>
            <a:ext cx="64008" cy="1444752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3447288" y="2157984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= 0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447288" y="2523744"/>
            <a:ext cx="2542032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matches estimate.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error for this sample.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no update needed.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99632" y="2121408"/>
            <a:ext cx="2761488" cy="1444752"/>
          </a:xfrm>
          <a:prstGeom prst="rect">
            <a:avLst/>
          </a:prstGeom>
          <a:solidFill>
            <a:srgbClr val="FDEDED"/>
          </a:solidFill>
          <a:ln w="9525">
            <a:solidFill>
              <a:srgbClr val="CC444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6199632" y="2121408"/>
            <a:ext cx="64008" cy="1444752"/>
          </a:xfrm>
          <a:prstGeom prst="rect">
            <a:avLst/>
          </a:prstGeom>
          <a:solidFill>
            <a:srgbClr val="CC4444"/>
          </a:solidFill>
          <a:ln w="12700">
            <a:solidFill>
              <a:srgbClr val="CC444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6327648" y="2157984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&lt; 0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27648" y="2523744"/>
            <a:ext cx="2542032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y is lower than estimate.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overestimated (s,a).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decrease Q(s,a).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11480" y="3703320"/>
            <a:ext cx="54864" cy="201168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530352" y="36987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E[δ] = 0 everywhere, you have found Q*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4360" y="4090010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Q = Q*, the Bellman equation guarantees E[δ] = 0 for all (s,a). Conversely, if E[δ] = 0 for all (s,a), then Q satisfies the Bellman equation, hence Q = Q*. The TD error is precisely the residual of the fixed-point equation, sampled from one transition.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84048" y="0"/>
            <a:ext cx="8375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The Update Rule as Stochastic Gradient Descent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457200" y="4873752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Conway to LangGraph  ·  Università di Bologna  ·  Week 5 — Reinforcement Learning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777240"/>
            <a:ext cx="54864" cy="201168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30352" y="7726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loss function: squared Bellman residual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97840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how far Q is from satisfying the Bellman equation: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" y="1335024"/>
            <a:ext cx="8321040" cy="548640"/>
          </a:xfrm>
          <a:prstGeom prst="rect">
            <a:avLst/>
          </a:prstGeom>
          <a:solidFill>
            <a:srgbClr val="EBF4FA"/>
          </a:solidFill>
          <a:ln w="9525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411480" y="1335024"/>
            <a:ext cx="64008" cy="548640"/>
          </a:xfrm>
          <a:prstGeom prst="rect">
            <a:avLst/>
          </a:prstGeom>
          <a:solidFill>
            <a:srgbClr val="4A9ECC"/>
          </a:solidFill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548640" y="133502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𝐿(Q)  =  𝔼[ (Q(s,a) − y)² ]  =  𝔼[δ²]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11480" y="2011680"/>
            <a:ext cx="54864" cy="201168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530352" y="20071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gradient with respect to Q(s,a)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221284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the target y = r + γ max Q(s’,a’) as a fixed constant (the key approximation — see note below), differentiate: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11480" y="2633472"/>
            <a:ext cx="8321040" cy="530352"/>
          </a:xfrm>
          <a:prstGeom prst="rect">
            <a:avLst/>
          </a:prstGeom>
          <a:solidFill>
            <a:srgbClr val="EBF4FA"/>
          </a:solidFill>
          <a:ln w="9525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411480" y="2633472"/>
            <a:ext cx="64008" cy="530352"/>
          </a:xfrm>
          <a:prstGeom prst="rect">
            <a:avLst/>
          </a:prstGeom>
          <a:solidFill>
            <a:srgbClr val="4A9ECC"/>
          </a:solidFill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548640" y="2633472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∂𝐿 / ∂Q(s,a)  =  −2 · 𝔼[δ]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411480" y="3291840"/>
            <a:ext cx="54864" cy="201168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530352" y="32872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gradient descent step on a single sample gives the Q-learning rule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3493008"/>
            <a:ext cx="8321040" cy="749808"/>
          </a:xfrm>
          <a:prstGeom prst="rect">
            <a:avLst/>
          </a:prstGeom>
          <a:solidFill>
            <a:srgbClr val="FEF9E7"/>
          </a:solidFill>
          <a:ln w="12700">
            <a:solidFill>
              <a:srgbClr val="C89A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411480" y="3493008"/>
            <a:ext cx="64008" cy="749808"/>
          </a:xfrm>
          <a:prstGeom prst="rect">
            <a:avLst/>
          </a:prstGeom>
          <a:solidFill>
            <a:srgbClr val="C89A00"/>
          </a:solidFill>
          <a:ln w="12700">
            <a:solidFill>
              <a:srgbClr val="C89A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566928" y="3511296"/>
            <a:ext cx="8083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Q(s,a)  ←  Q(s,a)  +  αδ  =  Q(s,a)  +  α [ r + </a:t>
            </a:r>
            <a:r>
              <a:rPr lang="en-US" sz="1500" b="1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</a:t>
            </a:r>
            <a:r>
              <a:rPr lang="en-US" sz="15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r>
              <a:rPr lang="en-US" sz="1500" b="1" baseline="-250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500" b="1" baseline="-25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’ </a:t>
            </a:r>
            <a:r>
              <a:rPr lang="en-US" sz="15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Q(s’,a’) − Q(s,a) ]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11480" y="4352544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Treating y as fixed (semi-gradient) makes the update computationally cheap and stable, at the cost of not being true gradient descent — but convergence is still guaranteed.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84048" y="0"/>
            <a:ext cx="8375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Anatomy of the Update, Term by Term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457200" y="4873752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Conway to LangGraph  ·  Università di Bologna  ·  Week 5 — Reinforcement Learning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786384"/>
            <a:ext cx="8321040" cy="594360"/>
          </a:xfrm>
          <a:prstGeom prst="rect">
            <a:avLst/>
          </a:prstGeom>
          <a:solidFill>
            <a:srgbClr val="F0F0F0"/>
          </a:solidFill>
          <a:ln w="9525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411480" y="786384"/>
            <a:ext cx="64008" cy="59436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548640" y="786384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Q(s,a)  ←  Q(s,a)  +  α [ r  +  </a:t>
            </a:r>
            <a:r>
              <a:rPr lang="en-US" sz="15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</a:t>
            </a: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r>
              <a:rPr lang="en-US" sz="1500" baseline="-250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500" baseline="-25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’ </a:t>
            </a: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Q(s’,a’)  −  Q(s,a) ]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7544301"/>
              </p:ext>
            </p:extLst>
          </p:nvPr>
        </p:nvGraphicFramePr>
        <p:xfrm>
          <a:off x="411480" y="1463040"/>
          <a:ext cx="8321040" cy="3246117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3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estimate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Q(s,a)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present belief about the value of taking a in state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Observed reward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evidence from the environment — what actually happened this step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Bootstrap estimate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 err="1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γ</a:t>
                      </a: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r>
                        <a:rPr lang="en-US" sz="1200" baseline="-25000" dirty="0" err="1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r>
                        <a:rPr lang="en-US" sz="1200" baseline="-25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’ </a:t>
                      </a: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Q(s’,a’)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current guess about future value — uses your own (imperfect) Q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 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 = r + γ max Q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estimate of Q*(s,a) than Q(s,a) alone — combines evidence + bootstrap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 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= y − Q(s,a)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surprised you were — direction and magnitude of the correction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 ∈ (0, 1]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much to trust the new evidence vs your current belief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84048" y="0"/>
            <a:ext cx="8375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— Bootstrapping: Using Your Own Estimate as a Teacher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457200" y="4873752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Conway to LangGraph  ·  Università di Bologna  ·  Week 5 — Reinforcement Learning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777240"/>
            <a:ext cx="54864" cy="201168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30352" y="7726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‘bootstrapping’ means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97840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TD target uses your own current Q to estimate the future: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" y="1335024"/>
            <a:ext cx="8321040" cy="548640"/>
          </a:xfrm>
          <a:prstGeom prst="rect">
            <a:avLst/>
          </a:prstGeom>
          <a:solidFill>
            <a:srgbClr val="EBF4FA"/>
          </a:solidFill>
          <a:ln w="9525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411480" y="1335024"/>
            <a:ext cx="64008" cy="548640"/>
          </a:xfrm>
          <a:prstGeom prst="rect">
            <a:avLst/>
          </a:prstGeom>
          <a:solidFill>
            <a:srgbClr val="4A9ECC"/>
          </a:solidFill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548640" y="133502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 =  r  +  </a:t>
            </a:r>
            <a:r>
              <a:rPr lang="en-US" sz="14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r>
              <a:rPr lang="en-US" sz="1400" baseline="-250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400" baseline="-25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’ 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Q(s’,a’)       ←  Q is imperfect, yet used to improve Q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196596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circular. The contraction property guarantees each iteration brings Q closer to Q* even if Q was wrong to begin with. Bootstrapping from a slightly wrong Q still pulls in the right direction.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11480" y="2468880"/>
            <a:ext cx="54864" cy="201168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530352" y="24643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Bootstrapping vs Monte Carlo — a key distinction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2679192"/>
            <a:ext cx="3858768" cy="1572768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530352" y="2715768"/>
            <a:ext cx="363931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(no bootstrap)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until episode ends.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actual total return Gₜ as target.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Unbiased, high variance.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only learn after full episodes.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73752" y="2679192"/>
            <a:ext cx="3858768" cy="1572768"/>
          </a:xfrm>
          <a:prstGeom prst="rect">
            <a:avLst/>
          </a:prstGeom>
          <a:solidFill>
            <a:srgbClr val="EAFAF1"/>
          </a:solidFill>
          <a:ln w="9525">
            <a:solidFill>
              <a:srgbClr val="44AA6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4873752" y="2679192"/>
            <a:ext cx="64008" cy="1572768"/>
          </a:xfrm>
          <a:prstGeom prst="rect">
            <a:avLst/>
          </a:prstGeom>
          <a:solidFill>
            <a:srgbClr val="44AA66"/>
          </a:solidFill>
          <a:ln w="12700">
            <a:solidFill>
              <a:srgbClr val="44AA6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5010912" y="2715768"/>
            <a:ext cx="363931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(bootstrap)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after every single step.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 + γ max Q as target.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Initially biased, low variance.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online, step by step.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4370832"/>
            <a:ext cx="8321040" cy="640080"/>
          </a:xfrm>
          <a:prstGeom prst="rect">
            <a:avLst/>
          </a:prstGeom>
          <a:solidFill>
            <a:srgbClr val="FEF9E7"/>
          </a:solidFill>
          <a:ln w="9525">
            <a:solidFill>
              <a:srgbClr val="C89A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411480" y="4370832"/>
            <a:ext cx="64008" cy="640080"/>
          </a:xfrm>
          <a:prstGeom prst="rect">
            <a:avLst/>
          </a:prstGeom>
          <a:solidFill>
            <a:srgbClr val="C89A00"/>
          </a:solidFill>
          <a:ln w="12700">
            <a:solidFill>
              <a:srgbClr val="C89A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548640" y="4370832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analogy — Self-consistent field (Hartree-Fock): </a:t>
            </a: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mean field from your current wavefunction ψ, update ψ using that field, recompute the field… iterate to convergence. Q-learning is the same self-consistency loop in policy space.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84048" y="0"/>
            <a:ext cx="8375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— Why No P(s’|s,a) Is Needed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457200" y="4873752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Conway to LangGraph  ·  Università di Bologna  ·  Week 5 — Reinforcement Learning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786384"/>
            <a:ext cx="3858768" cy="1508760"/>
          </a:xfrm>
          <a:prstGeom prst="rect">
            <a:avLst/>
          </a:prstGeom>
          <a:solidFill>
            <a:srgbClr val="FDEDED"/>
          </a:solidFill>
          <a:ln w="9525">
            <a:solidFill>
              <a:srgbClr val="CC444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411480" y="786384"/>
            <a:ext cx="64008" cy="1508760"/>
          </a:xfrm>
          <a:prstGeom prst="rect">
            <a:avLst/>
          </a:prstGeom>
          <a:solidFill>
            <a:srgbClr val="CC4444"/>
          </a:solidFill>
          <a:ln w="12700">
            <a:solidFill>
              <a:srgbClr val="CC444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3639312" cy="1426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Model-based (requires P):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Q*(s,a) = R(s,a) +</a:t>
            </a:r>
            <a:endParaRPr lang="en-US" sz="1200" dirty="0"/>
          </a:p>
          <a:p>
            <a:pPr marL="0" indent="0">
              <a:buNone/>
            </a:pPr>
            <a:r>
              <a:rPr lang="en-US" sz="12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</a:t>
            </a: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r>
              <a:rPr lang="en-US" sz="1200" baseline="-250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1200" baseline="-25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’ </a:t>
            </a: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P(s’|s,a) maxₐ’ Q*(s’,a’)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loop over all s’ and weight by P. Intractable without the model.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73752" y="786384"/>
            <a:ext cx="3858768" cy="1508760"/>
          </a:xfrm>
          <a:prstGeom prst="rect">
            <a:avLst/>
          </a:prstGeom>
          <a:solidFill>
            <a:srgbClr val="EAFAF1"/>
          </a:solidFill>
          <a:ln w="9525">
            <a:solidFill>
              <a:srgbClr val="44AA6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4873752" y="786384"/>
            <a:ext cx="64008" cy="1508760"/>
          </a:xfrm>
          <a:prstGeom prst="rect">
            <a:avLst/>
          </a:prstGeom>
          <a:solidFill>
            <a:srgbClr val="44AA66"/>
          </a:solidFill>
          <a:ln w="12700">
            <a:solidFill>
              <a:srgbClr val="44AA6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5010912" y="822960"/>
            <a:ext cx="3639312" cy="1426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Model-free (Q-learning):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← Q + α[δ]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environment samples s’ ∼ P(·|s,a) automatically.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= one unbiased sample of ΣP[…].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2432304"/>
            <a:ext cx="54864" cy="201168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530352" y="24277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works: three observations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651760"/>
            <a:ext cx="274320" cy="274320"/>
          </a:xfrm>
          <a:prstGeom prst="rect">
            <a:avLst/>
          </a:prstGeom>
          <a:solidFill>
            <a:srgbClr val="4A9ECC"/>
          </a:solidFill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411480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86384" y="2681496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execute action a in state s, the environment draws s’ from exactly P(·|s,a) — the distribution we need but never have to write down.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11480" y="3072384"/>
            <a:ext cx="274320" cy="274320"/>
          </a:xfrm>
          <a:prstGeom prst="rect">
            <a:avLst/>
          </a:prstGeom>
          <a:solidFill>
            <a:srgbClr val="4A9ECC"/>
          </a:solidFill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411480" y="3072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86384" y="3072384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single s’ is an unbiased sample of the expectation ΣP[…]. The update Q ← Q + αδ is a noisy but unbiased gradient step.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11480" y="3493008"/>
            <a:ext cx="274320" cy="274320"/>
          </a:xfrm>
          <a:prstGeom prst="rect">
            <a:avLst/>
          </a:prstGeom>
          <a:solidFill>
            <a:srgbClr val="4A9ECC"/>
          </a:solidFill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411480" y="3493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86384" y="3493008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many visits to (s,a), the noise averages out by the law of large numbers. Q converges to the unique fixed point Q*.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11480" y="3986784"/>
            <a:ext cx="8321040" cy="731520"/>
          </a:xfrm>
          <a:prstGeom prst="rect">
            <a:avLst/>
          </a:prstGeom>
          <a:solidFill>
            <a:srgbClr val="FEF9E7"/>
          </a:solidFill>
          <a:ln w="9525">
            <a:solidFill>
              <a:srgbClr val="C89A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Shape 22"/>
          <p:cNvSpPr/>
          <p:nvPr/>
        </p:nvSpPr>
        <p:spPr>
          <a:xfrm>
            <a:off x="411480" y="3986784"/>
            <a:ext cx="64008" cy="731520"/>
          </a:xfrm>
          <a:prstGeom prst="rect">
            <a:avLst/>
          </a:prstGeom>
          <a:solidFill>
            <a:srgbClr val="C89A00"/>
          </a:solidFill>
          <a:ln w="12700">
            <a:solidFill>
              <a:srgbClr val="C89A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548640" y="3986784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Watkins’ key insight (1989): </a:t>
            </a: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does not need a model of the environment to learn the optimal policy. The environment itself provides all necessary information through the sequence of transitions it generates.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84048" y="0"/>
            <a:ext cx="8375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— Convergence: The Fine Print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457200" y="4873752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Conway to LangGraph  ·  Università di Bologna  ·  Week 5 — Reinforcement Learning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777240"/>
            <a:ext cx="54864" cy="201168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30352" y="7726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Robbins-Monro conditions on the learning rate αₜ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97840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stochastic approximation theorem (Robbins &amp; Monro 1951) guarantees Q → Q* if: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" y="1335024"/>
            <a:ext cx="3858768" cy="1115568"/>
          </a:xfrm>
          <a:prstGeom prst="rect">
            <a:avLst/>
          </a:prstGeom>
          <a:solidFill>
            <a:srgbClr val="EBF4FA"/>
          </a:solidFill>
          <a:ln w="9525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411480" y="1335024"/>
            <a:ext cx="64008" cy="1115568"/>
          </a:xfrm>
          <a:prstGeom prst="rect">
            <a:avLst/>
          </a:prstGeom>
          <a:solidFill>
            <a:srgbClr val="4A9ECC"/>
          </a:solidFill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548640" y="1371600"/>
            <a:ext cx="363931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1 — divergent sum: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Σₜ αₜ = ∞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total learning to correct any initialisation error.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73752" y="1335024"/>
            <a:ext cx="3858768" cy="1115568"/>
          </a:xfrm>
          <a:prstGeom prst="rect">
            <a:avLst/>
          </a:prstGeom>
          <a:solidFill>
            <a:srgbClr val="EBF4FA"/>
          </a:solidFill>
          <a:ln w="9525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4873752" y="1335024"/>
            <a:ext cx="64008" cy="1115568"/>
          </a:xfrm>
          <a:prstGeom prst="rect">
            <a:avLst/>
          </a:prstGeom>
          <a:solidFill>
            <a:srgbClr val="4A9ECC"/>
          </a:solidFill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5010912" y="1371600"/>
            <a:ext cx="363931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2 — square-summable: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Σₜ αₜ² &lt; ∞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in the gradient estimate eventually vanishes.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2542032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schedule αₜ = 1/t satisfies both. A fixed α (e.g. 0.1) satisfies only Condition 1 — it doesn’t converge to the exact Q* but tracks slowly-changing environments, which is often more useful in practice.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11480" y="3035808"/>
            <a:ext cx="54864" cy="201168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530352" y="303123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exploration requirement (equally important)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246120"/>
            <a:ext cx="8321040" cy="658368"/>
          </a:xfrm>
          <a:prstGeom prst="rect">
            <a:avLst/>
          </a:prstGeom>
          <a:solidFill>
            <a:srgbClr val="FDEDED"/>
          </a:solidFill>
          <a:ln w="9525">
            <a:solidFill>
              <a:srgbClr val="CC444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411480" y="3246120"/>
            <a:ext cx="64008" cy="658368"/>
          </a:xfrm>
          <a:prstGeom prst="rect">
            <a:avLst/>
          </a:prstGeom>
          <a:solidFill>
            <a:srgbClr val="CC4444"/>
          </a:solidFill>
          <a:ln w="12700">
            <a:solidFill>
              <a:srgbClr val="CC444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548640" y="324612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(s,a) pair must be visited infinitely often. </a:t>
            </a: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this, Q-table entries for unvisited pairs are never updated and remain at their initial values, regardless of how wrong they are. This is why ε-greedy exploration is not optional — it is a convergence requirement.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11480" y="4005072"/>
            <a:ext cx="8321040" cy="713232"/>
          </a:xfrm>
          <a:prstGeom prst="rect">
            <a:avLst/>
          </a:prstGeom>
          <a:solidFill>
            <a:srgbClr val="FEF9E7"/>
          </a:solidFill>
          <a:ln w="9525">
            <a:solidFill>
              <a:srgbClr val="C89A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411480" y="4005072"/>
            <a:ext cx="64008" cy="713232"/>
          </a:xfrm>
          <a:prstGeom prst="rect">
            <a:avLst/>
          </a:prstGeom>
          <a:solidFill>
            <a:srgbClr val="C89A00"/>
          </a:solidFill>
          <a:ln w="12700">
            <a:solidFill>
              <a:srgbClr val="C89A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548640" y="4005072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recipe: </a:t>
            </a: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α = 0.1 with ε-greedy annealing (ε: 1.0 → 0.05 over training). Satisfies the exploration condition, converges approximately, and adapts if the environment changes.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84048" y="0"/>
            <a:ext cx="8375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— The Full Logical Chain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457200" y="4873752"/>
            <a:ext cx="82296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0" y="4882896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Conway to LangGraph  ·  Università di Bologna  ·  Week 5 — Reinforcement Learning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795528"/>
            <a:ext cx="1536192" cy="1097280"/>
          </a:xfrm>
          <a:prstGeom prst="rect">
            <a:avLst/>
          </a:prstGeom>
          <a:solidFill>
            <a:srgbClr val="EBF4FA"/>
          </a:solidFill>
          <a:ln w="9525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320040" y="795528"/>
            <a:ext cx="64008" cy="1097280"/>
          </a:xfrm>
          <a:prstGeom prst="rect">
            <a:avLst/>
          </a:prstGeom>
          <a:solidFill>
            <a:srgbClr val="4A9ECC"/>
          </a:solidFill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411480" y="822960"/>
            <a:ext cx="13533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Bellman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Point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316736"/>
            <a:ext cx="13533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Q* = T[Q*]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92808" y="1078992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093976" y="795528"/>
            <a:ext cx="1536192" cy="1097280"/>
          </a:xfrm>
          <a:prstGeom prst="rect">
            <a:avLst/>
          </a:prstGeom>
          <a:solidFill>
            <a:srgbClr val="EBF4FA"/>
          </a:solidFill>
          <a:ln w="9525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2093976" y="795528"/>
            <a:ext cx="64008" cy="1097280"/>
          </a:xfrm>
          <a:prstGeom prst="rect">
            <a:avLst/>
          </a:prstGeom>
          <a:solidFill>
            <a:srgbClr val="4A9ECC"/>
          </a:solidFill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2185416" y="822960"/>
            <a:ext cx="13533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85416" y="1316736"/>
            <a:ext cx="13533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Q* = E[y]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66744" y="1078992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67912" y="795528"/>
            <a:ext cx="1536192" cy="1097280"/>
          </a:xfrm>
          <a:prstGeom prst="rect">
            <a:avLst/>
          </a:prstGeom>
          <a:solidFill>
            <a:srgbClr val="F0F0F0"/>
          </a:solidFill>
          <a:ln w="9525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3867912" y="795528"/>
            <a:ext cx="64008" cy="109728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3959352" y="822960"/>
            <a:ext cx="13533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One-Sample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959352" y="1316736"/>
            <a:ext cx="13533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≈ E[δ]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40680" y="1078992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641848" y="795528"/>
            <a:ext cx="1536192" cy="1097280"/>
          </a:xfrm>
          <a:prstGeom prst="rect">
            <a:avLst/>
          </a:prstGeom>
          <a:solidFill>
            <a:srgbClr val="EAFAF1"/>
          </a:solidFill>
          <a:ln w="9525">
            <a:solidFill>
              <a:srgbClr val="44AA6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5641848" y="795528"/>
            <a:ext cx="64008" cy="1097280"/>
          </a:xfrm>
          <a:prstGeom prst="rect">
            <a:avLst/>
          </a:prstGeom>
          <a:solidFill>
            <a:srgbClr val="44AA66"/>
          </a:solidFill>
          <a:ln w="12700">
            <a:solidFill>
              <a:srgbClr val="44AA6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5733288" y="822960"/>
            <a:ext cx="13533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Step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33288" y="1316736"/>
            <a:ext cx="13533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← Q + αδ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214616" y="1078992"/>
            <a:ext cx="23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415784" y="795528"/>
            <a:ext cx="1536192" cy="1097280"/>
          </a:xfrm>
          <a:prstGeom prst="rect">
            <a:avLst/>
          </a:prstGeom>
          <a:solidFill>
            <a:srgbClr val="FEF9E7"/>
          </a:solidFill>
          <a:ln w="9525">
            <a:solidFill>
              <a:srgbClr val="C89A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25"/>
          <p:cNvSpPr/>
          <p:nvPr/>
        </p:nvSpPr>
        <p:spPr>
          <a:xfrm>
            <a:off x="7415784" y="795528"/>
            <a:ext cx="64008" cy="1097280"/>
          </a:xfrm>
          <a:prstGeom prst="rect">
            <a:avLst/>
          </a:prstGeom>
          <a:solidFill>
            <a:srgbClr val="C89A00"/>
          </a:solidFill>
          <a:ln w="12700">
            <a:solidFill>
              <a:srgbClr val="C89A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7507224" y="822960"/>
            <a:ext cx="13533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507224" y="1316736"/>
            <a:ext cx="13533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Watkins 1989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536192" y="1984248"/>
            <a:ext cx="1719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can’t compute P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310128" y="1984248"/>
            <a:ext cx="1719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sample (s,a,r,s’)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084064" y="1984248"/>
            <a:ext cx="1719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y as fixed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858000" y="1984248"/>
            <a:ext cx="1719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approx.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11480" y="2340864"/>
            <a:ext cx="54864" cy="201168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530352" y="23362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approximations — each individually justified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11480" y="2560320"/>
            <a:ext cx="274320" cy="274320"/>
          </a:xfrm>
          <a:prstGeom prst="rect">
            <a:avLst/>
          </a:prstGeom>
          <a:solidFill>
            <a:srgbClr val="4A9ECC"/>
          </a:solidFill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411480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86384" y="256032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→ single sample: </a:t>
            </a: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ΣP[…] with one observed s’. Unbiased estimator. Noise averages out over repeated visits to (s,a).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11480" y="2999232"/>
            <a:ext cx="274320" cy="274320"/>
          </a:xfrm>
          <a:prstGeom prst="rect">
            <a:avLst/>
          </a:prstGeom>
          <a:solidFill>
            <a:srgbClr val="4A9ECC"/>
          </a:solidFill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411480" y="2999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86384" y="2999232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treated as fixed: </a:t>
            </a: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y is held constant during the gradient step (semi-gradient). Not true gradient descent, but convergence still guaranteed by contraction.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11480" y="3438144"/>
            <a:ext cx="274320" cy="274320"/>
          </a:xfrm>
          <a:prstGeom prst="rect">
            <a:avLst/>
          </a:prstGeom>
          <a:solidFill>
            <a:srgbClr val="4A9ECC"/>
          </a:solidFill>
          <a:ln w="12700">
            <a:solidFill>
              <a:srgbClr val="4A9E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Text 41"/>
          <p:cNvSpPr/>
          <p:nvPr/>
        </p:nvSpPr>
        <p:spPr>
          <a:xfrm>
            <a:off x="411480" y="34381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86384" y="3438144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step size α: </a:t>
            </a: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by αδ instead of exact minimisation. Convergence requires Robbins-Monro conditions and sufficient exploration (ε-greedy).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11480" y="4059936"/>
            <a:ext cx="8321040" cy="694944"/>
          </a:xfrm>
          <a:prstGeom prst="rect">
            <a:avLst/>
          </a:prstGeom>
          <a:solidFill>
            <a:srgbClr val="FEF9E7"/>
          </a:solidFill>
          <a:ln w="9525">
            <a:solidFill>
              <a:srgbClr val="C89A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6" name="Shape 44"/>
          <p:cNvSpPr/>
          <p:nvPr/>
        </p:nvSpPr>
        <p:spPr>
          <a:xfrm>
            <a:off x="411480" y="4059936"/>
            <a:ext cx="64008" cy="694944"/>
          </a:xfrm>
          <a:prstGeom prst="rect">
            <a:avLst/>
          </a:prstGeom>
          <a:solidFill>
            <a:srgbClr val="C89A00"/>
          </a:solidFill>
          <a:ln w="12700">
            <a:solidFill>
              <a:srgbClr val="C89A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7" name="Text 45"/>
          <p:cNvSpPr/>
          <p:nvPr/>
        </p:nvSpPr>
        <p:spPr>
          <a:xfrm>
            <a:off x="548640" y="4059936"/>
            <a:ext cx="8138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Q-learning remarkable: </a:t>
            </a: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 three approximations is individually justified. Together they convert an intractable fixed-point problem over an unknown model into a single one-line update rule that runs on raw experience.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3562</Words>
  <Application>Microsoft Macintosh PowerPoint</Application>
  <PresentationFormat>Presentazione su schermo (16:9)</PresentationFormat>
  <Paragraphs>308</Paragraphs>
  <Slides>18</Slides>
  <Notes>18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Bellman to Q-Learning: Full Derivation</dc:title>
  <dc:subject>PptxGenJS Presentation</dc:subject>
  <dc:creator>Prof. Mirko Degli Esposti</dc:creator>
  <cp:lastModifiedBy>Mirko Degli Esposti</cp:lastModifiedBy>
  <cp:revision>9</cp:revision>
  <dcterms:created xsi:type="dcterms:W3CDTF">2026-04-14T13:17:02Z</dcterms:created>
  <dcterms:modified xsi:type="dcterms:W3CDTF">2026-04-14T15:42:32Z</dcterms:modified>
</cp:coreProperties>
</file>