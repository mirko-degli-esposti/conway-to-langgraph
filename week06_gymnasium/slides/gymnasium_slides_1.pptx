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Titolo Testo</a:t>
            </a:r>
          </a:p>
        </p:txBody>
      </p:sp>
      <p:sp>
        <p:nvSpPr>
          <p:cNvPr id="3" name="Corpo livello uno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457200" y="797559"/>
            <a:ext cx="82296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Week 6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457200" y="1286509"/>
            <a:ext cx="822960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4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Gymnasium: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457200" y="2044192"/>
            <a:ext cx="822960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8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Famous Examples Only</a:t>
            </a:r>
          </a:p>
        </p:txBody>
      </p:sp>
      <p:sp>
        <p:nvSpPr>
          <p:cNvPr id="24" name="Shape 4"/>
          <p:cNvSpPr/>
          <p:nvPr/>
        </p:nvSpPr>
        <p:spPr>
          <a:xfrm>
            <a:off x="457200" y="2788920"/>
            <a:ext cx="5029200" cy="36577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457200" y="3004565"/>
            <a:ext cx="77724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LangGraph: Agent Systems for Physicists in the LLM Era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457200" y="3408679"/>
            <a:ext cx="8229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/>
            <a:r>
              <a:t>CartPole · FrozenLake · Stable-Baselines3 · Reward Landscapes · Convergence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457200" y="4541519"/>
            <a:ext cx="82296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888888"/>
                </a:solidFill>
              </a:defRPr>
            </a:lvl1pPr>
          </a:lstStyle>
          <a:p>
            <a:pPr/>
            <a:r>
              <a:t>Università di Bologna  ·  Dipartimento di Fisica</a:t>
            </a:r>
          </a:p>
        </p:txBody>
      </p:sp>
      <p:sp>
        <p:nvSpPr>
          <p:cNvPr id="28" name="Shape 8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30" name="Text 10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Where We Left Off</a:t>
            </a:r>
          </a:p>
        </p:txBody>
      </p:sp>
      <p:sp>
        <p:nvSpPr>
          <p:cNvPr id="33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Week 5 recap — the math we now put to work</a:t>
            </a:r>
          </a:p>
        </p:txBody>
      </p:sp>
      <p:sp>
        <p:nvSpPr>
          <p:cNvPr id="35" name="Shape 3"/>
          <p:cNvSpPr/>
          <p:nvPr/>
        </p:nvSpPr>
        <p:spPr>
          <a:xfrm>
            <a:off x="365759" y="1325880"/>
            <a:ext cx="8412482" cy="713233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Shape 4"/>
          <p:cNvSpPr/>
          <p:nvPr/>
        </p:nvSpPr>
        <p:spPr>
          <a:xfrm>
            <a:off x="365759" y="1325880"/>
            <a:ext cx="82297" cy="713233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5"/>
          <p:cNvSpPr txBox="1"/>
          <p:nvPr/>
        </p:nvSpPr>
        <p:spPr>
          <a:xfrm>
            <a:off x="502919" y="1506220"/>
            <a:ext cx="64008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∇</a:t>
            </a:r>
          </a:p>
        </p:txBody>
      </p:sp>
      <p:sp>
        <p:nvSpPr>
          <p:cNvPr id="38" name="Text 6"/>
          <p:cNvSpPr txBox="1"/>
          <p:nvPr/>
        </p:nvSpPr>
        <p:spPr>
          <a:xfrm>
            <a:off x="1234439" y="1429004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Bellman Equation</a:t>
            </a:r>
          </a:p>
        </p:txBody>
      </p:sp>
      <p:sp>
        <p:nvSpPr>
          <p:cNvPr id="39" name="Text 7"/>
          <p:cNvSpPr txBox="1"/>
          <p:nvPr/>
        </p:nvSpPr>
        <p:spPr>
          <a:xfrm>
            <a:off x="1234439" y="1743455"/>
            <a:ext cx="7315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V(s) = max_a [R(s,a) + γ Σ P(s'|s,a)V(s')] — the variational principle of RL</a:t>
            </a:r>
          </a:p>
        </p:txBody>
      </p:sp>
      <p:sp>
        <p:nvSpPr>
          <p:cNvPr id="40" name="Shape 8"/>
          <p:cNvSpPr/>
          <p:nvPr/>
        </p:nvSpPr>
        <p:spPr>
          <a:xfrm>
            <a:off x="365759" y="2148839"/>
            <a:ext cx="8412482" cy="713233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Shape 9"/>
          <p:cNvSpPr/>
          <p:nvPr/>
        </p:nvSpPr>
        <p:spPr>
          <a:xfrm>
            <a:off x="365759" y="2148839"/>
            <a:ext cx="82297" cy="713233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10"/>
          <p:cNvSpPr txBox="1"/>
          <p:nvPr/>
        </p:nvSpPr>
        <p:spPr>
          <a:xfrm>
            <a:off x="502919" y="2329180"/>
            <a:ext cx="64008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</a:t>
            </a:r>
          </a:p>
        </p:txBody>
      </p:sp>
      <p:sp>
        <p:nvSpPr>
          <p:cNvPr id="43" name="Text 11"/>
          <p:cNvSpPr txBox="1"/>
          <p:nvPr/>
        </p:nvSpPr>
        <p:spPr>
          <a:xfrm>
            <a:off x="1234439" y="2251964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Q-Table Agent</a:t>
            </a:r>
          </a:p>
        </p:txBody>
      </p:sp>
      <p:sp>
        <p:nvSpPr>
          <p:cNvPr id="44" name="Text 12"/>
          <p:cNvSpPr txBox="1"/>
          <p:nvPr/>
        </p:nvSpPr>
        <p:spPr>
          <a:xfrm>
            <a:off x="1234439" y="2566415"/>
            <a:ext cx="7315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Pure NumPy Q-learning on a hand-coded GridWorld — no libraries, just the update rule</a:t>
            </a:r>
          </a:p>
        </p:txBody>
      </p:sp>
      <p:sp>
        <p:nvSpPr>
          <p:cNvPr id="45" name="Shape 13"/>
          <p:cNvSpPr/>
          <p:nvPr/>
        </p:nvSpPr>
        <p:spPr>
          <a:xfrm>
            <a:off x="365759" y="2971800"/>
            <a:ext cx="8412482" cy="71323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14"/>
          <p:cNvSpPr/>
          <p:nvPr/>
        </p:nvSpPr>
        <p:spPr>
          <a:xfrm>
            <a:off x="365759" y="2971800"/>
            <a:ext cx="82297" cy="713232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5"/>
          <p:cNvSpPr txBox="1"/>
          <p:nvPr/>
        </p:nvSpPr>
        <p:spPr>
          <a:xfrm>
            <a:off x="502919" y="3158490"/>
            <a:ext cx="64008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β</a:t>
            </a:r>
          </a:p>
        </p:txBody>
      </p:sp>
      <p:sp>
        <p:nvSpPr>
          <p:cNvPr id="48" name="Text 16"/>
          <p:cNvSpPr txBox="1"/>
          <p:nvPr/>
        </p:nvSpPr>
        <p:spPr>
          <a:xfrm>
            <a:off x="1234439" y="3074142"/>
            <a:ext cx="2743201" cy="179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Exploration ↔ Exploitation</a:t>
            </a:r>
          </a:p>
        </p:txBody>
      </p:sp>
      <p:sp>
        <p:nvSpPr>
          <p:cNvPr id="49" name="Text 17"/>
          <p:cNvSpPr txBox="1"/>
          <p:nvPr/>
        </p:nvSpPr>
        <p:spPr>
          <a:xfrm>
            <a:off x="1234439" y="3389375"/>
            <a:ext cx="7315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Temperature T in ε-greedy mirrors simulated annealing: β = 1/T controls the balance</a:t>
            </a:r>
          </a:p>
        </p:txBody>
      </p:sp>
      <p:sp>
        <p:nvSpPr>
          <p:cNvPr id="50" name="Shape 18"/>
          <p:cNvSpPr/>
          <p:nvPr/>
        </p:nvSpPr>
        <p:spPr>
          <a:xfrm>
            <a:off x="365759" y="3794759"/>
            <a:ext cx="8412482" cy="713233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Shape 19"/>
          <p:cNvSpPr/>
          <p:nvPr/>
        </p:nvSpPr>
        <p:spPr>
          <a:xfrm>
            <a:off x="365759" y="3794759"/>
            <a:ext cx="82297" cy="713233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20"/>
          <p:cNvSpPr txBox="1"/>
          <p:nvPr/>
        </p:nvSpPr>
        <p:spPr>
          <a:xfrm>
            <a:off x="502919" y="3975099"/>
            <a:ext cx="64008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∞</a:t>
            </a:r>
          </a:p>
        </p:txBody>
      </p:sp>
      <p:sp>
        <p:nvSpPr>
          <p:cNvPr id="53" name="Text 21"/>
          <p:cNvSpPr txBox="1"/>
          <p:nvPr/>
        </p:nvSpPr>
        <p:spPr>
          <a:xfrm>
            <a:off x="1234439" y="3897883"/>
            <a:ext cx="27432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Convergence guarantee</a:t>
            </a:r>
          </a:p>
        </p:txBody>
      </p:sp>
      <p:sp>
        <p:nvSpPr>
          <p:cNvPr id="54" name="Text 22"/>
          <p:cNvSpPr txBox="1"/>
          <p:nvPr/>
        </p:nvSpPr>
        <p:spPr>
          <a:xfrm>
            <a:off x="1234439" y="4212336"/>
            <a:ext cx="7315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Q-learning converges to Q* under mild conditions (Watkins &amp; Dayan 1992)</a:t>
            </a:r>
          </a:p>
        </p:txBody>
      </p:sp>
      <p:sp>
        <p:nvSpPr>
          <p:cNvPr id="55" name="Shape 23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24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57" name="Text 25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Why Gymnasium?</a:t>
            </a:r>
          </a:p>
        </p:txBody>
      </p:sp>
      <p:sp>
        <p:nvSpPr>
          <p:cNvPr id="60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The standard interface that decouples agent from environment</a:t>
            </a:r>
          </a:p>
        </p:txBody>
      </p:sp>
      <p:sp>
        <p:nvSpPr>
          <p:cNvPr id="62" name="Shape 3"/>
          <p:cNvSpPr/>
          <p:nvPr/>
        </p:nvSpPr>
        <p:spPr>
          <a:xfrm>
            <a:off x="320040" y="1234439"/>
            <a:ext cx="4114801" cy="329184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Shape 4"/>
          <p:cNvSpPr/>
          <p:nvPr/>
        </p:nvSpPr>
        <p:spPr>
          <a:xfrm>
            <a:off x="320040" y="1234439"/>
            <a:ext cx="4114801" cy="54865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5"/>
          <p:cNvSpPr txBox="1"/>
          <p:nvPr/>
        </p:nvSpPr>
        <p:spPr>
          <a:xfrm>
            <a:off x="502919" y="1397000"/>
            <a:ext cx="37490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The Gym API in 5 lines</a:t>
            </a:r>
          </a:p>
        </p:txBody>
      </p:sp>
      <p:sp>
        <p:nvSpPr>
          <p:cNvPr id="65" name="Shape 6"/>
          <p:cNvSpPr/>
          <p:nvPr/>
        </p:nvSpPr>
        <p:spPr>
          <a:xfrm>
            <a:off x="457200" y="1719072"/>
            <a:ext cx="3840480" cy="2578608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7"/>
          <p:cNvSpPr txBox="1"/>
          <p:nvPr/>
        </p:nvSpPr>
        <p:spPr>
          <a:xfrm>
            <a:off x="594359" y="1828799"/>
            <a:ext cx="3566161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import gymnasium as gym</a:t>
            </a:r>
          </a:p>
          <a:p>
            <a:pPr>
              <a:defRPr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env = gym.make(</a:t>
            </a:r>
            <a:r>
              <a:rPr>
                <a:solidFill>
                  <a:srgbClr val="E8B931"/>
                </a:solidFill>
              </a:rPr>
              <a:t>'CartPole-v1'</a:t>
            </a:r>
            <a:r>
              <a:rPr>
                <a:solidFill>
                  <a:srgbClr val="F0F0F0"/>
                </a:solidFill>
              </a:rPr>
              <a:t>)</a:t>
            </a:r>
            <a:endParaRPr>
              <a:solidFill>
                <a:srgbClr val="F0F0F0"/>
              </a:solidFill>
            </a:endParaRPr>
          </a:p>
          <a:p>
            <a:pPr>
              <a:defRPr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88888"/>
                </a:solidFill>
              </a:rPr>
              <a:t>obs, info = env.reset()</a:t>
            </a:r>
            <a:endParaRPr>
              <a:solidFill>
                <a:srgbClr val="888888"/>
              </a:solidFill>
            </a:endParaRPr>
          </a:p>
          <a:p>
            <a:pPr>
              <a:defRPr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888888"/>
              </a:solidFill>
            </a:endParaRPr>
          </a:p>
          <a:p>
            <a:pPr>
              <a:defRPr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for _ in range(1000):</a:t>
            </a:r>
            <a:endParaRPr>
              <a:solidFill>
                <a:srgbClr val="F0F0F0"/>
              </a:solidFill>
            </a:endParaRPr>
          </a:p>
          <a:p>
            <a:pPr>
              <a:defRPr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    action = env.action_space.sample()</a:t>
            </a:r>
            <a:endParaRPr>
              <a:solidFill>
                <a:srgbClr val="F0F0F0"/>
              </a:solidFill>
            </a:endParaRPr>
          </a:p>
          <a:p>
            <a:pPr>
              <a:defRPr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    obs, reward, terminated,</a:t>
            </a:r>
            <a:endParaRPr>
              <a:solidFill>
                <a:srgbClr val="F0F0F0"/>
              </a:solidFill>
            </a:endParaRPr>
          </a:p>
          <a:p>
            <a:pPr>
              <a:defRPr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        truncated, info = env.step(action)</a:t>
            </a:r>
            <a:endParaRPr>
              <a:solidFill>
                <a:srgbClr val="F0F0F0"/>
              </a:solidFill>
            </a:endParaRPr>
          </a:p>
          <a:p>
            <a:pPr>
              <a:defRPr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    if terminated: env.reset()</a:t>
            </a:r>
            <a:endParaRPr>
              <a:solidFill>
                <a:srgbClr val="F0F0F0"/>
              </a:solidFill>
            </a:endParaRPr>
          </a:p>
          <a:p>
            <a:pPr>
              <a:defRPr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pPr>
            <a:endParaRPr>
              <a:solidFill>
                <a:srgbClr val="F0F0F0"/>
              </a:solidFill>
            </a:endParaRPr>
          </a:p>
          <a:p>
            <a:pPr>
              <a:defRPr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env.close()</a:t>
            </a:r>
          </a:p>
        </p:txBody>
      </p:sp>
      <p:sp>
        <p:nvSpPr>
          <p:cNvPr id="67" name="Shape 8"/>
          <p:cNvSpPr/>
          <p:nvPr/>
        </p:nvSpPr>
        <p:spPr>
          <a:xfrm>
            <a:off x="4709159" y="1234439"/>
            <a:ext cx="4114801" cy="329184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Shape 9"/>
          <p:cNvSpPr/>
          <p:nvPr/>
        </p:nvSpPr>
        <p:spPr>
          <a:xfrm>
            <a:off x="4709159" y="1234439"/>
            <a:ext cx="4114801" cy="54865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10"/>
          <p:cNvSpPr txBox="1"/>
          <p:nvPr/>
        </p:nvSpPr>
        <p:spPr>
          <a:xfrm>
            <a:off x="4892040" y="1397000"/>
            <a:ext cx="37490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The Agent–Environment Loop</a:t>
            </a:r>
          </a:p>
        </p:txBody>
      </p:sp>
      <p:sp>
        <p:nvSpPr>
          <p:cNvPr id="70" name="Shape 11"/>
          <p:cNvSpPr/>
          <p:nvPr/>
        </p:nvSpPr>
        <p:spPr>
          <a:xfrm>
            <a:off x="5669279" y="1920239"/>
            <a:ext cx="2194561" cy="658369"/>
          </a:xfrm>
          <a:prstGeom prst="rect">
            <a:avLst/>
          </a:prstGeom>
          <a:solidFill>
            <a:srgbClr val="1E3A4C"/>
          </a:solidFill>
          <a:ln w="1905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12"/>
          <p:cNvSpPr txBox="1"/>
          <p:nvPr/>
        </p:nvSpPr>
        <p:spPr>
          <a:xfrm>
            <a:off x="5669279" y="2141474"/>
            <a:ext cx="21945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72" name="Shape 13"/>
          <p:cNvSpPr/>
          <p:nvPr/>
        </p:nvSpPr>
        <p:spPr>
          <a:xfrm>
            <a:off x="5669279" y="3474720"/>
            <a:ext cx="2194561" cy="658369"/>
          </a:xfrm>
          <a:prstGeom prst="rect">
            <a:avLst/>
          </a:prstGeom>
          <a:solidFill>
            <a:srgbClr val="1E4A2C"/>
          </a:solidFill>
          <a:ln w="19050">
            <a:solidFill>
              <a:srgbClr val="5DBB6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14"/>
          <p:cNvSpPr txBox="1"/>
          <p:nvPr/>
        </p:nvSpPr>
        <p:spPr>
          <a:xfrm>
            <a:off x="5669279" y="3695953"/>
            <a:ext cx="21945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5DBB6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ENVIRON.</a:t>
            </a:r>
          </a:p>
        </p:txBody>
      </p:sp>
      <p:sp>
        <p:nvSpPr>
          <p:cNvPr id="74" name="Shape 15"/>
          <p:cNvSpPr/>
          <p:nvPr/>
        </p:nvSpPr>
        <p:spPr>
          <a:xfrm>
            <a:off x="4892040" y="2651760"/>
            <a:ext cx="822961" cy="320041"/>
          </a:xfrm>
          <a:prstGeom prst="rect">
            <a:avLst/>
          </a:prstGeom>
          <a:solidFill>
            <a:srgbClr val="2D2D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16"/>
          <p:cNvSpPr txBox="1"/>
          <p:nvPr/>
        </p:nvSpPr>
        <p:spPr>
          <a:xfrm>
            <a:off x="4892040" y="2731008"/>
            <a:ext cx="82296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6" name="Shape 17"/>
          <p:cNvSpPr/>
          <p:nvPr/>
        </p:nvSpPr>
        <p:spPr>
          <a:xfrm>
            <a:off x="7772400" y="2651760"/>
            <a:ext cx="914400" cy="320041"/>
          </a:xfrm>
          <a:prstGeom prst="rect">
            <a:avLst/>
          </a:prstGeom>
          <a:solidFill>
            <a:srgbClr val="2D2D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8"/>
          <p:cNvSpPr txBox="1"/>
          <p:nvPr/>
        </p:nvSpPr>
        <p:spPr>
          <a:xfrm>
            <a:off x="7726680" y="2737358"/>
            <a:ext cx="10058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obs, reward</a:t>
            </a:r>
          </a:p>
        </p:txBody>
      </p:sp>
      <p:sp>
        <p:nvSpPr>
          <p:cNvPr id="78" name="Text 19"/>
          <p:cNvSpPr txBox="1"/>
          <p:nvPr/>
        </p:nvSpPr>
        <p:spPr>
          <a:xfrm>
            <a:off x="4846320" y="4291837"/>
            <a:ext cx="38404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env.observation_space  →  valid obs set</a:t>
            </a:r>
          </a:p>
        </p:txBody>
      </p:sp>
      <p:sp>
        <p:nvSpPr>
          <p:cNvPr id="79" name="Text 20"/>
          <p:cNvSpPr txBox="1"/>
          <p:nvPr/>
        </p:nvSpPr>
        <p:spPr>
          <a:xfrm>
            <a:off x="4846320" y="4456430"/>
            <a:ext cx="38404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env.action_space       →  valid actions</a:t>
            </a:r>
          </a:p>
        </p:txBody>
      </p:sp>
      <p:sp>
        <p:nvSpPr>
          <p:cNvPr id="80" name="Text 21"/>
          <p:cNvSpPr txBox="1"/>
          <p:nvPr/>
        </p:nvSpPr>
        <p:spPr>
          <a:xfrm>
            <a:off x="4846320" y="4621022"/>
            <a:ext cx="38404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env.step(a)            →  5-tuple</a:t>
            </a:r>
          </a:p>
        </p:txBody>
      </p:sp>
      <p:sp>
        <p:nvSpPr>
          <p:cNvPr id="81" name="Text 22"/>
          <p:cNvSpPr txBox="1"/>
          <p:nvPr/>
        </p:nvSpPr>
        <p:spPr>
          <a:xfrm>
            <a:off x="4846320" y="4785613"/>
            <a:ext cx="384048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env.reset()            →  (obs, info)</a:t>
            </a:r>
          </a:p>
        </p:txBody>
      </p:sp>
      <p:sp>
        <p:nvSpPr>
          <p:cNvPr id="82" name="Shape 23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24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84" name="Text 25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CartPole-v1</a:t>
            </a:r>
          </a:p>
        </p:txBody>
      </p:sp>
      <p:sp>
        <p:nvSpPr>
          <p:cNvPr id="87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Continuous state · Dense reward · Classic control problem</a:t>
            </a:r>
          </a:p>
        </p:txBody>
      </p:sp>
      <p:sp>
        <p:nvSpPr>
          <p:cNvPr id="89" name="Shape 3"/>
          <p:cNvSpPr/>
          <p:nvPr/>
        </p:nvSpPr>
        <p:spPr>
          <a:xfrm>
            <a:off x="320039" y="1363471"/>
            <a:ext cx="4160522" cy="329184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4"/>
          <p:cNvSpPr/>
          <p:nvPr/>
        </p:nvSpPr>
        <p:spPr>
          <a:xfrm>
            <a:off x="320040" y="1261871"/>
            <a:ext cx="82297" cy="3291842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5"/>
          <p:cNvSpPr txBox="1"/>
          <p:nvPr/>
        </p:nvSpPr>
        <p:spPr>
          <a:xfrm>
            <a:off x="548639" y="1384300"/>
            <a:ext cx="374904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The Physics</a:t>
            </a:r>
          </a:p>
        </p:txBody>
      </p:sp>
      <p:sp>
        <p:nvSpPr>
          <p:cNvPr id="92" name="Text 6"/>
          <p:cNvSpPr txBox="1"/>
          <p:nvPr/>
        </p:nvSpPr>
        <p:spPr>
          <a:xfrm>
            <a:off x="548639" y="1834895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State vector (4D):</a:t>
            </a:r>
          </a:p>
        </p:txBody>
      </p:sp>
      <p:sp>
        <p:nvSpPr>
          <p:cNvPr id="93" name="Text 7"/>
          <p:cNvSpPr txBox="1"/>
          <p:nvPr/>
        </p:nvSpPr>
        <p:spPr>
          <a:xfrm>
            <a:off x="548639" y="2102865"/>
            <a:ext cx="37490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x, ẋ, θ, θ̇  — position, velocity, angle, angular velocity</a:t>
            </a:r>
          </a:p>
        </p:txBody>
      </p:sp>
      <p:sp>
        <p:nvSpPr>
          <p:cNvPr id="94" name="Text 8"/>
          <p:cNvSpPr txBox="1"/>
          <p:nvPr/>
        </p:nvSpPr>
        <p:spPr>
          <a:xfrm>
            <a:off x="548639" y="2429255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Action space:</a:t>
            </a:r>
          </a:p>
        </p:txBody>
      </p:sp>
      <p:sp>
        <p:nvSpPr>
          <p:cNvPr id="95" name="Text 9"/>
          <p:cNvSpPr txBox="1"/>
          <p:nvPr/>
        </p:nvSpPr>
        <p:spPr>
          <a:xfrm>
            <a:off x="548639" y="2703576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Binary: push cart Left (0) or Right (1)</a:t>
            </a:r>
          </a:p>
        </p:txBody>
      </p:sp>
      <p:sp>
        <p:nvSpPr>
          <p:cNvPr id="96" name="Text 10"/>
          <p:cNvSpPr txBox="1"/>
          <p:nvPr/>
        </p:nvSpPr>
        <p:spPr>
          <a:xfrm>
            <a:off x="548639" y="3023616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Reward:</a:t>
            </a:r>
          </a:p>
        </p:txBody>
      </p:sp>
      <p:sp>
        <p:nvSpPr>
          <p:cNvPr id="97" name="Text 11"/>
          <p:cNvSpPr txBox="1"/>
          <p:nvPr/>
        </p:nvSpPr>
        <p:spPr>
          <a:xfrm>
            <a:off x="548639" y="3297936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+1 for every time step the pole stays upright</a:t>
            </a:r>
          </a:p>
        </p:txBody>
      </p:sp>
      <p:sp>
        <p:nvSpPr>
          <p:cNvPr id="98" name="Text 12"/>
          <p:cNvSpPr txBox="1"/>
          <p:nvPr/>
        </p:nvSpPr>
        <p:spPr>
          <a:xfrm>
            <a:off x="548639" y="3617975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Termination:</a:t>
            </a:r>
          </a:p>
        </p:txBody>
      </p:sp>
      <p:sp>
        <p:nvSpPr>
          <p:cNvPr id="99" name="Text 13"/>
          <p:cNvSpPr txBox="1"/>
          <p:nvPr/>
        </p:nvSpPr>
        <p:spPr>
          <a:xfrm>
            <a:off x="548639" y="3892295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|θ| &gt; 12° or |x| &gt; 2.4 m, or 500 steps</a:t>
            </a:r>
          </a:p>
        </p:txBody>
      </p:sp>
      <p:sp>
        <p:nvSpPr>
          <p:cNvPr id="100" name="Text 14"/>
          <p:cNvSpPr txBox="1"/>
          <p:nvPr/>
        </p:nvSpPr>
        <p:spPr>
          <a:xfrm>
            <a:off x="548639" y="4212336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Equation of motion:</a:t>
            </a:r>
          </a:p>
        </p:txBody>
      </p:sp>
      <p:sp>
        <p:nvSpPr>
          <p:cNvPr id="101" name="Text 15"/>
          <p:cNvSpPr txBox="1"/>
          <p:nvPr/>
        </p:nvSpPr>
        <p:spPr>
          <a:xfrm>
            <a:off x="548639" y="4486656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Coupled nonlinear ODE — standard inverted pendulum</a:t>
            </a:r>
          </a:p>
        </p:txBody>
      </p:sp>
      <p:sp>
        <p:nvSpPr>
          <p:cNvPr id="102" name="Shape 16"/>
          <p:cNvSpPr/>
          <p:nvPr/>
        </p:nvSpPr>
        <p:spPr>
          <a:xfrm>
            <a:off x="4754879" y="1363471"/>
            <a:ext cx="4069081" cy="329184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Shape 17"/>
          <p:cNvSpPr/>
          <p:nvPr/>
        </p:nvSpPr>
        <p:spPr>
          <a:xfrm>
            <a:off x="4754879" y="1261871"/>
            <a:ext cx="82297" cy="3291842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18"/>
          <p:cNvSpPr txBox="1"/>
          <p:nvPr/>
        </p:nvSpPr>
        <p:spPr>
          <a:xfrm>
            <a:off x="4983479" y="1384300"/>
            <a:ext cx="36576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The RL Framing</a:t>
            </a:r>
          </a:p>
        </p:txBody>
      </p:sp>
      <p:sp>
        <p:nvSpPr>
          <p:cNvPr id="105" name="Shape 19"/>
          <p:cNvSpPr/>
          <p:nvPr/>
        </p:nvSpPr>
        <p:spPr>
          <a:xfrm>
            <a:off x="4937759" y="1810511"/>
            <a:ext cx="1005840" cy="347473"/>
          </a:xfrm>
          <a:prstGeom prst="rect">
            <a:avLst/>
          </a:prstGeom>
          <a:solidFill>
            <a:srgbClr val="1E3A4C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20"/>
          <p:cNvSpPr txBox="1"/>
          <p:nvPr/>
        </p:nvSpPr>
        <p:spPr>
          <a:xfrm>
            <a:off x="4983479" y="1908048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Variable</a:t>
            </a:r>
          </a:p>
        </p:txBody>
      </p:sp>
      <p:sp>
        <p:nvSpPr>
          <p:cNvPr id="107" name="Shape 21"/>
          <p:cNvSpPr/>
          <p:nvPr/>
        </p:nvSpPr>
        <p:spPr>
          <a:xfrm>
            <a:off x="5943600" y="1810511"/>
            <a:ext cx="1005839" cy="347473"/>
          </a:xfrm>
          <a:prstGeom prst="rect">
            <a:avLst/>
          </a:prstGeom>
          <a:solidFill>
            <a:srgbClr val="1E3A4C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22"/>
          <p:cNvSpPr txBox="1"/>
          <p:nvPr/>
        </p:nvSpPr>
        <p:spPr>
          <a:xfrm>
            <a:off x="5989320" y="1908048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Range</a:t>
            </a:r>
          </a:p>
        </p:txBody>
      </p:sp>
      <p:sp>
        <p:nvSpPr>
          <p:cNvPr id="109" name="Shape 23"/>
          <p:cNvSpPr/>
          <p:nvPr/>
        </p:nvSpPr>
        <p:spPr>
          <a:xfrm>
            <a:off x="6949440" y="1810511"/>
            <a:ext cx="1737361" cy="347473"/>
          </a:xfrm>
          <a:prstGeom prst="rect">
            <a:avLst/>
          </a:prstGeom>
          <a:solidFill>
            <a:srgbClr val="1E3A4C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24"/>
          <p:cNvSpPr txBox="1"/>
          <p:nvPr/>
        </p:nvSpPr>
        <p:spPr>
          <a:xfrm>
            <a:off x="6995159" y="1908048"/>
            <a:ext cx="1645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Meaning</a:t>
            </a:r>
          </a:p>
        </p:txBody>
      </p:sp>
      <p:sp>
        <p:nvSpPr>
          <p:cNvPr id="111" name="Shape 25"/>
          <p:cNvSpPr/>
          <p:nvPr/>
        </p:nvSpPr>
        <p:spPr>
          <a:xfrm>
            <a:off x="4937759" y="2157983"/>
            <a:ext cx="1005840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26"/>
          <p:cNvSpPr txBox="1"/>
          <p:nvPr/>
        </p:nvSpPr>
        <p:spPr>
          <a:xfrm>
            <a:off x="4983479" y="2255520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x</a:t>
            </a:r>
          </a:p>
        </p:txBody>
      </p:sp>
      <p:sp>
        <p:nvSpPr>
          <p:cNvPr id="113" name="Shape 27"/>
          <p:cNvSpPr/>
          <p:nvPr/>
        </p:nvSpPr>
        <p:spPr>
          <a:xfrm>
            <a:off x="5943600" y="2157983"/>
            <a:ext cx="1005839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28"/>
          <p:cNvSpPr txBox="1"/>
          <p:nvPr/>
        </p:nvSpPr>
        <p:spPr>
          <a:xfrm>
            <a:off x="5989320" y="2255520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±4.8 m</a:t>
            </a:r>
          </a:p>
        </p:txBody>
      </p:sp>
      <p:sp>
        <p:nvSpPr>
          <p:cNvPr id="115" name="Shape 29"/>
          <p:cNvSpPr/>
          <p:nvPr/>
        </p:nvSpPr>
        <p:spPr>
          <a:xfrm>
            <a:off x="6949440" y="2157983"/>
            <a:ext cx="1737361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30"/>
          <p:cNvSpPr txBox="1"/>
          <p:nvPr/>
        </p:nvSpPr>
        <p:spPr>
          <a:xfrm>
            <a:off x="6995159" y="2255520"/>
            <a:ext cx="1645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Cart position</a:t>
            </a:r>
          </a:p>
        </p:txBody>
      </p:sp>
      <p:sp>
        <p:nvSpPr>
          <p:cNvPr id="117" name="Shape 31"/>
          <p:cNvSpPr/>
          <p:nvPr/>
        </p:nvSpPr>
        <p:spPr>
          <a:xfrm>
            <a:off x="4937759" y="2505455"/>
            <a:ext cx="1005840" cy="347473"/>
          </a:xfrm>
          <a:prstGeom prst="rect">
            <a:avLst/>
          </a:prstGeom>
          <a:solidFill>
            <a:srgbClr val="2D2D2D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32"/>
          <p:cNvSpPr txBox="1"/>
          <p:nvPr/>
        </p:nvSpPr>
        <p:spPr>
          <a:xfrm>
            <a:off x="4983479" y="2596642"/>
            <a:ext cx="914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ẋ</a:t>
            </a:r>
          </a:p>
        </p:txBody>
      </p:sp>
      <p:sp>
        <p:nvSpPr>
          <p:cNvPr id="119" name="Shape 33"/>
          <p:cNvSpPr/>
          <p:nvPr/>
        </p:nvSpPr>
        <p:spPr>
          <a:xfrm>
            <a:off x="5943600" y="2505455"/>
            <a:ext cx="1005839" cy="347473"/>
          </a:xfrm>
          <a:prstGeom prst="rect">
            <a:avLst/>
          </a:prstGeom>
          <a:solidFill>
            <a:srgbClr val="2D2D2D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34"/>
          <p:cNvSpPr txBox="1"/>
          <p:nvPr/>
        </p:nvSpPr>
        <p:spPr>
          <a:xfrm>
            <a:off x="5989320" y="2602992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±∞</a:t>
            </a:r>
          </a:p>
        </p:txBody>
      </p:sp>
      <p:sp>
        <p:nvSpPr>
          <p:cNvPr id="121" name="Shape 35"/>
          <p:cNvSpPr/>
          <p:nvPr/>
        </p:nvSpPr>
        <p:spPr>
          <a:xfrm>
            <a:off x="6949440" y="2505455"/>
            <a:ext cx="1737361" cy="347473"/>
          </a:xfrm>
          <a:prstGeom prst="rect">
            <a:avLst/>
          </a:prstGeom>
          <a:solidFill>
            <a:srgbClr val="2D2D2D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36"/>
          <p:cNvSpPr txBox="1"/>
          <p:nvPr/>
        </p:nvSpPr>
        <p:spPr>
          <a:xfrm>
            <a:off x="6995159" y="2602992"/>
            <a:ext cx="1645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Cart velocity</a:t>
            </a:r>
          </a:p>
        </p:txBody>
      </p:sp>
      <p:sp>
        <p:nvSpPr>
          <p:cNvPr id="123" name="Shape 37"/>
          <p:cNvSpPr/>
          <p:nvPr/>
        </p:nvSpPr>
        <p:spPr>
          <a:xfrm>
            <a:off x="4937759" y="2852927"/>
            <a:ext cx="1005840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38"/>
          <p:cNvSpPr txBox="1"/>
          <p:nvPr/>
        </p:nvSpPr>
        <p:spPr>
          <a:xfrm>
            <a:off x="4983479" y="2950464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θ</a:t>
            </a:r>
          </a:p>
        </p:txBody>
      </p:sp>
      <p:sp>
        <p:nvSpPr>
          <p:cNvPr id="125" name="Shape 39"/>
          <p:cNvSpPr/>
          <p:nvPr/>
        </p:nvSpPr>
        <p:spPr>
          <a:xfrm>
            <a:off x="5943600" y="2852927"/>
            <a:ext cx="1005839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40"/>
          <p:cNvSpPr txBox="1"/>
          <p:nvPr/>
        </p:nvSpPr>
        <p:spPr>
          <a:xfrm>
            <a:off x="5989320" y="2950464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±0.418 r</a:t>
            </a:r>
          </a:p>
        </p:txBody>
      </p:sp>
      <p:sp>
        <p:nvSpPr>
          <p:cNvPr id="127" name="Shape 41"/>
          <p:cNvSpPr/>
          <p:nvPr/>
        </p:nvSpPr>
        <p:spPr>
          <a:xfrm>
            <a:off x="6949440" y="2852927"/>
            <a:ext cx="1737361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42"/>
          <p:cNvSpPr txBox="1"/>
          <p:nvPr/>
        </p:nvSpPr>
        <p:spPr>
          <a:xfrm>
            <a:off x="6995159" y="2950464"/>
            <a:ext cx="1645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Pole angle</a:t>
            </a:r>
          </a:p>
        </p:txBody>
      </p:sp>
      <p:sp>
        <p:nvSpPr>
          <p:cNvPr id="129" name="Shape 43"/>
          <p:cNvSpPr/>
          <p:nvPr/>
        </p:nvSpPr>
        <p:spPr>
          <a:xfrm>
            <a:off x="4937759" y="3200399"/>
            <a:ext cx="1005840" cy="347474"/>
          </a:xfrm>
          <a:prstGeom prst="rect">
            <a:avLst/>
          </a:prstGeom>
          <a:solidFill>
            <a:srgbClr val="2D2D2D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44"/>
          <p:cNvSpPr txBox="1"/>
          <p:nvPr/>
        </p:nvSpPr>
        <p:spPr>
          <a:xfrm>
            <a:off x="4983479" y="3291586"/>
            <a:ext cx="9144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θ̇</a:t>
            </a:r>
          </a:p>
        </p:txBody>
      </p:sp>
      <p:sp>
        <p:nvSpPr>
          <p:cNvPr id="131" name="Shape 45"/>
          <p:cNvSpPr/>
          <p:nvPr/>
        </p:nvSpPr>
        <p:spPr>
          <a:xfrm>
            <a:off x="5943600" y="3200399"/>
            <a:ext cx="1005839" cy="347474"/>
          </a:xfrm>
          <a:prstGeom prst="rect">
            <a:avLst/>
          </a:prstGeom>
          <a:solidFill>
            <a:srgbClr val="2D2D2D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46"/>
          <p:cNvSpPr txBox="1"/>
          <p:nvPr/>
        </p:nvSpPr>
        <p:spPr>
          <a:xfrm>
            <a:off x="5989320" y="3297936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±∞</a:t>
            </a:r>
          </a:p>
        </p:txBody>
      </p:sp>
      <p:sp>
        <p:nvSpPr>
          <p:cNvPr id="133" name="Shape 47"/>
          <p:cNvSpPr/>
          <p:nvPr/>
        </p:nvSpPr>
        <p:spPr>
          <a:xfrm>
            <a:off x="6949440" y="3200399"/>
            <a:ext cx="1737361" cy="347474"/>
          </a:xfrm>
          <a:prstGeom prst="rect">
            <a:avLst/>
          </a:prstGeom>
          <a:solidFill>
            <a:srgbClr val="2D2D2D"/>
          </a:solidFill>
          <a:ln w="6350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48"/>
          <p:cNvSpPr txBox="1"/>
          <p:nvPr/>
        </p:nvSpPr>
        <p:spPr>
          <a:xfrm>
            <a:off x="6995159" y="3297936"/>
            <a:ext cx="1645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Angular velocity</a:t>
            </a:r>
          </a:p>
        </p:txBody>
      </p:sp>
      <p:sp>
        <p:nvSpPr>
          <p:cNvPr id="135" name="Text 49"/>
          <p:cNvSpPr txBox="1"/>
          <p:nvPr/>
        </p:nvSpPr>
        <p:spPr>
          <a:xfrm>
            <a:off x="4983479" y="3493769"/>
            <a:ext cx="37490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Why CartPole matters:</a:t>
            </a:r>
          </a:p>
        </p:txBody>
      </p:sp>
      <p:sp>
        <p:nvSpPr>
          <p:cNvPr id="136" name="Text 50"/>
          <p:cNvSpPr txBox="1"/>
          <p:nvPr/>
        </p:nvSpPr>
        <p:spPr>
          <a:xfrm>
            <a:off x="4983479" y="3688382"/>
            <a:ext cx="3749041" cy="15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▸ Continuous state → can't use plain Q-table</a:t>
            </a:r>
          </a:p>
        </p:txBody>
      </p:sp>
      <p:sp>
        <p:nvSpPr>
          <p:cNvPr id="137" name="Text 51"/>
          <p:cNvSpPr txBox="1"/>
          <p:nvPr/>
        </p:nvSpPr>
        <p:spPr>
          <a:xfrm>
            <a:off x="4983479" y="3889550"/>
            <a:ext cx="3749041" cy="15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▸ Dense reward → fast learning feedback</a:t>
            </a:r>
          </a:p>
        </p:txBody>
      </p:sp>
      <p:sp>
        <p:nvSpPr>
          <p:cNvPr id="138" name="Text 52"/>
          <p:cNvSpPr txBox="1"/>
          <p:nvPr/>
        </p:nvSpPr>
        <p:spPr>
          <a:xfrm>
            <a:off x="4983479" y="4103418"/>
            <a:ext cx="3749041" cy="15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▸ Solvable in ~10 000 steps → great for demos</a:t>
            </a:r>
          </a:p>
        </p:txBody>
      </p:sp>
      <p:sp>
        <p:nvSpPr>
          <p:cNvPr id="139" name="Text 53"/>
          <p:cNvSpPr txBox="1"/>
          <p:nvPr/>
        </p:nvSpPr>
        <p:spPr>
          <a:xfrm>
            <a:off x="4983479" y="4329986"/>
            <a:ext cx="3749041" cy="153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▸ PPO benchmark: 500/500 (perfect) in ~100k steps</a:t>
            </a:r>
          </a:p>
        </p:txBody>
      </p:sp>
      <p:sp>
        <p:nvSpPr>
          <p:cNvPr id="140" name="Shape 54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55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142" name="Text 56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FrozenLake-v1</a:t>
            </a:r>
          </a:p>
        </p:txBody>
      </p:sp>
      <p:sp>
        <p:nvSpPr>
          <p:cNvPr id="145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Discrete state · Sparse reward · Stochastic transitions</a:t>
            </a:r>
          </a:p>
        </p:txBody>
      </p:sp>
      <p:sp>
        <p:nvSpPr>
          <p:cNvPr id="147" name="Shape 3"/>
          <p:cNvSpPr/>
          <p:nvPr/>
        </p:nvSpPr>
        <p:spPr>
          <a:xfrm>
            <a:off x="320040" y="1261872"/>
            <a:ext cx="3657601" cy="33832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4"/>
          <p:cNvSpPr txBox="1"/>
          <p:nvPr/>
        </p:nvSpPr>
        <p:spPr>
          <a:xfrm>
            <a:off x="502919" y="1384300"/>
            <a:ext cx="329184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4×4 Grid</a:t>
            </a:r>
          </a:p>
        </p:txBody>
      </p:sp>
      <p:sp>
        <p:nvSpPr>
          <p:cNvPr id="149" name="Shape 5"/>
          <p:cNvSpPr/>
          <p:nvPr/>
        </p:nvSpPr>
        <p:spPr>
          <a:xfrm>
            <a:off x="457199" y="1783079"/>
            <a:ext cx="612650" cy="612649"/>
          </a:xfrm>
          <a:prstGeom prst="rect">
            <a:avLst/>
          </a:prstGeom>
          <a:solidFill>
            <a:srgbClr val="1E4A2C"/>
          </a:solidFill>
          <a:ln w="12700">
            <a:solidFill>
              <a:srgbClr val="5DBB6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6"/>
          <p:cNvSpPr txBox="1"/>
          <p:nvPr/>
        </p:nvSpPr>
        <p:spPr>
          <a:xfrm>
            <a:off x="457199" y="1918461"/>
            <a:ext cx="61265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5DBB6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51" name="Shape 7"/>
          <p:cNvSpPr/>
          <p:nvPr/>
        </p:nvSpPr>
        <p:spPr>
          <a:xfrm>
            <a:off x="1115567" y="1783079"/>
            <a:ext cx="612649" cy="612649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Text 8"/>
          <p:cNvSpPr txBox="1"/>
          <p:nvPr/>
        </p:nvSpPr>
        <p:spPr>
          <a:xfrm>
            <a:off x="1115567" y="1918461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53" name="Shape 9"/>
          <p:cNvSpPr/>
          <p:nvPr/>
        </p:nvSpPr>
        <p:spPr>
          <a:xfrm>
            <a:off x="1773935" y="1783079"/>
            <a:ext cx="612649" cy="612649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10"/>
          <p:cNvSpPr txBox="1"/>
          <p:nvPr/>
        </p:nvSpPr>
        <p:spPr>
          <a:xfrm>
            <a:off x="1773935" y="1918461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55" name="Shape 11"/>
          <p:cNvSpPr/>
          <p:nvPr/>
        </p:nvSpPr>
        <p:spPr>
          <a:xfrm>
            <a:off x="2432304" y="1783079"/>
            <a:ext cx="612649" cy="612649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12"/>
          <p:cNvSpPr txBox="1"/>
          <p:nvPr/>
        </p:nvSpPr>
        <p:spPr>
          <a:xfrm>
            <a:off x="2432304" y="1918461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57" name="Shape 13"/>
          <p:cNvSpPr/>
          <p:nvPr/>
        </p:nvSpPr>
        <p:spPr>
          <a:xfrm>
            <a:off x="457199" y="2441448"/>
            <a:ext cx="612650" cy="612649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4"/>
          <p:cNvSpPr txBox="1"/>
          <p:nvPr/>
        </p:nvSpPr>
        <p:spPr>
          <a:xfrm>
            <a:off x="457199" y="2576830"/>
            <a:ext cx="61265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59" name="Shape 15"/>
          <p:cNvSpPr/>
          <p:nvPr/>
        </p:nvSpPr>
        <p:spPr>
          <a:xfrm>
            <a:off x="1115567" y="2441448"/>
            <a:ext cx="612649" cy="612649"/>
          </a:xfrm>
          <a:prstGeom prst="rect">
            <a:avLst/>
          </a:prstGeom>
          <a:solidFill>
            <a:srgbClr val="4A1A1A"/>
          </a:solidFill>
          <a:ln w="12700">
            <a:solidFill>
              <a:srgbClr val="E055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16"/>
          <p:cNvSpPr txBox="1"/>
          <p:nvPr/>
        </p:nvSpPr>
        <p:spPr>
          <a:xfrm>
            <a:off x="1115567" y="2576830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E0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161" name="Shape 17"/>
          <p:cNvSpPr/>
          <p:nvPr/>
        </p:nvSpPr>
        <p:spPr>
          <a:xfrm>
            <a:off x="1773935" y="2441448"/>
            <a:ext cx="612649" cy="612649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18"/>
          <p:cNvSpPr txBox="1"/>
          <p:nvPr/>
        </p:nvSpPr>
        <p:spPr>
          <a:xfrm>
            <a:off x="1773935" y="2576830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63" name="Shape 19"/>
          <p:cNvSpPr/>
          <p:nvPr/>
        </p:nvSpPr>
        <p:spPr>
          <a:xfrm>
            <a:off x="2432304" y="2441448"/>
            <a:ext cx="612649" cy="612649"/>
          </a:xfrm>
          <a:prstGeom prst="rect">
            <a:avLst/>
          </a:prstGeom>
          <a:solidFill>
            <a:srgbClr val="4A1A1A"/>
          </a:solidFill>
          <a:ln w="12700">
            <a:solidFill>
              <a:srgbClr val="E055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20"/>
          <p:cNvSpPr txBox="1"/>
          <p:nvPr/>
        </p:nvSpPr>
        <p:spPr>
          <a:xfrm>
            <a:off x="2432304" y="2576830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E0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165" name="Shape 21"/>
          <p:cNvSpPr/>
          <p:nvPr/>
        </p:nvSpPr>
        <p:spPr>
          <a:xfrm>
            <a:off x="457199" y="3099816"/>
            <a:ext cx="612650" cy="612649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22"/>
          <p:cNvSpPr txBox="1"/>
          <p:nvPr/>
        </p:nvSpPr>
        <p:spPr>
          <a:xfrm>
            <a:off x="457199" y="3235198"/>
            <a:ext cx="61265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67" name="Shape 23"/>
          <p:cNvSpPr/>
          <p:nvPr/>
        </p:nvSpPr>
        <p:spPr>
          <a:xfrm>
            <a:off x="1115567" y="3099816"/>
            <a:ext cx="612649" cy="612649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24"/>
          <p:cNvSpPr txBox="1"/>
          <p:nvPr/>
        </p:nvSpPr>
        <p:spPr>
          <a:xfrm>
            <a:off x="1115567" y="3235198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69" name="Shape 25"/>
          <p:cNvSpPr/>
          <p:nvPr/>
        </p:nvSpPr>
        <p:spPr>
          <a:xfrm>
            <a:off x="1773935" y="3099816"/>
            <a:ext cx="612649" cy="612649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26"/>
          <p:cNvSpPr txBox="1"/>
          <p:nvPr/>
        </p:nvSpPr>
        <p:spPr>
          <a:xfrm>
            <a:off x="1773935" y="3235198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71" name="Shape 27"/>
          <p:cNvSpPr/>
          <p:nvPr/>
        </p:nvSpPr>
        <p:spPr>
          <a:xfrm>
            <a:off x="2432304" y="3099816"/>
            <a:ext cx="612649" cy="612649"/>
          </a:xfrm>
          <a:prstGeom prst="rect">
            <a:avLst/>
          </a:prstGeom>
          <a:solidFill>
            <a:srgbClr val="4A1A1A"/>
          </a:solidFill>
          <a:ln w="12700">
            <a:solidFill>
              <a:srgbClr val="E055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28"/>
          <p:cNvSpPr txBox="1"/>
          <p:nvPr/>
        </p:nvSpPr>
        <p:spPr>
          <a:xfrm>
            <a:off x="2432304" y="3235198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E0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173" name="Shape 29"/>
          <p:cNvSpPr/>
          <p:nvPr/>
        </p:nvSpPr>
        <p:spPr>
          <a:xfrm>
            <a:off x="457199" y="3758184"/>
            <a:ext cx="612650" cy="612649"/>
          </a:xfrm>
          <a:prstGeom prst="rect">
            <a:avLst/>
          </a:prstGeom>
          <a:solidFill>
            <a:srgbClr val="4A1A1A"/>
          </a:solidFill>
          <a:ln w="12700">
            <a:solidFill>
              <a:srgbClr val="E055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30"/>
          <p:cNvSpPr txBox="1"/>
          <p:nvPr/>
        </p:nvSpPr>
        <p:spPr>
          <a:xfrm>
            <a:off x="457199" y="3893565"/>
            <a:ext cx="61265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E0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</a:t>
            </a:r>
          </a:p>
        </p:txBody>
      </p:sp>
      <p:sp>
        <p:nvSpPr>
          <p:cNvPr id="175" name="Shape 31"/>
          <p:cNvSpPr/>
          <p:nvPr/>
        </p:nvSpPr>
        <p:spPr>
          <a:xfrm>
            <a:off x="1115567" y="3758184"/>
            <a:ext cx="612649" cy="612649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32"/>
          <p:cNvSpPr txBox="1"/>
          <p:nvPr/>
        </p:nvSpPr>
        <p:spPr>
          <a:xfrm>
            <a:off x="1115567" y="3893565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77" name="Shape 33"/>
          <p:cNvSpPr/>
          <p:nvPr/>
        </p:nvSpPr>
        <p:spPr>
          <a:xfrm>
            <a:off x="1773935" y="3758184"/>
            <a:ext cx="612649" cy="612649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34"/>
          <p:cNvSpPr txBox="1"/>
          <p:nvPr/>
        </p:nvSpPr>
        <p:spPr>
          <a:xfrm>
            <a:off x="1773935" y="3893565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</a:t>
            </a:r>
          </a:p>
        </p:txBody>
      </p:sp>
      <p:sp>
        <p:nvSpPr>
          <p:cNvPr id="179" name="Shape 35"/>
          <p:cNvSpPr/>
          <p:nvPr/>
        </p:nvSpPr>
        <p:spPr>
          <a:xfrm>
            <a:off x="2432304" y="3758184"/>
            <a:ext cx="612649" cy="612649"/>
          </a:xfrm>
          <a:prstGeom prst="rect">
            <a:avLst/>
          </a:prstGeom>
          <a:solidFill>
            <a:srgbClr val="1E3A4C"/>
          </a:solidFill>
          <a:ln w="12700">
            <a:solidFill>
              <a:srgbClr val="E8B9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36"/>
          <p:cNvSpPr txBox="1"/>
          <p:nvPr/>
        </p:nvSpPr>
        <p:spPr>
          <a:xfrm>
            <a:off x="2432304" y="3893565"/>
            <a:ext cx="61264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</a:t>
            </a:r>
          </a:p>
        </p:txBody>
      </p:sp>
      <p:sp>
        <p:nvSpPr>
          <p:cNvPr id="181" name="Shape 37"/>
          <p:cNvSpPr/>
          <p:nvPr/>
        </p:nvSpPr>
        <p:spPr>
          <a:xfrm>
            <a:off x="883919" y="4404867"/>
            <a:ext cx="685801" cy="201169"/>
          </a:xfrm>
          <a:prstGeom prst="rect">
            <a:avLst/>
          </a:prstGeom>
          <a:solidFill>
            <a:srgbClr val="1E4A2C"/>
          </a:solidFill>
          <a:ln w="12700">
            <a:solidFill>
              <a:srgbClr val="5DBB6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38"/>
          <p:cNvSpPr txBox="1"/>
          <p:nvPr/>
        </p:nvSpPr>
        <p:spPr>
          <a:xfrm>
            <a:off x="883919" y="4441951"/>
            <a:ext cx="685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DBB63"/>
                </a:solidFill>
              </a:defRPr>
            </a:lvl1pPr>
          </a:lstStyle>
          <a:p>
            <a:pPr/>
            <a:r>
              <a:t>START</a:t>
            </a:r>
          </a:p>
        </p:txBody>
      </p:sp>
      <p:sp>
        <p:nvSpPr>
          <p:cNvPr id="183" name="Shape 39"/>
          <p:cNvSpPr/>
          <p:nvPr/>
        </p:nvSpPr>
        <p:spPr>
          <a:xfrm>
            <a:off x="1688591" y="4404867"/>
            <a:ext cx="685801" cy="201169"/>
          </a:xfrm>
          <a:prstGeom prst="rect">
            <a:avLst/>
          </a:prstGeom>
          <a:solidFill>
            <a:srgbClr val="2D2D2D"/>
          </a:solidFill>
          <a:ln w="12700">
            <a:solidFill>
              <a:srgbClr val="8888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40"/>
          <p:cNvSpPr txBox="1"/>
          <p:nvPr/>
        </p:nvSpPr>
        <p:spPr>
          <a:xfrm>
            <a:off x="1688591" y="4441951"/>
            <a:ext cx="685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888888"/>
                </a:solidFill>
              </a:defRPr>
            </a:lvl1pPr>
          </a:lstStyle>
          <a:p>
            <a:pPr/>
            <a:r>
              <a:t>SAFE</a:t>
            </a:r>
          </a:p>
        </p:txBody>
      </p:sp>
      <p:sp>
        <p:nvSpPr>
          <p:cNvPr id="185" name="Shape 41"/>
          <p:cNvSpPr/>
          <p:nvPr/>
        </p:nvSpPr>
        <p:spPr>
          <a:xfrm>
            <a:off x="2493264" y="4404867"/>
            <a:ext cx="685801" cy="201169"/>
          </a:xfrm>
          <a:prstGeom prst="rect">
            <a:avLst/>
          </a:prstGeom>
          <a:solidFill>
            <a:srgbClr val="4A1A1A"/>
          </a:solidFill>
          <a:ln w="12700">
            <a:solidFill>
              <a:srgbClr val="E055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42"/>
          <p:cNvSpPr txBox="1"/>
          <p:nvPr/>
        </p:nvSpPr>
        <p:spPr>
          <a:xfrm>
            <a:off x="2493264" y="4441951"/>
            <a:ext cx="685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E05555"/>
                </a:solidFill>
              </a:defRPr>
            </a:lvl1pPr>
          </a:lstStyle>
          <a:p>
            <a:pPr/>
            <a:r>
              <a:t>HOLE</a:t>
            </a:r>
          </a:p>
        </p:txBody>
      </p:sp>
      <p:sp>
        <p:nvSpPr>
          <p:cNvPr id="187" name="Shape 43"/>
          <p:cNvSpPr/>
          <p:nvPr/>
        </p:nvSpPr>
        <p:spPr>
          <a:xfrm>
            <a:off x="3297935" y="4404867"/>
            <a:ext cx="685801" cy="201169"/>
          </a:xfrm>
          <a:prstGeom prst="rect">
            <a:avLst/>
          </a:prstGeom>
          <a:solidFill>
            <a:srgbClr val="1E3A4C"/>
          </a:solidFill>
          <a:ln w="12700">
            <a:solidFill>
              <a:srgbClr val="E8B93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44"/>
          <p:cNvSpPr txBox="1"/>
          <p:nvPr/>
        </p:nvSpPr>
        <p:spPr>
          <a:xfrm>
            <a:off x="3297935" y="4441951"/>
            <a:ext cx="685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E8B931"/>
                </a:solidFill>
              </a:defRPr>
            </a:lvl1pPr>
          </a:lstStyle>
          <a:p>
            <a:pPr/>
            <a:r>
              <a:t>GOAL</a:t>
            </a:r>
          </a:p>
        </p:txBody>
      </p:sp>
      <p:sp>
        <p:nvSpPr>
          <p:cNvPr id="189" name="Shape 45"/>
          <p:cNvSpPr/>
          <p:nvPr/>
        </p:nvSpPr>
        <p:spPr>
          <a:xfrm>
            <a:off x="4297679" y="1261872"/>
            <a:ext cx="4526281" cy="33832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Shape 46"/>
          <p:cNvSpPr/>
          <p:nvPr/>
        </p:nvSpPr>
        <p:spPr>
          <a:xfrm>
            <a:off x="4297679" y="1261872"/>
            <a:ext cx="82297" cy="3383280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47"/>
          <p:cNvSpPr txBox="1"/>
          <p:nvPr/>
        </p:nvSpPr>
        <p:spPr>
          <a:xfrm>
            <a:off x="4526279" y="1384300"/>
            <a:ext cx="4114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The RL Framing</a:t>
            </a:r>
          </a:p>
        </p:txBody>
      </p:sp>
      <p:sp>
        <p:nvSpPr>
          <p:cNvPr id="192" name="Text 48"/>
          <p:cNvSpPr txBox="1"/>
          <p:nvPr/>
        </p:nvSpPr>
        <p:spPr>
          <a:xfrm>
            <a:off x="4526279" y="1652523"/>
            <a:ext cx="4114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State space:</a:t>
            </a:r>
          </a:p>
        </p:txBody>
      </p:sp>
      <p:sp>
        <p:nvSpPr>
          <p:cNvPr id="193" name="Text 49"/>
          <p:cNvSpPr txBox="1"/>
          <p:nvPr/>
        </p:nvSpPr>
        <p:spPr>
          <a:xfrm>
            <a:off x="4526279" y="1887705"/>
            <a:ext cx="4114801" cy="166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16 discrete cells  →  Q-table is 16×4</a:t>
            </a:r>
          </a:p>
        </p:txBody>
      </p:sp>
      <p:sp>
        <p:nvSpPr>
          <p:cNvPr id="194" name="Text 50"/>
          <p:cNvSpPr txBox="1"/>
          <p:nvPr/>
        </p:nvSpPr>
        <p:spPr>
          <a:xfrm>
            <a:off x="4526279" y="2173732"/>
            <a:ext cx="4114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Action space:</a:t>
            </a:r>
          </a:p>
        </p:txBody>
      </p:sp>
      <p:sp>
        <p:nvSpPr>
          <p:cNvPr id="195" name="Text 51"/>
          <p:cNvSpPr txBox="1"/>
          <p:nvPr/>
        </p:nvSpPr>
        <p:spPr>
          <a:xfrm>
            <a:off x="4526279" y="2416047"/>
            <a:ext cx="4114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4 actions: L / R / U / D  (slippery!)</a:t>
            </a:r>
          </a:p>
        </p:txBody>
      </p:sp>
      <p:sp>
        <p:nvSpPr>
          <p:cNvPr id="196" name="Text 52"/>
          <p:cNvSpPr txBox="1"/>
          <p:nvPr/>
        </p:nvSpPr>
        <p:spPr>
          <a:xfrm>
            <a:off x="4526279" y="2694939"/>
            <a:ext cx="4114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Slipperiness:</a:t>
            </a:r>
          </a:p>
        </p:txBody>
      </p:sp>
      <p:sp>
        <p:nvSpPr>
          <p:cNvPr id="197" name="Text 53"/>
          <p:cNvSpPr txBox="1"/>
          <p:nvPr/>
        </p:nvSpPr>
        <p:spPr>
          <a:xfrm>
            <a:off x="4526279" y="2937255"/>
            <a:ext cx="4114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P(intended) = 1/3; sideways = 2/3 — stochastic MDP</a:t>
            </a:r>
          </a:p>
        </p:txBody>
      </p:sp>
      <p:sp>
        <p:nvSpPr>
          <p:cNvPr id="198" name="Text 54"/>
          <p:cNvSpPr txBox="1"/>
          <p:nvPr/>
        </p:nvSpPr>
        <p:spPr>
          <a:xfrm>
            <a:off x="4526279" y="3216147"/>
            <a:ext cx="4114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Reward:</a:t>
            </a:r>
          </a:p>
        </p:txBody>
      </p:sp>
      <p:sp>
        <p:nvSpPr>
          <p:cNvPr id="199" name="Text 55"/>
          <p:cNvSpPr txBox="1"/>
          <p:nvPr/>
        </p:nvSpPr>
        <p:spPr>
          <a:xfrm>
            <a:off x="4526279" y="3458463"/>
            <a:ext cx="4114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R=1 at GOAL, R=0 everywhere else — sparse</a:t>
            </a:r>
          </a:p>
        </p:txBody>
      </p:sp>
      <p:sp>
        <p:nvSpPr>
          <p:cNvPr id="200" name="Text 56"/>
          <p:cNvSpPr txBox="1"/>
          <p:nvPr/>
        </p:nvSpPr>
        <p:spPr>
          <a:xfrm>
            <a:off x="4526279" y="3737355"/>
            <a:ext cx="4114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Challenge:</a:t>
            </a:r>
          </a:p>
        </p:txBody>
      </p:sp>
      <p:sp>
        <p:nvSpPr>
          <p:cNvPr id="201" name="Text 57"/>
          <p:cNvSpPr txBox="1"/>
          <p:nvPr/>
        </p:nvSpPr>
        <p:spPr>
          <a:xfrm>
            <a:off x="4526279" y="3979671"/>
            <a:ext cx="4114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Must traverse many steps with zero signal until G</a:t>
            </a:r>
          </a:p>
        </p:txBody>
      </p:sp>
      <p:sp>
        <p:nvSpPr>
          <p:cNvPr id="202" name="Text 58"/>
          <p:cNvSpPr txBox="1"/>
          <p:nvPr/>
        </p:nvSpPr>
        <p:spPr>
          <a:xfrm>
            <a:off x="4526279" y="4258564"/>
            <a:ext cx="4114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Deterministic?:</a:t>
            </a:r>
          </a:p>
        </p:txBody>
      </p:sp>
      <p:sp>
        <p:nvSpPr>
          <p:cNvPr id="203" name="Text 59"/>
          <p:cNvSpPr txBox="1"/>
          <p:nvPr/>
        </p:nvSpPr>
        <p:spPr>
          <a:xfrm>
            <a:off x="4526279" y="4450079"/>
            <a:ext cx="4114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gym.make('FrozenLake-v1', is_slippery=False) for easy mode</a:t>
            </a:r>
          </a:p>
        </p:txBody>
      </p:sp>
      <p:sp>
        <p:nvSpPr>
          <p:cNvPr id="204" name="Shape 60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61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206" name="Text 62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Two Environments, Two Physics Regimes</a:t>
            </a:r>
          </a:p>
        </p:txBody>
      </p:sp>
      <p:sp>
        <p:nvSpPr>
          <p:cNvPr id="209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Choosing the right environment teaches you different things</a:t>
            </a:r>
          </a:p>
        </p:txBody>
      </p:sp>
      <p:sp>
        <p:nvSpPr>
          <p:cNvPr id="211" name="Shape 3"/>
          <p:cNvSpPr/>
          <p:nvPr/>
        </p:nvSpPr>
        <p:spPr>
          <a:xfrm>
            <a:off x="320039" y="1261872"/>
            <a:ext cx="2340866" cy="438912"/>
          </a:xfrm>
          <a:prstGeom prst="rect">
            <a:avLst/>
          </a:prstGeom>
          <a:solidFill>
            <a:srgbClr val="1E3A4C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4"/>
          <p:cNvSpPr txBox="1"/>
          <p:nvPr/>
        </p:nvSpPr>
        <p:spPr>
          <a:xfrm>
            <a:off x="411479" y="1398777"/>
            <a:ext cx="21945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Property</a:t>
            </a:r>
          </a:p>
        </p:txBody>
      </p:sp>
      <p:sp>
        <p:nvSpPr>
          <p:cNvPr id="213" name="Shape 5"/>
          <p:cNvSpPr/>
          <p:nvPr/>
        </p:nvSpPr>
        <p:spPr>
          <a:xfrm>
            <a:off x="2697479" y="1261872"/>
            <a:ext cx="2980945" cy="438912"/>
          </a:xfrm>
          <a:prstGeom prst="rect">
            <a:avLst/>
          </a:prstGeom>
          <a:solidFill>
            <a:srgbClr val="1E3A4C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6"/>
          <p:cNvSpPr txBox="1"/>
          <p:nvPr/>
        </p:nvSpPr>
        <p:spPr>
          <a:xfrm>
            <a:off x="2788920" y="1398777"/>
            <a:ext cx="28346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CartPole-v1</a:t>
            </a:r>
          </a:p>
        </p:txBody>
      </p:sp>
      <p:sp>
        <p:nvSpPr>
          <p:cNvPr id="215" name="Shape 7"/>
          <p:cNvSpPr/>
          <p:nvPr/>
        </p:nvSpPr>
        <p:spPr>
          <a:xfrm>
            <a:off x="5714999" y="1261872"/>
            <a:ext cx="2980946" cy="438912"/>
          </a:xfrm>
          <a:prstGeom prst="rect">
            <a:avLst/>
          </a:prstGeom>
          <a:solidFill>
            <a:srgbClr val="1E3A4C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8"/>
          <p:cNvSpPr txBox="1"/>
          <p:nvPr/>
        </p:nvSpPr>
        <p:spPr>
          <a:xfrm>
            <a:off x="5806440" y="1398777"/>
            <a:ext cx="28346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FrozenLake-v1</a:t>
            </a:r>
          </a:p>
        </p:txBody>
      </p:sp>
      <p:sp>
        <p:nvSpPr>
          <p:cNvPr id="217" name="Shape 9"/>
          <p:cNvSpPr/>
          <p:nvPr/>
        </p:nvSpPr>
        <p:spPr>
          <a:xfrm>
            <a:off x="320039" y="1700783"/>
            <a:ext cx="2340866" cy="43891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10"/>
          <p:cNvSpPr txBox="1"/>
          <p:nvPr/>
        </p:nvSpPr>
        <p:spPr>
          <a:xfrm>
            <a:off x="411479" y="1837689"/>
            <a:ext cx="21945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State space</a:t>
            </a:r>
          </a:p>
        </p:txBody>
      </p:sp>
      <p:sp>
        <p:nvSpPr>
          <p:cNvPr id="219" name="Shape 11"/>
          <p:cNvSpPr/>
          <p:nvPr/>
        </p:nvSpPr>
        <p:spPr>
          <a:xfrm>
            <a:off x="2697479" y="1700783"/>
            <a:ext cx="2980945" cy="43891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12"/>
          <p:cNvSpPr txBox="1"/>
          <p:nvPr/>
        </p:nvSpPr>
        <p:spPr>
          <a:xfrm>
            <a:off x="2788920" y="1837689"/>
            <a:ext cx="28346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A9ECC"/>
                </a:solidFill>
              </a:defRPr>
            </a:lvl1pPr>
          </a:lstStyle>
          <a:p>
            <a:pPr/>
            <a:r>
              <a:t>ℝ⁴ (continuous)</a:t>
            </a:r>
          </a:p>
        </p:txBody>
      </p:sp>
      <p:sp>
        <p:nvSpPr>
          <p:cNvPr id="221" name="Shape 13"/>
          <p:cNvSpPr/>
          <p:nvPr/>
        </p:nvSpPr>
        <p:spPr>
          <a:xfrm>
            <a:off x="5714999" y="1700783"/>
            <a:ext cx="2980946" cy="43891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14"/>
          <p:cNvSpPr txBox="1"/>
          <p:nvPr/>
        </p:nvSpPr>
        <p:spPr>
          <a:xfrm>
            <a:off x="5806440" y="1812289"/>
            <a:ext cx="28346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DBB63"/>
                </a:solidFill>
              </a:defRPr>
            </a:lvl1pPr>
          </a:lstStyle>
          <a:p>
            <a:pPr/>
            <a:r>
              <a:t>𝕫₁₆ (discrete)</a:t>
            </a:r>
          </a:p>
        </p:txBody>
      </p:sp>
      <p:sp>
        <p:nvSpPr>
          <p:cNvPr id="223" name="Shape 15"/>
          <p:cNvSpPr/>
          <p:nvPr/>
        </p:nvSpPr>
        <p:spPr>
          <a:xfrm>
            <a:off x="320039" y="2139695"/>
            <a:ext cx="2340866" cy="43891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6"/>
          <p:cNvSpPr txBox="1"/>
          <p:nvPr/>
        </p:nvSpPr>
        <p:spPr>
          <a:xfrm>
            <a:off x="411479" y="2276602"/>
            <a:ext cx="21945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Action space</a:t>
            </a:r>
          </a:p>
        </p:txBody>
      </p:sp>
      <p:sp>
        <p:nvSpPr>
          <p:cNvPr id="225" name="Shape 17"/>
          <p:cNvSpPr/>
          <p:nvPr/>
        </p:nvSpPr>
        <p:spPr>
          <a:xfrm>
            <a:off x="2697479" y="2139695"/>
            <a:ext cx="2980945" cy="43891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18"/>
          <p:cNvSpPr txBox="1"/>
          <p:nvPr/>
        </p:nvSpPr>
        <p:spPr>
          <a:xfrm>
            <a:off x="2788920" y="2282952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A9ECC"/>
                </a:solidFill>
              </a:defRPr>
            </a:lvl1pPr>
          </a:lstStyle>
          <a:p>
            <a:pPr/>
            <a:r>
              <a:t>Binary {0,1}</a:t>
            </a:r>
          </a:p>
        </p:txBody>
      </p:sp>
      <p:sp>
        <p:nvSpPr>
          <p:cNvPr id="227" name="Shape 19"/>
          <p:cNvSpPr/>
          <p:nvPr/>
        </p:nvSpPr>
        <p:spPr>
          <a:xfrm>
            <a:off x="5714999" y="2139695"/>
            <a:ext cx="2980946" cy="43891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20"/>
          <p:cNvSpPr txBox="1"/>
          <p:nvPr/>
        </p:nvSpPr>
        <p:spPr>
          <a:xfrm>
            <a:off x="5806440" y="2282952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DBB63"/>
                </a:solidFill>
              </a:defRPr>
            </a:lvl1pPr>
          </a:lstStyle>
          <a:p>
            <a:pPr/>
            <a:r>
              <a:t>4-directional {L,R,U,D}</a:t>
            </a:r>
          </a:p>
        </p:txBody>
      </p:sp>
      <p:sp>
        <p:nvSpPr>
          <p:cNvPr id="229" name="Shape 21"/>
          <p:cNvSpPr/>
          <p:nvPr/>
        </p:nvSpPr>
        <p:spPr>
          <a:xfrm>
            <a:off x="320039" y="2578607"/>
            <a:ext cx="2340866" cy="43891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22"/>
          <p:cNvSpPr txBox="1"/>
          <p:nvPr/>
        </p:nvSpPr>
        <p:spPr>
          <a:xfrm>
            <a:off x="411479" y="2715514"/>
            <a:ext cx="21945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Transitions</a:t>
            </a:r>
          </a:p>
        </p:txBody>
      </p:sp>
      <p:sp>
        <p:nvSpPr>
          <p:cNvPr id="231" name="Shape 23"/>
          <p:cNvSpPr/>
          <p:nvPr/>
        </p:nvSpPr>
        <p:spPr>
          <a:xfrm>
            <a:off x="2697479" y="2578607"/>
            <a:ext cx="2980945" cy="43891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24"/>
          <p:cNvSpPr txBox="1"/>
          <p:nvPr/>
        </p:nvSpPr>
        <p:spPr>
          <a:xfrm>
            <a:off x="2788920" y="2721864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A9ECC"/>
                </a:solidFill>
              </a:defRPr>
            </a:lvl1pPr>
          </a:lstStyle>
          <a:p>
            <a:pPr/>
            <a:r>
              <a:t>Deterministic ODE</a:t>
            </a:r>
          </a:p>
        </p:txBody>
      </p:sp>
      <p:sp>
        <p:nvSpPr>
          <p:cNvPr id="233" name="Shape 25"/>
          <p:cNvSpPr/>
          <p:nvPr/>
        </p:nvSpPr>
        <p:spPr>
          <a:xfrm>
            <a:off x="5714999" y="2578607"/>
            <a:ext cx="2980946" cy="43891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26"/>
          <p:cNvSpPr txBox="1"/>
          <p:nvPr/>
        </p:nvSpPr>
        <p:spPr>
          <a:xfrm>
            <a:off x="5806440" y="2721864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DBB63"/>
                </a:solidFill>
              </a:defRPr>
            </a:lvl1pPr>
          </a:lstStyle>
          <a:p>
            <a:pPr/>
            <a:r>
              <a:t>Stochastic (slippery)</a:t>
            </a:r>
          </a:p>
        </p:txBody>
      </p:sp>
      <p:sp>
        <p:nvSpPr>
          <p:cNvPr id="235" name="Shape 27"/>
          <p:cNvSpPr/>
          <p:nvPr/>
        </p:nvSpPr>
        <p:spPr>
          <a:xfrm>
            <a:off x="320039" y="3017520"/>
            <a:ext cx="2340866" cy="43891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28"/>
          <p:cNvSpPr txBox="1"/>
          <p:nvPr/>
        </p:nvSpPr>
        <p:spPr>
          <a:xfrm>
            <a:off x="411479" y="3154426"/>
            <a:ext cx="21945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Reward</a:t>
            </a:r>
          </a:p>
        </p:txBody>
      </p:sp>
      <p:sp>
        <p:nvSpPr>
          <p:cNvPr id="237" name="Shape 29"/>
          <p:cNvSpPr/>
          <p:nvPr/>
        </p:nvSpPr>
        <p:spPr>
          <a:xfrm>
            <a:off x="2697479" y="3017520"/>
            <a:ext cx="2980945" cy="43891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30"/>
          <p:cNvSpPr txBox="1"/>
          <p:nvPr/>
        </p:nvSpPr>
        <p:spPr>
          <a:xfrm>
            <a:off x="2788920" y="3160776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A9ECC"/>
                </a:solidFill>
              </a:defRPr>
            </a:lvl1pPr>
          </a:lstStyle>
          <a:p>
            <a:pPr/>
            <a:r>
              <a:t>Dense  (+1 every step)</a:t>
            </a:r>
          </a:p>
        </p:txBody>
      </p:sp>
      <p:sp>
        <p:nvSpPr>
          <p:cNvPr id="239" name="Shape 31"/>
          <p:cNvSpPr/>
          <p:nvPr/>
        </p:nvSpPr>
        <p:spPr>
          <a:xfrm>
            <a:off x="5714999" y="3017520"/>
            <a:ext cx="2980946" cy="43891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32"/>
          <p:cNvSpPr txBox="1"/>
          <p:nvPr/>
        </p:nvSpPr>
        <p:spPr>
          <a:xfrm>
            <a:off x="5806440" y="3160776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DBB63"/>
                </a:solidFill>
              </a:defRPr>
            </a:lvl1pPr>
          </a:lstStyle>
          <a:p>
            <a:pPr/>
            <a:r>
              <a:t>Sparse  (+1 only at goal)</a:t>
            </a:r>
          </a:p>
        </p:txBody>
      </p:sp>
      <p:sp>
        <p:nvSpPr>
          <p:cNvPr id="241" name="Shape 33"/>
          <p:cNvSpPr/>
          <p:nvPr/>
        </p:nvSpPr>
        <p:spPr>
          <a:xfrm>
            <a:off x="320039" y="3456432"/>
            <a:ext cx="2340866" cy="43891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34"/>
          <p:cNvSpPr txBox="1"/>
          <p:nvPr/>
        </p:nvSpPr>
        <p:spPr>
          <a:xfrm>
            <a:off x="411479" y="3593338"/>
            <a:ext cx="21945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Horizon</a:t>
            </a:r>
          </a:p>
        </p:txBody>
      </p:sp>
      <p:sp>
        <p:nvSpPr>
          <p:cNvPr id="243" name="Shape 35"/>
          <p:cNvSpPr/>
          <p:nvPr/>
        </p:nvSpPr>
        <p:spPr>
          <a:xfrm>
            <a:off x="2697479" y="3456432"/>
            <a:ext cx="2980945" cy="43891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36"/>
          <p:cNvSpPr txBox="1"/>
          <p:nvPr/>
        </p:nvSpPr>
        <p:spPr>
          <a:xfrm>
            <a:off x="2788920" y="3599688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A9ECC"/>
                </a:solidFill>
              </a:defRPr>
            </a:lvl1pPr>
          </a:lstStyle>
          <a:p>
            <a:pPr/>
            <a:r>
              <a:t>500 steps max</a:t>
            </a:r>
          </a:p>
        </p:txBody>
      </p:sp>
      <p:sp>
        <p:nvSpPr>
          <p:cNvPr id="245" name="Shape 37"/>
          <p:cNvSpPr/>
          <p:nvPr/>
        </p:nvSpPr>
        <p:spPr>
          <a:xfrm>
            <a:off x="5714999" y="3456432"/>
            <a:ext cx="2980946" cy="43891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38"/>
          <p:cNvSpPr txBox="1"/>
          <p:nvPr/>
        </p:nvSpPr>
        <p:spPr>
          <a:xfrm>
            <a:off x="5806440" y="3599688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DBB63"/>
                </a:solidFill>
              </a:defRPr>
            </a:lvl1pPr>
          </a:lstStyle>
          <a:p>
            <a:pPr/>
            <a:r>
              <a:t>100 steps max</a:t>
            </a:r>
          </a:p>
        </p:txBody>
      </p:sp>
      <p:sp>
        <p:nvSpPr>
          <p:cNvPr id="247" name="Shape 39"/>
          <p:cNvSpPr/>
          <p:nvPr/>
        </p:nvSpPr>
        <p:spPr>
          <a:xfrm>
            <a:off x="320039" y="3895344"/>
            <a:ext cx="2340866" cy="438912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40"/>
          <p:cNvSpPr txBox="1"/>
          <p:nvPr/>
        </p:nvSpPr>
        <p:spPr>
          <a:xfrm>
            <a:off x="411479" y="4032250"/>
            <a:ext cx="21945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Solvable with</a:t>
            </a:r>
          </a:p>
        </p:txBody>
      </p:sp>
      <p:sp>
        <p:nvSpPr>
          <p:cNvPr id="249" name="Shape 41"/>
          <p:cNvSpPr/>
          <p:nvPr/>
        </p:nvSpPr>
        <p:spPr>
          <a:xfrm>
            <a:off x="2697479" y="3895344"/>
            <a:ext cx="2980945" cy="438912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42"/>
          <p:cNvSpPr txBox="1"/>
          <p:nvPr/>
        </p:nvSpPr>
        <p:spPr>
          <a:xfrm>
            <a:off x="2788920" y="4038600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A9ECC"/>
                </a:solidFill>
              </a:defRPr>
            </a:lvl1pPr>
          </a:lstStyle>
          <a:p>
            <a:pPr/>
            <a:r>
              <a:t>PPO / A2C (neural net)</a:t>
            </a:r>
          </a:p>
        </p:txBody>
      </p:sp>
      <p:sp>
        <p:nvSpPr>
          <p:cNvPr id="251" name="Shape 43"/>
          <p:cNvSpPr/>
          <p:nvPr/>
        </p:nvSpPr>
        <p:spPr>
          <a:xfrm>
            <a:off x="5714999" y="3895344"/>
            <a:ext cx="2980946" cy="438912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44"/>
          <p:cNvSpPr txBox="1"/>
          <p:nvPr/>
        </p:nvSpPr>
        <p:spPr>
          <a:xfrm>
            <a:off x="5806440" y="4038600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DBB63"/>
                </a:solidFill>
              </a:defRPr>
            </a:lvl1pPr>
          </a:lstStyle>
          <a:p>
            <a:pPr/>
            <a:r>
              <a:t>Q-table (tabular RL)</a:t>
            </a:r>
          </a:p>
        </p:txBody>
      </p:sp>
      <p:sp>
        <p:nvSpPr>
          <p:cNvPr id="253" name="Shape 45"/>
          <p:cNvSpPr/>
          <p:nvPr/>
        </p:nvSpPr>
        <p:spPr>
          <a:xfrm>
            <a:off x="320039" y="4334256"/>
            <a:ext cx="2340866" cy="438912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Text 46"/>
          <p:cNvSpPr txBox="1"/>
          <p:nvPr/>
        </p:nvSpPr>
        <p:spPr>
          <a:xfrm>
            <a:off x="411479" y="4471162"/>
            <a:ext cx="219456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Physics angle</a:t>
            </a:r>
          </a:p>
        </p:txBody>
      </p:sp>
      <p:sp>
        <p:nvSpPr>
          <p:cNvPr id="255" name="Shape 47"/>
          <p:cNvSpPr/>
          <p:nvPr/>
        </p:nvSpPr>
        <p:spPr>
          <a:xfrm>
            <a:off x="2697479" y="4334256"/>
            <a:ext cx="2980945" cy="438912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48"/>
          <p:cNvSpPr txBox="1"/>
          <p:nvPr/>
        </p:nvSpPr>
        <p:spPr>
          <a:xfrm>
            <a:off x="2788920" y="4477512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4A9ECC"/>
                </a:solidFill>
              </a:defRPr>
            </a:lvl1pPr>
          </a:lstStyle>
          <a:p>
            <a:pPr/>
            <a:r>
              <a:t>Inverted pendulum / Lyapunov</a:t>
            </a:r>
          </a:p>
        </p:txBody>
      </p:sp>
      <p:sp>
        <p:nvSpPr>
          <p:cNvPr id="257" name="Shape 49"/>
          <p:cNvSpPr/>
          <p:nvPr/>
        </p:nvSpPr>
        <p:spPr>
          <a:xfrm>
            <a:off x="5714999" y="4334256"/>
            <a:ext cx="2980946" cy="438912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50"/>
          <p:cNvSpPr txBox="1"/>
          <p:nvPr/>
        </p:nvSpPr>
        <p:spPr>
          <a:xfrm>
            <a:off x="5806440" y="4477512"/>
            <a:ext cx="28346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DBB63"/>
                </a:solidFill>
              </a:defRPr>
            </a:lvl1pPr>
          </a:lstStyle>
          <a:p>
            <a:pPr/>
            <a:r>
              <a:t>Random walk on lattice</a:t>
            </a:r>
          </a:p>
        </p:txBody>
      </p:sp>
      <p:sp>
        <p:nvSpPr>
          <p:cNvPr id="259" name="Text 51"/>
          <p:cNvSpPr txBox="1"/>
          <p:nvPr/>
        </p:nvSpPr>
        <p:spPr>
          <a:xfrm>
            <a:off x="320040" y="4675426"/>
            <a:ext cx="8503920" cy="15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888888"/>
                </a:solidFill>
              </a:defRPr>
            </a:lvl1pPr>
          </a:lstStyle>
          <a:p>
            <a:pPr/>
            <a:r>
              <a:t>▸  Together these two environments cover every combination of (discrete/continuous) × (sparse/dense) — the full parameter space of RL problems.</a:t>
            </a:r>
          </a:p>
        </p:txBody>
      </p:sp>
      <p:sp>
        <p:nvSpPr>
          <p:cNvPr id="260" name="Shape 52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Text 53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262" name="Text 54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Installation</a:t>
            </a:r>
          </a:p>
        </p:txBody>
      </p:sp>
      <p:sp>
        <p:nvSpPr>
          <p:cNvPr id="265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Three packages — the entire RL stack</a:t>
            </a:r>
          </a:p>
        </p:txBody>
      </p:sp>
      <p:sp>
        <p:nvSpPr>
          <p:cNvPr id="267" name="Shape 3"/>
          <p:cNvSpPr/>
          <p:nvPr/>
        </p:nvSpPr>
        <p:spPr>
          <a:xfrm>
            <a:off x="320039" y="1261872"/>
            <a:ext cx="4206242" cy="1828801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4"/>
          <p:cNvSpPr txBox="1"/>
          <p:nvPr/>
        </p:nvSpPr>
        <p:spPr>
          <a:xfrm>
            <a:off x="457199" y="1371599"/>
            <a:ext cx="3931922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Install</a:t>
            </a:r>
          </a:p>
          <a:p>
            <a:pPr>
              <a:defRPr sz="11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pip install gymnasium</a:t>
            </a:r>
            <a:endParaRPr>
              <a:solidFill>
                <a:srgbClr val="F0F0F0"/>
              </a:solidFill>
            </a:endParaRPr>
          </a:p>
          <a:p>
            <a:pPr>
              <a:defRPr sz="11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pip install stable-baselines3[extra]</a:t>
            </a:r>
            <a:endParaRPr>
              <a:solidFill>
                <a:srgbClr val="F0F0F0"/>
              </a:solidFill>
            </a:endParaRPr>
          </a:p>
          <a:p>
            <a:pPr>
              <a:defRPr sz="11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pip install shimmy</a:t>
            </a:r>
            <a:endParaRPr>
              <a:solidFill>
                <a:srgbClr val="F0F0F0"/>
              </a:solidFill>
            </a:endParaRPr>
          </a:p>
        </p:txBody>
      </p:sp>
      <p:sp>
        <p:nvSpPr>
          <p:cNvPr id="269" name="Shape 5"/>
          <p:cNvSpPr/>
          <p:nvPr/>
        </p:nvSpPr>
        <p:spPr>
          <a:xfrm>
            <a:off x="320039" y="3200400"/>
            <a:ext cx="4206242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6"/>
          <p:cNvSpPr txBox="1"/>
          <p:nvPr/>
        </p:nvSpPr>
        <p:spPr>
          <a:xfrm>
            <a:off x="457199" y="3310128"/>
            <a:ext cx="3931922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Verify</a:t>
            </a:r>
          </a:p>
          <a:p>
            <a:pPr>
              <a:defRPr sz="11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import gymnasium as gym</a:t>
            </a:r>
            <a:endParaRPr>
              <a:solidFill>
                <a:srgbClr val="F0F0F0"/>
              </a:solidFill>
            </a:endParaRPr>
          </a:p>
          <a:p>
            <a:pPr>
              <a:defRPr sz="11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import stable_baselines3 as sb3</a:t>
            </a:r>
            <a:endParaRPr>
              <a:solidFill>
                <a:srgbClr val="F0F0F0"/>
              </a:solidFill>
            </a:endParaRPr>
          </a:p>
          <a:p>
            <a:pPr>
              <a:defRPr sz="1100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F0F0F0"/>
                </a:solidFill>
              </a:rPr>
              <a:t>print(sb3.__version__)  # ≥ 2.x</a:t>
            </a:r>
            <a:endParaRPr>
              <a:solidFill>
                <a:srgbClr val="F0F0F0"/>
              </a:solidFill>
            </a:endParaRPr>
          </a:p>
        </p:txBody>
      </p:sp>
      <p:sp>
        <p:nvSpPr>
          <p:cNvPr id="271" name="Shape 7"/>
          <p:cNvSpPr/>
          <p:nvPr/>
        </p:nvSpPr>
        <p:spPr>
          <a:xfrm>
            <a:off x="4800599" y="1261872"/>
            <a:ext cx="4023361" cy="111556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Shape 8"/>
          <p:cNvSpPr/>
          <p:nvPr/>
        </p:nvSpPr>
        <p:spPr>
          <a:xfrm>
            <a:off x="4800599" y="1261872"/>
            <a:ext cx="82298" cy="1115568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9"/>
          <p:cNvSpPr txBox="1"/>
          <p:nvPr/>
        </p:nvSpPr>
        <p:spPr>
          <a:xfrm>
            <a:off x="5029200" y="137414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gymnasium</a:t>
            </a:r>
          </a:p>
        </p:txBody>
      </p:sp>
      <p:sp>
        <p:nvSpPr>
          <p:cNvPr id="274" name="Text 10"/>
          <p:cNvSpPr txBox="1"/>
          <p:nvPr/>
        </p:nvSpPr>
        <p:spPr>
          <a:xfrm>
            <a:off x="5029200" y="1733550"/>
            <a:ext cx="36576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OpenAI Gym successor (Farama Foundation)</a:t>
            </a:r>
          </a:p>
          <a:p>
            <a:pPr>
              <a:defRPr sz="1000">
                <a:solidFill>
                  <a:srgbClr val="F0F0F0"/>
                </a:solidFill>
              </a:defRPr>
            </a:pPr>
            <a:r>
              <a:t>Provides CartPole, FrozenLake + 30+ environments</a:t>
            </a:r>
          </a:p>
          <a:p>
            <a:pPr>
              <a:defRPr sz="1000">
                <a:solidFill>
                  <a:srgbClr val="F0F0F0"/>
                </a:solidFill>
              </a:defRPr>
            </a:pPr>
            <a:r>
              <a:t>Stable API: obs_space, action_space, step(), reset()</a:t>
            </a:r>
          </a:p>
        </p:txBody>
      </p:sp>
      <p:sp>
        <p:nvSpPr>
          <p:cNvPr id="275" name="Shape 11"/>
          <p:cNvSpPr/>
          <p:nvPr/>
        </p:nvSpPr>
        <p:spPr>
          <a:xfrm>
            <a:off x="4800599" y="2496311"/>
            <a:ext cx="4023361" cy="1115569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Shape 12"/>
          <p:cNvSpPr/>
          <p:nvPr/>
        </p:nvSpPr>
        <p:spPr>
          <a:xfrm>
            <a:off x="4800599" y="2496311"/>
            <a:ext cx="82298" cy="1115569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13"/>
          <p:cNvSpPr txBox="1"/>
          <p:nvPr/>
        </p:nvSpPr>
        <p:spPr>
          <a:xfrm>
            <a:off x="5029200" y="2608580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stable-baselines3</a:t>
            </a:r>
          </a:p>
        </p:txBody>
      </p:sp>
      <p:sp>
        <p:nvSpPr>
          <p:cNvPr id="278" name="Text 14"/>
          <p:cNvSpPr txBox="1"/>
          <p:nvPr/>
        </p:nvSpPr>
        <p:spPr>
          <a:xfrm>
            <a:off x="5029200" y="2967990"/>
            <a:ext cx="36576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Clean PyTorch RL implementations</a:t>
            </a:r>
          </a:p>
          <a:p>
            <a:pPr>
              <a:defRPr sz="1000">
                <a:solidFill>
                  <a:srgbClr val="F0F0F0"/>
                </a:solidFill>
              </a:defRPr>
            </a:pPr>
            <a:r>
              <a:t>PPO · A2C · DQN · SAC · TD3 ready to use</a:t>
            </a:r>
          </a:p>
          <a:p>
            <a:pPr>
              <a:defRPr sz="1000">
                <a:solidFill>
                  <a:srgbClr val="F0F0F0"/>
                </a:solidFill>
              </a:defRPr>
            </a:pPr>
            <a:r>
              <a:t>Consistent .learn() / .predict() API for all algos</a:t>
            </a:r>
          </a:p>
        </p:txBody>
      </p:sp>
      <p:sp>
        <p:nvSpPr>
          <p:cNvPr id="279" name="Shape 15"/>
          <p:cNvSpPr/>
          <p:nvPr/>
        </p:nvSpPr>
        <p:spPr>
          <a:xfrm>
            <a:off x="4800599" y="3730752"/>
            <a:ext cx="4023361" cy="1115569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Shape 16"/>
          <p:cNvSpPr/>
          <p:nvPr/>
        </p:nvSpPr>
        <p:spPr>
          <a:xfrm>
            <a:off x="4800599" y="3730752"/>
            <a:ext cx="82298" cy="1115569"/>
          </a:xfrm>
          <a:prstGeom prst="rect">
            <a:avLst/>
          </a:prstGeom>
          <a:solidFill>
            <a:srgbClr val="5DBB6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17"/>
          <p:cNvSpPr txBox="1"/>
          <p:nvPr/>
        </p:nvSpPr>
        <p:spPr>
          <a:xfrm>
            <a:off x="5029200" y="3843019"/>
            <a:ext cx="36576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5DBB6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shimmy</a:t>
            </a:r>
          </a:p>
        </p:txBody>
      </p:sp>
      <p:sp>
        <p:nvSpPr>
          <p:cNvPr id="282" name="Text 18"/>
          <p:cNvSpPr txBox="1"/>
          <p:nvPr/>
        </p:nvSpPr>
        <p:spPr>
          <a:xfrm>
            <a:off x="5029200" y="4202430"/>
            <a:ext cx="365760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F0F0F0"/>
                </a:solidFill>
              </a:defRPr>
            </a:pPr>
            <a:r>
              <a:t>Compatibility shim for older Gym environments</a:t>
            </a:r>
          </a:p>
          <a:p>
            <a:pPr>
              <a:defRPr sz="1000">
                <a:solidFill>
                  <a:srgbClr val="F0F0F0"/>
                </a:solidFill>
              </a:defRPr>
            </a:pPr>
            <a:r>
              <a:t>Links atari-py, dm-control, MuJoCo to Gymnasium</a:t>
            </a:r>
          </a:p>
          <a:p>
            <a:pPr>
              <a:defRPr sz="1000">
                <a:solidFill>
                  <a:srgbClr val="F0F0F0"/>
                </a:solidFill>
              </a:defRPr>
            </a:pPr>
            <a:r>
              <a:t>Optional — needed only for non-standard envs</a:t>
            </a:r>
          </a:p>
        </p:txBody>
      </p:sp>
      <p:sp>
        <p:nvSpPr>
          <p:cNvPr id="283" name="Shape 19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20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285" name="Text 21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 0"/>
          <p:cNvSpPr txBox="1"/>
          <p:nvPr/>
        </p:nvSpPr>
        <p:spPr>
          <a:xfrm>
            <a:off x="457200" y="52831"/>
            <a:ext cx="8229600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Stable-Baselines3: The Three-Line Promise</a:t>
            </a:r>
          </a:p>
        </p:txBody>
      </p:sp>
      <p:sp>
        <p:nvSpPr>
          <p:cNvPr id="288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Train a state-of-the-art agent without touching algorithm internals</a:t>
            </a:r>
          </a:p>
        </p:txBody>
      </p:sp>
      <p:sp>
        <p:nvSpPr>
          <p:cNvPr id="290" name="Shape 3"/>
          <p:cNvSpPr/>
          <p:nvPr/>
        </p:nvSpPr>
        <p:spPr>
          <a:xfrm>
            <a:off x="320040" y="1298447"/>
            <a:ext cx="896112" cy="256033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4"/>
          <p:cNvSpPr txBox="1"/>
          <p:nvPr/>
        </p:nvSpPr>
        <p:spPr>
          <a:xfrm>
            <a:off x="365759" y="1350263"/>
            <a:ext cx="80467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CartPole</a:t>
            </a:r>
          </a:p>
        </p:txBody>
      </p:sp>
      <p:sp>
        <p:nvSpPr>
          <p:cNvPr id="292" name="Shape 5"/>
          <p:cNvSpPr/>
          <p:nvPr/>
        </p:nvSpPr>
        <p:spPr>
          <a:xfrm>
            <a:off x="320040" y="1600200"/>
            <a:ext cx="8503920" cy="1536192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6"/>
          <p:cNvSpPr txBox="1"/>
          <p:nvPr/>
        </p:nvSpPr>
        <p:spPr>
          <a:xfrm>
            <a:off x="457200" y="1709927"/>
            <a:ext cx="8229600" cy="1069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from stable_baselines3 import PPO</a:t>
            </a:r>
          </a:p>
          <a:p>
            <a:pPr>
              <a:defRPr sz="12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2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model = PPO(</a:t>
            </a:r>
            <a:r>
              <a:rPr>
                <a:solidFill>
                  <a:srgbClr val="E8B931"/>
                </a:solidFill>
              </a:rPr>
              <a:t>"MlpPolicy"</a:t>
            </a:r>
            <a:r>
              <a:t>, env=gym.make(</a:t>
            </a:r>
            <a:r>
              <a:rPr>
                <a:solidFill>
                  <a:srgbClr val="E8B931"/>
                </a:solidFill>
              </a:rPr>
              <a:t>"CartPole-v1"</a:t>
            </a:r>
            <a:r>
              <a:t>), verbose=1)</a:t>
            </a:r>
          </a:p>
          <a:p>
            <a:pPr>
              <a:defRPr sz="12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model.learn(total_timesteps=</a:t>
            </a:r>
            <a:r>
              <a:rPr>
                <a:solidFill>
                  <a:srgbClr val="4A9ECC"/>
                </a:solidFill>
              </a:rPr>
              <a:t>100_000</a:t>
            </a:r>
            <a:r>
              <a:t>)                   </a:t>
            </a:r>
            <a:r>
              <a:rPr>
                <a:solidFill>
                  <a:srgbClr val="888888"/>
                </a:solidFill>
              </a:rPr>
              <a:t># ← train</a:t>
            </a:r>
            <a:endParaRPr>
              <a:solidFill>
                <a:srgbClr val="888888"/>
              </a:solidFill>
            </a:endParaRPr>
          </a:p>
          <a:p>
            <a:pPr>
              <a:defRPr sz="12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model.save(</a:t>
            </a:r>
            <a:r>
              <a:rPr>
                <a:solidFill>
                  <a:srgbClr val="E8B931"/>
                </a:solidFill>
              </a:rPr>
              <a:t>"cartpole_ppo"</a:t>
            </a:r>
            <a:r>
              <a:t>)                               </a:t>
            </a:r>
            <a:r>
              <a:rPr>
                <a:solidFill>
                  <a:srgbClr val="888888"/>
                </a:solidFill>
              </a:rPr>
              <a:t># ← save</a:t>
            </a:r>
            <a:endParaRPr>
              <a:solidFill>
                <a:srgbClr val="888888"/>
              </a:solidFill>
            </a:endParaRPr>
          </a:p>
        </p:txBody>
      </p:sp>
      <p:sp>
        <p:nvSpPr>
          <p:cNvPr id="294" name="Shape 7"/>
          <p:cNvSpPr/>
          <p:nvPr/>
        </p:nvSpPr>
        <p:spPr>
          <a:xfrm>
            <a:off x="320039" y="3246120"/>
            <a:ext cx="1051562" cy="256033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8"/>
          <p:cNvSpPr txBox="1"/>
          <p:nvPr/>
        </p:nvSpPr>
        <p:spPr>
          <a:xfrm>
            <a:off x="365760" y="3297935"/>
            <a:ext cx="96012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FrozenLake</a:t>
            </a:r>
          </a:p>
        </p:txBody>
      </p:sp>
      <p:sp>
        <p:nvSpPr>
          <p:cNvPr id="296" name="Shape 9"/>
          <p:cNvSpPr/>
          <p:nvPr/>
        </p:nvSpPr>
        <p:spPr>
          <a:xfrm>
            <a:off x="320040" y="3547871"/>
            <a:ext cx="8503920" cy="1024129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Text 10"/>
          <p:cNvSpPr txBox="1"/>
          <p:nvPr/>
        </p:nvSpPr>
        <p:spPr>
          <a:xfrm>
            <a:off x="457200" y="3657599"/>
            <a:ext cx="822960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from stable_baselines3 import DQN</a:t>
            </a:r>
          </a:p>
          <a:p>
            <a:pPr>
              <a:defRPr sz="12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2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model = DQN(</a:t>
            </a:r>
            <a:r>
              <a:rPr>
                <a:solidFill>
                  <a:srgbClr val="E8B931"/>
                </a:solidFill>
              </a:rPr>
              <a:t>"MlpPolicy"</a:t>
            </a:r>
            <a:r>
              <a:t>, env=gym.make(</a:t>
            </a:r>
            <a:r>
              <a:rPr>
                <a:solidFill>
                  <a:srgbClr val="E8B931"/>
                </a:solidFill>
              </a:rPr>
              <a:t>"FrozenLake-v1"</a:t>
            </a:r>
            <a:r>
              <a:t>, is_slippery=False), verbose=1)</a:t>
            </a:r>
          </a:p>
          <a:p>
            <a:pPr>
              <a:defRPr sz="12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model.learn(total_timesteps=</a:t>
            </a:r>
            <a:r>
              <a:rPr>
                <a:solidFill>
                  <a:srgbClr val="4A9ECC"/>
                </a:solidFill>
              </a:rPr>
              <a:t>50_000</a:t>
            </a:r>
            <a:r>
              <a:t>)</a:t>
            </a:r>
          </a:p>
        </p:txBody>
      </p:sp>
      <p:sp>
        <p:nvSpPr>
          <p:cNvPr id="298" name="Shape 11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12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300" name="Text 13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PPO — What Is It Doing?</a:t>
            </a:r>
          </a:p>
        </p:txBody>
      </p:sp>
      <p:sp>
        <p:nvSpPr>
          <p:cNvPr id="303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Proximal Policy Optimisation connects to Week 5 variational ideas</a:t>
            </a:r>
          </a:p>
        </p:txBody>
      </p:sp>
      <p:sp>
        <p:nvSpPr>
          <p:cNvPr id="305" name="Shape 3"/>
          <p:cNvSpPr/>
          <p:nvPr/>
        </p:nvSpPr>
        <p:spPr>
          <a:xfrm>
            <a:off x="320039" y="1261872"/>
            <a:ext cx="4160522" cy="33832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Shape 4"/>
          <p:cNvSpPr/>
          <p:nvPr/>
        </p:nvSpPr>
        <p:spPr>
          <a:xfrm>
            <a:off x="320040" y="1261872"/>
            <a:ext cx="82297" cy="3383280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5"/>
          <p:cNvSpPr txBox="1"/>
          <p:nvPr/>
        </p:nvSpPr>
        <p:spPr>
          <a:xfrm>
            <a:off x="530351" y="1397000"/>
            <a:ext cx="37490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Policy Gradient in One Slide</a:t>
            </a:r>
          </a:p>
        </p:txBody>
      </p:sp>
      <p:sp>
        <p:nvSpPr>
          <p:cNvPr id="308" name="Text 6"/>
          <p:cNvSpPr txBox="1"/>
          <p:nvPr/>
        </p:nvSpPr>
        <p:spPr>
          <a:xfrm>
            <a:off x="530351" y="1853183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Objective:</a:t>
            </a:r>
          </a:p>
        </p:txBody>
      </p:sp>
      <p:sp>
        <p:nvSpPr>
          <p:cNvPr id="309" name="Text 7"/>
          <p:cNvSpPr txBox="1"/>
          <p:nvPr/>
        </p:nvSpPr>
        <p:spPr>
          <a:xfrm>
            <a:off x="530351" y="2090927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Maximize  E[R] — total expected reward</a:t>
            </a:r>
          </a:p>
        </p:txBody>
      </p:sp>
      <p:sp>
        <p:nvSpPr>
          <p:cNvPr id="310" name="Text 8"/>
          <p:cNvSpPr txBox="1"/>
          <p:nvPr/>
        </p:nvSpPr>
        <p:spPr>
          <a:xfrm>
            <a:off x="530351" y="2356103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Week 5 link:</a:t>
            </a:r>
          </a:p>
        </p:txBody>
      </p:sp>
      <p:sp>
        <p:nvSpPr>
          <p:cNvPr id="311" name="Text 9"/>
          <p:cNvSpPr txBox="1"/>
          <p:nvPr/>
        </p:nvSpPr>
        <p:spPr>
          <a:xfrm>
            <a:off x="530351" y="2593847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Same Bellman principle, now as gradient ascent on θ</a:t>
            </a:r>
          </a:p>
        </p:txBody>
      </p:sp>
      <p:sp>
        <p:nvSpPr>
          <p:cNvPr id="312" name="Text 10"/>
          <p:cNvSpPr txBox="1"/>
          <p:nvPr/>
        </p:nvSpPr>
        <p:spPr>
          <a:xfrm>
            <a:off x="530351" y="2859023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Actor:</a:t>
            </a:r>
          </a:p>
        </p:txBody>
      </p:sp>
      <p:sp>
        <p:nvSpPr>
          <p:cNvPr id="313" name="Text 11"/>
          <p:cNvSpPr txBox="1"/>
          <p:nvPr/>
        </p:nvSpPr>
        <p:spPr>
          <a:xfrm>
            <a:off x="530351" y="3096767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π_θ(a|s) — policy network outputs action probabilities</a:t>
            </a:r>
          </a:p>
        </p:txBody>
      </p:sp>
      <p:sp>
        <p:nvSpPr>
          <p:cNvPr id="314" name="Text 12"/>
          <p:cNvSpPr txBox="1"/>
          <p:nvPr/>
        </p:nvSpPr>
        <p:spPr>
          <a:xfrm>
            <a:off x="530351" y="3361943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Critic:</a:t>
            </a:r>
          </a:p>
        </p:txBody>
      </p:sp>
      <p:sp>
        <p:nvSpPr>
          <p:cNvPr id="315" name="Text 13"/>
          <p:cNvSpPr txBox="1"/>
          <p:nvPr/>
        </p:nvSpPr>
        <p:spPr>
          <a:xfrm>
            <a:off x="530351" y="3599687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V_φ(s) — value network estimates state value</a:t>
            </a:r>
          </a:p>
        </p:txBody>
      </p:sp>
      <p:sp>
        <p:nvSpPr>
          <p:cNvPr id="316" name="Text 14"/>
          <p:cNvSpPr txBox="1"/>
          <p:nvPr/>
        </p:nvSpPr>
        <p:spPr>
          <a:xfrm>
            <a:off x="530351" y="3864863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Clip trick:</a:t>
            </a:r>
          </a:p>
        </p:txBody>
      </p:sp>
      <p:sp>
        <p:nvSpPr>
          <p:cNvPr id="317" name="Text 15"/>
          <p:cNvSpPr txBox="1"/>
          <p:nvPr/>
        </p:nvSpPr>
        <p:spPr>
          <a:xfrm>
            <a:off x="530351" y="4102607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L_CLIP prevents destructively large policy updates</a:t>
            </a:r>
          </a:p>
        </p:txBody>
      </p:sp>
      <p:sp>
        <p:nvSpPr>
          <p:cNvPr id="318" name="Text 16"/>
          <p:cNvSpPr txBox="1"/>
          <p:nvPr/>
        </p:nvSpPr>
        <p:spPr>
          <a:xfrm>
            <a:off x="530351" y="4367783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Physics:</a:t>
            </a:r>
          </a:p>
        </p:txBody>
      </p:sp>
      <p:sp>
        <p:nvSpPr>
          <p:cNvPr id="319" name="Text 17"/>
          <p:cNvSpPr txBox="1"/>
          <p:nvPr/>
        </p:nvSpPr>
        <p:spPr>
          <a:xfrm>
            <a:off x="530351" y="4605527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Analogy: constrained variational problem (KL budget)</a:t>
            </a:r>
          </a:p>
        </p:txBody>
      </p:sp>
      <p:sp>
        <p:nvSpPr>
          <p:cNvPr id="320" name="Shape 18"/>
          <p:cNvSpPr/>
          <p:nvPr/>
        </p:nvSpPr>
        <p:spPr>
          <a:xfrm>
            <a:off x="4754879" y="1261872"/>
            <a:ext cx="4069081" cy="33832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Shape 19"/>
          <p:cNvSpPr/>
          <p:nvPr/>
        </p:nvSpPr>
        <p:spPr>
          <a:xfrm>
            <a:off x="4754879" y="1261872"/>
            <a:ext cx="82297" cy="3383280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20"/>
          <p:cNvSpPr txBox="1"/>
          <p:nvPr/>
        </p:nvSpPr>
        <p:spPr>
          <a:xfrm>
            <a:off x="4965191" y="1397000"/>
            <a:ext cx="37490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SB3 Algorithms at a Glance</a:t>
            </a:r>
          </a:p>
        </p:txBody>
      </p:sp>
      <p:sp>
        <p:nvSpPr>
          <p:cNvPr id="323" name="Shape 21"/>
          <p:cNvSpPr/>
          <p:nvPr/>
        </p:nvSpPr>
        <p:spPr>
          <a:xfrm>
            <a:off x="4919471" y="1719072"/>
            <a:ext cx="640081" cy="320041"/>
          </a:xfrm>
          <a:prstGeom prst="rect">
            <a:avLst/>
          </a:prstGeom>
          <a:solidFill>
            <a:srgbClr val="1E3A4C"/>
          </a:solidFill>
          <a:ln w="635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22"/>
          <p:cNvSpPr txBox="1"/>
          <p:nvPr/>
        </p:nvSpPr>
        <p:spPr>
          <a:xfrm>
            <a:off x="4956047" y="1809242"/>
            <a:ext cx="5669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Algo</a:t>
            </a:r>
          </a:p>
        </p:txBody>
      </p:sp>
      <p:sp>
        <p:nvSpPr>
          <p:cNvPr id="325" name="Shape 23"/>
          <p:cNvSpPr/>
          <p:nvPr/>
        </p:nvSpPr>
        <p:spPr>
          <a:xfrm>
            <a:off x="5559552" y="1719072"/>
            <a:ext cx="822961" cy="320041"/>
          </a:xfrm>
          <a:prstGeom prst="rect">
            <a:avLst/>
          </a:prstGeom>
          <a:solidFill>
            <a:srgbClr val="1E3A4C"/>
          </a:solidFill>
          <a:ln w="635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24"/>
          <p:cNvSpPr txBox="1"/>
          <p:nvPr/>
        </p:nvSpPr>
        <p:spPr>
          <a:xfrm>
            <a:off x="5596128" y="1809242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27" name="Shape 25"/>
          <p:cNvSpPr/>
          <p:nvPr/>
        </p:nvSpPr>
        <p:spPr>
          <a:xfrm>
            <a:off x="6382511" y="1719072"/>
            <a:ext cx="1005840" cy="320041"/>
          </a:xfrm>
          <a:prstGeom prst="rect">
            <a:avLst/>
          </a:prstGeom>
          <a:solidFill>
            <a:srgbClr val="1E3A4C"/>
          </a:solidFill>
          <a:ln w="635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26"/>
          <p:cNvSpPr txBox="1"/>
          <p:nvPr/>
        </p:nvSpPr>
        <p:spPr>
          <a:xfrm>
            <a:off x="6419088" y="1809242"/>
            <a:ext cx="93268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329" name="Shape 27"/>
          <p:cNvSpPr/>
          <p:nvPr/>
        </p:nvSpPr>
        <p:spPr>
          <a:xfrm>
            <a:off x="7388352" y="1719072"/>
            <a:ext cx="1417321" cy="320041"/>
          </a:xfrm>
          <a:prstGeom prst="rect">
            <a:avLst/>
          </a:prstGeom>
          <a:solidFill>
            <a:srgbClr val="1E3A4C"/>
          </a:solidFill>
          <a:ln w="6350">
            <a:solidFill>
              <a:srgbClr val="44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28"/>
          <p:cNvSpPr txBox="1"/>
          <p:nvPr/>
        </p:nvSpPr>
        <p:spPr>
          <a:xfrm>
            <a:off x="7424928" y="1809242"/>
            <a:ext cx="13441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Use when</a:t>
            </a:r>
          </a:p>
        </p:txBody>
      </p:sp>
      <p:sp>
        <p:nvSpPr>
          <p:cNvPr id="331" name="Shape 29"/>
          <p:cNvSpPr/>
          <p:nvPr/>
        </p:nvSpPr>
        <p:spPr>
          <a:xfrm>
            <a:off x="4919471" y="2039111"/>
            <a:ext cx="640081" cy="34747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Text 30"/>
          <p:cNvSpPr txBox="1"/>
          <p:nvPr/>
        </p:nvSpPr>
        <p:spPr>
          <a:xfrm>
            <a:off x="4956047" y="2136647"/>
            <a:ext cx="56692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PPO</a:t>
            </a:r>
          </a:p>
        </p:txBody>
      </p:sp>
      <p:sp>
        <p:nvSpPr>
          <p:cNvPr id="333" name="Shape 31"/>
          <p:cNvSpPr/>
          <p:nvPr/>
        </p:nvSpPr>
        <p:spPr>
          <a:xfrm>
            <a:off x="5559552" y="2039111"/>
            <a:ext cx="822961" cy="34747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Text 32"/>
          <p:cNvSpPr txBox="1"/>
          <p:nvPr/>
        </p:nvSpPr>
        <p:spPr>
          <a:xfrm>
            <a:off x="5596128" y="2142997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On-policy</a:t>
            </a:r>
          </a:p>
        </p:txBody>
      </p:sp>
      <p:sp>
        <p:nvSpPr>
          <p:cNvPr id="335" name="Shape 33"/>
          <p:cNvSpPr/>
          <p:nvPr/>
        </p:nvSpPr>
        <p:spPr>
          <a:xfrm>
            <a:off x="6382511" y="2039111"/>
            <a:ext cx="1005840" cy="34747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Text 34"/>
          <p:cNvSpPr txBox="1"/>
          <p:nvPr/>
        </p:nvSpPr>
        <p:spPr>
          <a:xfrm>
            <a:off x="6419088" y="2142997"/>
            <a:ext cx="93268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Cont. &amp; disc.</a:t>
            </a:r>
          </a:p>
        </p:txBody>
      </p:sp>
      <p:sp>
        <p:nvSpPr>
          <p:cNvPr id="337" name="Shape 35"/>
          <p:cNvSpPr/>
          <p:nvPr/>
        </p:nvSpPr>
        <p:spPr>
          <a:xfrm>
            <a:off x="7388352" y="2039111"/>
            <a:ext cx="1417321" cy="34747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36"/>
          <p:cNvSpPr txBox="1"/>
          <p:nvPr/>
        </p:nvSpPr>
        <p:spPr>
          <a:xfrm>
            <a:off x="7424928" y="2142997"/>
            <a:ext cx="13441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Default choice</a:t>
            </a:r>
          </a:p>
        </p:txBody>
      </p:sp>
      <p:sp>
        <p:nvSpPr>
          <p:cNvPr id="339" name="Shape 37"/>
          <p:cNvSpPr/>
          <p:nvPr/>
        </p:nvSpPr>
        <p:spPr>
          <a:xfrm>
            <a:off x="4919471" y="2386583"/>
            <a:ext cx="640081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38"/>
          <p:cNvSpPr txBox="1"/>
          <p:nvPr/>
        </p:nvSpPr>
        <p:spPr>
          <a:xfrm>
            <a:off x="4956047" y="2484119"/>
            <a:ext cx="56692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A2C</a:t>
            </a:r>
          </a:p>
        </p:txBody>
      </p:sp>
      <p:sp>
        <p:nvSpPr>
          <p:cNvPr id="341" name="Shape 39"/>
          <p:cNvSpPr/>
          <p:nvPr/>
        </p:nvSpPr>
        <p:spPr>
          <a:xfrm>
            <a:off x="5559552" y="2386583"/>
            <a:ext cx="822961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Text 40"/>
          <p:cNvSpPr txBox="1"/>
          <p:nvPr/>
        </p:nvSpPr>
        <p:spPr>
          <a:xfrm>
            <a:off x="5596128" y="2490469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On-policy</a:t>
            </a:r>
          </a:p>
        </p:txBody>
      </p:sp>
      <p:sp>
        <p:nvSpPr>
          <p:cNvPr id="343" name="Shape 41"/>
          <p:cNvSpPr/>
          <p:nvPr/>
        </p:nvSpPr>
        <p:spPr>
          <a:xfrm>
            <a:off x="6382511" y="2386583"/>
            <a:ext cx="1005840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Text 42"/>
          <p:cNvSpPr txBox="1"/>
          <p:nvPr/>
        </p:nvSpPr>
        <p:spPr>
          <a:xfrm>
            <a:off x="6419088" y="2490469"/>
            <a:ext cx="93268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Cont. &amp; disc.</a:t>
            </a:r>
          </a:p>
        </p:txBody>
      </p:sp>
      <p:sp>
        <p:nvSpPr>
          <p:cNvPr id="345" name="Shape 43"/>
          <p:cNvSpPr/>
          <p:nvPr/>
        </p:nvSpPr>
        <p:spPr>
          <a:xfrm>
            <a:off x="7388352" y="2386583"/>
            <a:ext cx="1417321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44"/>
          <p:cNvSpPr txBox="1"/>
          <p:nvPr/>
        </p:nvSpPr>
        <p:spPr>
          <a:xfrm>
            <a:off x="7424928" y="2490469"/>
            <a:ext cx="13441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Faster, noisier</a:t>
            </a:r>
          </a:p>
        </p:txBody>
      </p:sp>
      <p:sp>
        <p:nvSpPr>
          <p:cNvPr id="347" name="Shape 45"/>
          <p:cNvSpPr/>
          <p:nvPr/>
        </p:nvSpPr>
        <p:spPr>
          <a:xfrm>
            <a:off x="4919471" y="2734055"/>
            <a:ext cx="640081" cy="34747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46"/>
          <p:cNvSpPr txBox="1"/>
          <p:nvPr/>
        </p:nvSpPr>
        <p:spPr>
          <a:xfrm>
            <a:off x="4956047" y="2831591"/>
            <a:ext cx="56692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DQN</a:t>
            </a:r>
          </a:p>
        </p:txBody>
      </p:sp>
      <p:sp>
        <p:nvSpPr>
          <p:cNvPr id="349" name="Shape 47"/>
          <p:cNvSpPr/>
          <p:nvPr/>
        </p:nvSpPr>
        <p:spPr>
          <a:xfrm>
            <a:off x="5559552" y="2734055"/>
            <a:ext cx="822961" cy="34747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Text 48"/>
          <p:cNvSpPr txBox="1"/>
          <p:nvPr/>
        </p:nvSpPr>
        <p:spPr>
          <a:xfrm>
            <a:off x="5596128" y="2837941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Off-policy</a:t>
            </a:r>
          </a:p>
        </p:txBody>
      </p:sp>
      <p:sp>
        <p:nvSpPr>
          <p:cNvPr id="351" name="Shape 49"/>
          <p:cNvSpPr/>
          <p:nvPr/>
        </p:nvSpPr>
        <p:spPr>
          <a:xfrm>
            <a:off x="6382511" y="2734055"/>
            <a:ext cx="1005840" cy="34747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Text 50"/>
          <p:cNvSpPr txBox="1"/>
          <p:nvPr/>
        </p:nvSpPr>
        <p:spPr>
          <a:xfrm>
            <a:off x="6419088" y="2837941"/>
            <a:ext cx="93268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Discrete only</a:t>
            </a:r>
          </a:p>
        </p:txBody>
      </p:sp>
      <p:sp>
        <p:nvSpPr>
          <p:cNvPr id="353" name="Shape 51"/>
          <p:cNvSpPr/>
          <p:nvPr/>
        </p:nvSpPr>
        <p:spPr>
          <a:xfrm>
            <a:off x="7388352" y="2734055"/>
            <a:ext cx="1417321" cy="347473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52"/>
          <p:cNvSpPr txBox="1"/>
          <p:nvPr/>
        </p:nvSpPr>
        <p:spPr>
          <a:xfrm>
            <a:off x="7424928" y="2837941"/>
            <a:ext cx="13441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FrozenLake</a:t>
            </a:r>
          </a:p>
        </p:txBody>
      </p:sp>
      <p:sp>
        <p:nvSpPr>
          <p:cNvPr id="355" name="Shape 53"/>
          <p:cNvSpPr/>
          <p:nvPr/>
        </p:nvSpPr>
        <p:spPr>
          <a:xfrm>
            <a:off x="4919471" y="3081527"/>
            <a:ext cx="640081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54"/>
          <p:cNvSpPr txBox="1"/>
          <p:nvPr/>
        </p:nvSpPr>
        <p:spPr>
          <a:xfrm>
            <a:off x="4956047" y="3179063"/>
            <a:ext cx="56692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SAC</a:t>
            </a:r>
          </a:p>
        </p:txBody>
      </p:sp>
      <p:sp>
        <p:nvSpPr>
          <p:cNvPr id="357" name="Shape 55"/>
          <p:cNvSpPr/>
          <p:nvPr/>
        </p:nvSpPr>
        <p:spPr>
          <a:xfrm>
            <a:off x="5559552" y="3081527"/>
            <a:ext cx="822961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8" name="Text 56"/>
          <p:cNvSpPr txBox="1"/>
          <p:nvPr/>
        </p:nvSpPr>
        <p:spPr>
          <a:xfrm>
            <a:off x="5596128" y="3185413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Off-policy</a:t>
            </a:r>
          </a:p>
        </p:txBody>
      </p:sp>
      <p:sp>
        <p:nvSpPr>
          <p:cNvPr id="359" name="Shape 57"/>
          <p:cNvSpPr/>
          <p:nvPr/>
        </p:nvSpPr>
        <p:spPr>
          <a:xfrm>
            <a:off x="6382511" y="3081527"/>
            <a:ext cx="1005840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Text 58"/>
          <p:cNvSpPr txBox="1"/>
          <p:nvPr/>
        </p:nvSpPr>
        <p:spPr>
          <a:xfrm>
            <a:off x="6419088" y="3185413"/>
            <a:ext cx="93268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Continuous</a:t>
            </a:r>
          </a:p>
        </p:txBody>
      </p:sp>
      <p:sp>
        <p:nvSpPr>
          <p:cNvPr id="361" name="Shape 59"/>
          <p:cNvSpPr/>
          <p:nvPr/>
        </p:nvSpPr>
        <p:spPr>
          <a:xfrm>
            <a:off x="7388352" y="3081527"/>
            <a:ext cx="1417321" cy="347473"/>
          </a:xfrm>
          <a:prstGeom prst="rect">
            <a:avLst/>
          </a:prstGeom>
          <a:solidFill>
            <a:srgbClr val="252525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Text 60"/>
          <p:cNvSpPr txBox="1"/>
          <p:nvPr/>
        </p:nvSpPr>
        <p:spPr>
          <a:xfrm>
            <a:off x="7424928" y="3185413"/>
            <a:ext cx="13441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Robotics</a:t>
            </a:r>
          </a:p>
        </p:txBody>
      </p:sp>
      <p:sp>
        <p:nvSpPr>
          <p:cNvPr id="363" name="Shape 61"/>
          <p:cNvSpPr/>
          <p:nvPr/>
        </p:nvSpPr>
        <p:spPr>
          <a:xfrm>
            <a:off x="4919471" y="3428999"/>
            <a:ext cx="640081" cy="347474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Text 62"/>
          <p:cNvSpPr txBox="1"/>
          <p:nvPr/>
        </p:nvSpPr>
        <p:spPr>
          <a:xfrm>
            <a:off x="4956047" y="3526535"/>
            <a:ext cx="56692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TD3</a:t>
            </a:r>
          </a:p>
        </p:txBody>
      </p:sp>
      <p:sp>
        <p:nvSpPr>
          <p:cNvPr id="365" name="Shape 63"/>
          <p:cNvSpPr/>
          <p:nvPr/>
        </p:nvSpPr>
        <p:spPr>
          <a:xfrm>
            <a:off x="5559552" y="3428999"/>
            <a:ext cx="822961" cy="347474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Text 64"/>
          <p:cNvSpPr txBox="1"/>
          <p:nvPr/>
        </p:nvSpPr>
        <p:spPr>
          <a:xfrm>
            <a:off x="5596128" y="3532886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Off-policy</a:t>
            </a:r>
          </a:p>
        </p:txBody>
      </p:sp>
      <p:sp>
        <p:nvSpPr>
          <p:cNvPr id="367" name="Shape 65"/>
          <p:cNvSpPr/>
          <p:nvPr/>
        </p:nvSpPr>
        <p:spPr>
          <a:xfrm>
            <a:off x="6382511" y="3428999"/>
            <a:ext cx="1005840" cy="347474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66"/>
          <p:cNvSpPr txBox="1"/>
          <p:nvPr/>
        </p:nvSpPr>
        <p:spPr>
          <a:xfrm>
            <a:off x="6419088" y="3532886"/>
            <a:ext cx="93268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Continuous</a:t>
            </a:r>
          </a:p>
        </p:txBody>
      </p:sp>
      <p:sp>
        <p:nvSpPr>
          <p:cNvPr id="369" name="Shape 67"/>
          <p:cNvSpPr/>
          <p:nvPr/>
        </p:nvSpPr>
        <p:spPr>
          <a:xfrm>
            <a:off x="7388352" y="3428999"/>
            <a:ext cx="1417321" cy="347474"/>
          </a:xfrm>
          <a:prstGeom prst="rect">
            <a:avLst/>
          </a:prstGeom>
          <a:solidFill>
            <a:srgbClr val="2D2D2D"/>
          </a:solidFill>
          <a:ln w="6350">
            <a:solidFill>
              <a:srgbClr val="38383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68"/>
          <p:cNvSpPr txBox="1"/>
          <p:nvPr/>
        </p:nvSpPr>
        <p:spPr>
          <a:xfrm>
            <a:off x="7424928" y="3532886"/>
            <a:ext cx="134416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Stable cont.</a:t>
            </a:r>
          </a:p>
        </p:txBody>
      </p:sp>
      <p:sp>
        <p:nvSpPr>
          <p:cNvPr id="371" name="Text 69"/>
          <p:cNvSpPr txBox="1"/>
          <p:nvPr/>
        </p:nvSpPr>
        <p:spPr>
          <a:xfrm>
            <a:off x="4919471" y="4371339"/>
            <a:ext cx="3749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888888"/>
                </a:solidFill>
              </a:defRPr>
            </a:lvl1pPr>
          </a:lstStyle>
          <a:p>
            <a:pPr/>
            <a:r>
              <a:t>SB3 doc: stable-baselines3.readthedocs.io</a:t>
            </a:r>
          </a:p>
        </p:txBody>
      </p:sp>
      <p:sp>
        <p:nvSpPr>
          <p:cNvPr id="372" name="Shape 70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3" name="Text 71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374" name="Text 72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The Physics Angle I: Reward Landscapes</a:t>
            </a:r>
          </a:p>
        </p:txBody>
      </p:sp>
      <p:sp>
        <p:nvSpPr>
          <p:cNvPr id="377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Reward shaping as potential energy design</a:t>
            </a:r>
          </a:p>
        </p:txBody>
      </p:sp>
      <p:sp>
        <p:nvSpPr>
          <p:cNvPr id="379" name="Shape 3"/>
          <p:cNvSpPr/>
          <p:nvPr/>
        </p:nvSpPr>
        <p:spPr>
          <a:xfrm>
            <a:off x="320040" y="1261871"/>
            <a:ext cx="8503920" cy="324612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Shape 4"/>
          <p:cNvSpPr/>
          <p:nvPr/>
        </p:nvSpPr>
        <p:spPr>
          <a:xfrm>
            <a:off x="320040" y="1261871"/>
            <a:ext cx="82297" cy="3246122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1" name="Text 5"/>
          <p:cNvSpPr txBox="1"/>
          <p:nvPr/>
        </p:nvSpPr>
        <p:spPr>
          <a:xfrm>
            <a:off x="548640" y="1417065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Reward as potential energy</a:t>
            </a:r>
          </a:p>
        </p:txBody>
      </p:sp>
      <p:sp>
        <p:nvSpPr>
          <p:cNvPr id="382" name="Text 6"/>
          <p:cNvSpPr txBox="1"/>
          <p:nvPr/>
        </p:nvSpPr>
        <p:spPr>
          <a:xfrm>
            <a:off x="548640" y="1648713"/>
            <a:ext cx="8138160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The total discounted return G_t = Σ γᵏ r_{t+k} maps exactly to potential energy in a conservative field. The agent is a particle rolling toward the energy minimum (maximum reward). γ &lt; 1 gives exponential distance weighting — identical to a Yukawa potential.</a:t>
            </a:r>
          </a:p>
        </p:txBody>
      </p:sp>
      <p:sp>
        <p:nvSpPr>
          <p:cNvPr id="383" name="Shape 7"/>
          <p:cNvSpPr/>
          <p:nvPr/>
        </p:nvSpPr>
        <p:spPr>
          <a:xfrm>
            <a:off x="548640" y="2148839"/>
            <a:ext cx="8229601" cy="18289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8"/>
          <p:cNvSpPr txBox="1"/>
          <p:nvPr/>
        </p:nvSpPr>
        <p:spPr>
          <a:xfrm>
            <a:off x="548640" y="2422905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Reward landscape topology</a:t>
            </a:r>
          </a:p>
        </p:txBody>
      </p:sp>
      <p:sp>
        <p:nvSpPr>
          <p:cNvPr id="385" name="Text 9"/>
          <p:cNvSpPr txBox="1"/>
          <p:nvPr/>
        </p:nvSpPr>
        <p:spPr>
          <a:xfrm>
            <a:off x="548640" y="2646634"/>
            <a:ext cx="8138160" cy="485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Dense reward (CartPole) = smooth, convex landscape → easy gradient ascent. Sparse reward (FrozenLake) = flat with a single delta-peak at goal → near-zero gradient almost everywhere. This is why sparse rewards need exploration bonuses or reward shaping.</a:t>
            </a:r>
          </a:p>
        </p:txBody>
      </p:sp>
      <p:sp>
        <p:nvSpPr>
          <p:cNvPr id="386" name="Shape 10"/>
          <p:cNvSpPr/>
          <p:nvPr/>
        </p:nvSpPr>
        <p:spPr>
          <a:xfrm>
            <a:off x="548640" y="3154679"/>
            <a:ext cx="8229601" cy="18289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7" name="Text 11"/>
          <p:cNvSpPr txBox="1"/>
          <p:nvPr/>
        </p:nvSpPr>
        <p:spPr>
          <a:xfrm>
            <a:off x="548640" y="3428745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5DBB6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Reward shaping theorem (Ng et al. 1999)</a:t>
            </a:r>
          </a:p>
        </p:txBody>
      </p:sp>
      <p:sp>
        <p:nvSpPr>
          <p:cNvPr id="388" name="Text 12"/>
          <p:cNvSpPr txBox="1"/>
          <p:nvPr/>
        </p:nvSpPr>
        <p:spPr>
          <a:xfrm>
            <a:off x="548640" y="3742943"/>
            <a:ext cx="81381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Adding a potential-based shaping term F(s,s') = γΦ(s') − Φ(s) to the reward never changes the optimal policy. This is the RL analog of gauge invariance: we can shift the potential without altering the physics.</a:t>
            </a:r>
          </a:p>
        </p:txBody>
      </p:sp>
      <p:sp>
        <p:nvSpPr>
          <p:cNvPr id="389" name="Shape 13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14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391" name="Text 15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 0"/>
          <p:cNvSpPr txBox="1"/>
          <p:nvPr/>
        </p:nvSpPr>
        <p:spPr>
          <a:xfrm>
            <a:off x="457200" y="52831"/>
            <a:ext cx="8229600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The Physics Angle II: Convergence &amp; Stability</a:t>
            </a:r>
          </a:p>
        </p:txBody>
      </p:sp>
      <p:sp>
        <p:nvSpPr>
          <p:cNvPr id="394" name="Shape 1"/>
          <p:cNvSpPr/>
          <p:nvPr/>
        </p:nvSpPr>
        <p:spPr>
          <a:xfrm>
            <a:off x="457199" y="8935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ext 2"/>
          <p:cNvSpPr txBox="1"/>
          <p:nvPr/>
        </p:nvSpPr>
        <p:spPr>
          <a:xfrm>
            <a:off x="457200" y="9606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Learning curves as dynamical systems — does RL always converge?</a:t>
            </a:r>
          </a:p>
        </p:txBody>
      </p:sp>
      <p:sp>
        <p:nvSpPr>
          <p:cNvPr id="396" name="Shape 3"/>
          <p:cNvSpPr/>
          <p:nvPr/>
        </p:nvSpPr>
        <p:spPr>
          <a:xfrm>
            <a:off x="320039" y="1261872"/>
            <a:ext cx="4160522" cy="33832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7" name="Shape 4"/>
          <p:cNvSpPr/>
          <p:nvPr/>
        </p:nvSpPr>
        <p:spPr>
          <a:xfrm>
            <a:off x="320040" y="1261872"/>
            <a:ext cx="82297" cy="3383280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 5"/>
          <p:cNvSpPr txBox="1"/>
          <p:nvPr/>
        </p:nvSpPr>
        <p:spPr>
          <a:xfrm>
            <a:off x="530351" y="1383284"/>
            <a:ext cx="37490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Convergence Conditions</a:t>
            </a:r>
          </a:p>
        </p:txBody>
      </p:sp>
      <p:sp>
        <p:nvSpPr>
          <p:cNvPr id="399" name="Text 6"/>
          <p:cNvSpPr txBox="1"/>
          <p:nvPr/>
        </p:nvSpPr>
        <p:spPr>
          <a:xfrm>
            <a:off x="530351" y="1789176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Tabular Q-learning:</a:t>
            </a:r>
          </a:p>
        </p:txBody>
      </p:sp>
      <p:sp>
        <p:nvSpPr>
          <p:cNvPr id="400" name="Text 7"/>
          <p:cNvSpPr txBox="1"/>
          <p:nvPr/>
        </p:nvSpPr>
        <p:spPr>
          <a:xfrm>
            <a:off x="530351" y="2053313"/>
            <a:ext cx="3749042" cy="319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Guaranteed if all (s,a) visited infinitely often and α_t → 0 at correct rate (Robbins-Monro)</a:t>
            </a:r>
          </a:p>
        </p:txBody>
      </p:sp>
      <p:sp>
        <p:nvSpPr>
          <p:cNvPr id="401" name="Text 8"/>
          <p:cNvSpPr txBox="1"/>
          <p:nvPr/>
        </p:nvSpPr>
        <p:spPr>
          <a:xfrm>
            <a:off x="530351" y="2538983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DQN / PPO:</a:t>
            </a:r>
          </a:p>
        </p:txBody>
      </p:sp>
      <p:sp>
        <p:nvSpPr>
          <p:cNvPr id="402" name="Text 9"/>
          <p:cNvSpPr txBox="1"/>
          <p:nvPr/>
        </p:nvSpPr>
        <p:spPr>
          <a:xfrm>
            <a:off x="530351" y="2810256"/>
            <a:ext cx="37490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No global guarantee — empirical convergence only; replay buffer and target network help stability</a:t>
            </a:r>
          </a:p>
        </p:txBody>
      </p:sp>
      <p:sp>
        <p:nvSpPr>
          <p:cNvPr id="403" name="Text 10"/>
          <p:cNvSpPr txBox="1"/>
          <p:nvPr/>
        </p:nvSpPr>
        <p:spPr>
          <a:xfrm>
            <a:off x="530351" y="3288792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Physics link:</a:t>
            </a:r>
          </a:p>
        </p:txBody>
      </p:sp>
      <p:sp>
        <p:nvSpPr>
          <p:cNvPr id="404" name="Text 11"/>
          <p:cNvSpPr txBox="1"/>
          <p:nvPr/>
        </p:nvSpPr>
        <p:spPr>
          <a:xfrm>
            <a:off x="530351" y="3560064"/>
            <a:ext cx="37490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Learning rate schedule α_t ~ 1/t mimics critical slowing-down near phase transitions</a:t>
            </a:r>
          </a:p>
        </p:txBody>
      </p:sp>
      <p:sp>
        <p:nvSpPr>
          <p:cNvPr id="405" name="Text 12"/>
          <p:cNvSpPr txBox="1"/>
          <p:nvPr/>
        </p:nvSpPr>
        <p:spPr>
          <a:xfrm>
            <a:off x="530351" y="4038600"/>
            <a:ext cx="37490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Oscillations:</a:t>
            </a:r>
          </a:p>
        </p:txBody>
      </p:sp>
      <p:sp>
        <p:nvSpPr>
          <p:cNvPr id="406" name="Text 13"/>
          <p:cNvSpPr txBox="1"/>
          <p:nvPr/>
        </p:nvSpPr>
        <p:spPr>
          <a:xfrm>
            <a:off x="530351" y="4309871"/>
            <a:ext cx="37490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Overfit, catastrophic forgetting, or limit cycles in policy space — analogous to chaos</a:t>
            </a:r>
          </a:p>
        </p:txBody>
      </p:sp>
      <p:sp>
        <p:nvSpPr>
          <p:cNvPr id="407" name="Shape 14"/>
          <p:cNvSpPr/>
          <p:nvPr/>
        </p:nvSpPr>
        <p:spPr>
          <a:xfrm>
            <a:off x="4754879" y="1261872"/>
            <a:ext cx="4069081" cy="33832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8" name="Shape 15"/>
          <p:cNvSpPr/>
          <p:nvPr/>
        </p:nvSpPr>
        <p:spPr>
          <a:xfrm>
            <a:off x="4754879" y="1261872"/>
            <a:ext cx="82297" cy="3383280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9" name="Text 16"/>
          <p:cNvSpPr txBox="1"/>
          <p:nvPr/>
        </p:nvSpPr>
        <p:spPr>
          <a:xfrm>
            <a:off x="4965191" y="1383284"/>
            <a:ext cx="37490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CartPole: Lyapunov Stability</a:t>
            </a:r>
          </a:p>
        </p:txBody>
      </p:sp>
      <p:sp>
        <p:nvSpPr>
          <p:cNvPr id="410" name="Text 17"/>
          <p:cNvSpPr txBox="1"/>
          <p:nvPr/>
        </p:nvSpPr>
        <p:spPr>
          <a:xfrm>
            <a:off x="4965191" y="1735581"/>
            <a:ext cx="374904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The trained CartPole controller keeps (θ, θ̇) near the unstable equilibrium (0,0). We can verify this with a Lyapunov function:</a:t>
            </a:r>
          </a:p>
        </p:txBody>
      </p:sp>
      <p:sp>
        <p:nvSpPr>
          <p:cNvPr id="411" name="Shape 18"/>
          <p:cNvSpPr/>
          <p:nvPr/>
        </p:nvSpPr>
        <p:spPr>
          <a:xfrm>
            <a:off x="4919471" y="2304288"/>
            <a:ext cx="3904489" cy="685801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Text 19"/>
          <p:cNvSpPr txBox="1"/>
          <p:nvPr/>
        </p:nvSpPr>
        <p:spPr>
          <a:xfrm>
            <a:off x="5056632" y="2414016"/>
            <a:ext cx="3630169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V(s) = θ² + c·θ̇²  &gt; 0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dV/dt = 2θ·θ̇ + 2c·θ̇·θ̈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88888"/>
                </a:solidFill>
              </a:rPr>
              <a:t># Stable if dV/dt &lt; 0  →  θ̈ must push toward 0</a:t>
            </a:r>
          </a:p>
        </p:txBody>
      </p:sp>
      <p:sp>
        <p:nvSpPr>
          <p:cNvPr id="413" name="Text 20"/>
          <p:cNvSpPr txBox="1"/>
          <p:nvPr/>
        </p:nvSpPr>
        <p:spPr>
          <a:xfrm>
            <a:off x="4965191" y="3131819"/>
            <a:ext cx="374904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A good PPO policy achieves near-Lyapunov stability empirically — dV/dt &lt; 0 on average across episodes. We can measure this directly from rollouts!</a:t>
            </a:r>
          </a:p>
        </p:txBody>
      </p:sp>
      <p:sp>
        <p:nvSpPr>
          <p:cNvPr id="414" name="Text 21"/>
          <p:cNvSpPr txBox="1"/>
          <p:nvPr/>
        </p:nvSpPr>
        <p:spPr>
          <a:xfrm>
            <a:off x="4965191" y="3688565"/>
            <a:ext cx="3749041" cy="166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E8B931"/>
                </a:solidFill>
              </a:defRPr>
            </a:lvl1pPr>
          </a:lstStyle>
          <a:p>
            <a:pPr/>
            <a:r>
              <a:t>▸ Exercise 4 asks you to compute this.</a:t>
            </a:r>
          </a:p>
        </p:txBody>
      </p:sp>
      <p:sp>
        <p:nvSpPr>
          <p:cNvPr id="415" name="Shape 22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Text 23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417" name="Text 24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Visualising the Trained Agent</a:t>
            </a:r>
          </a:p>
        </p:txBody>
      </p:sp>
      <p:sp>
        <p:nvSpPr>
          <p:cNvPr id="420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1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Render, record, and analyse — close the loop between code and intuition</a:t>
            </a:r>
          </a:p>
        </p:txBody>
      </p:sp>
      <p:sp>
        <p:nvSpPr>
          <p:cNvPr id="422" name="Shape 3"/>
          <p:cNvSpPr/>
          <p:nvPr/>
        </p:nvSpPr>
        <p:spPr>
          <a:xfrm>
            <a:off x="320040" y="1298447"/>
            <a:ext cx="1207009" cy="256033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Text 4"/>
          <p:cNvSpPr txBox="1"/>
          <p:nvPr/>
        </p:nvSpPr>
        <p:spPr>
          <a:xfrm>
            <a:off x="365760" y="1350263"/>
            <a:ext cx="111556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Record video</a:t>
            </a:r>
          </a:p>
        </p:txBody>
      </p:sp>
      <p:sp>
        <p:nvSpPr>
          <p:cNvPr id="424" name="Shape 5"/>
          <p:cNvSpPr/>
          <p:nvPr/>
        </p:nvSpPr>
        <p:spPr>
          <a:xfrm>
            <a:off x="320040" y="1572767"/>
            <a:ext cx="8503920" cy="1261873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5" name="Text 6"/>
          <p:cNvSpPr txBox="1"/>
          <p:nvPr/>
        </p:nvSpPr>
        <p:spPr>
          <a:xfrm>
            <a:off x="457200" y="1580895"/>
            <a:ext cx="8229600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from stable_baselines3.common.vec_env import VecVideoRecorder, DummyVecEnv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env = DummyVecEnv([lambda: gym.make(</a:t>
            </a:r>
            <a:r>
              <a:rPr>
                <a:solidFill>
                  <a:srgbClr val="E8B931"/>
                </a:solidFill>
              </a:rPr>
              <a:t>"CartPole-v1"</a:t>
            </a:r>
            <a:r>
              <a:t>, render_mode=</a:t>
            </a:r>
            <a:r>
              <a:rPr>
                <a:solidFill>
                  <a:srgbClr val="E8B931"/>
                </a:solidFill>
              </a:rPr>
              <a:t>"rgb_array"</a:t>
            </a:r>
            <a:r>
              <a:t>)])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env = VecVideoRecorder(env, </a:t>
            </a:r>
            <a:r>
              <a:rPr>
                <a:solidFill>
                  <a:srgbClr val="E8B931"/>
                </a:solidFill>
              </a:rPr>
              <a:t>"./videos"</a:t>
            </a:r>
            <a:r>
              <a:t>, record_video_trigger=lambda step: step==0, video_length=500)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obs = env.reset()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for _ in range(500):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action, _ = model.predict(obs)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obs, _, done, _ = env.step(action)</a:t>
            </a:r>
          </a:p>
        </p:txBody>
      </p:sp>
      <p:sp>
        <p:nvSpPr>
          <p:cNvPr id="426" name="Shape 7"/>
          <p:cNvSpPr/>
          <p:nvPr/>
        </p:nvSpPr>
        <p:spPr>
          <a:xfrm>
            <a:off x="320040" y="2971800"/>
            <a:ext cx="2061973" cy="256032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7" name="Text 8"/>
          <p:cNvSpPr txBox="1"/>
          <p:nvPr/>
        </p:nvSpPr>
        <p:spPr>
          <a:xfrm>
            <a:off x="365759" y="3023615"/>
            <a:ext cx="19705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Evaluate quantitatively</a:t>
            </a:r>
          </a:p>
        </p:txBody>
      </p:sp>
      <p:sp>
        <p:nvSpPr>
          <p:cNvPr id="428" name="Shape 9"/>
          <p:cNvSpPr/>
          <p:nvPr/>
        </p:nvSpPr>
        <p:spPr>
          <a:xfrm>
            <a:off x="320040" y="3246120"/>
            <a:ext cx="8503920" cy="1298449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9" name="Text 10"/>
          <p:cNvSpPr txBox="1"/>
          <p:nvPr/>
        </p:nvSpPr>
        <p:spPr>
          <a:xfrm>
            <a:off x="457200" y="3355847"/>
            <a:ext cx="8229600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from stable_baselines3.common.evaluation import evaluate_policy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mean_reward, std_reward = evaluate_policy(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model, gym.make(</a:t>
            </a:r>
            <a:r>
              <a:rPr>
                <a:solidFill>
                  <a:srgbClr val="E8B931"/>
                </a:solidFill>
              </a:rPr>
              <a:t>"CartPole-v1"</a:t>
            </a:r>
            <a:r>
              <a:t>),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n_eval_episodes=</a:t>
            </a:r>
            <a:r>
              <a:rPr>
                <a:solidFill>
                  <a:srgbClr val="4A9ECC"/>
                </a:solidFill>
              </a:rPr>
              <a:t>50</a:t>
            </a:r>
            <a:r>
              <a:t>, deterministic=True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)</a:t>
            </a:r>
          </a:p>
          <a:p>
            <a:pPr>
              <a:defRPr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print(f</a:t>
            </a:r>
            <a:r>
              <a:rPr>
                <a:solidFill>
                  <a:srgbClr val="E8B931"/>
                </a:solidFill>
              </a:rPr>
              <a:t>"Mean reward: {mean_reward:.1f} ± {std_reward:.1f}"</a:t>
            </a:r>
            <a:r>
              <a:t>)  </a:t>
            </a:r>
            <a:r>
              <a:rPr>
                <a:solidFill>
                  <a:srgbClr val="888888"/>
                </a:solidFill>
              </a:rPr>
              <a:t># 500.0 ± 0.0 = solved</a:t>
            </a:r>
          </a:p>
        </p:txBody>
      </p:sp>
      <p:sp>
        <p:nvSpPr>
          <p:cNvPr id="430" name="Shape 11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Text 12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432" name="Text 13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Reading Learning Curves</a:t>
            </a:r>
          </a:p>
        </p:txBody>
      </p:sp>
      <p:sp>
        <p:nvSpPr>
          <p:cNvPr id="435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6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Episode reward and entropy over training — a physicist's lens</a:t>
            </a:r>
          </a:p>
        </p:txBody>
      </p:sp>
      <p:sp>
        <p:nvSpPr>
          <p:cNvPr id="437" name="Shape 3"/>
          <p:cNvSpPr/>
          <p:nvPr/>
        </p:nvSpPr>
        <p:spPr>
          <a:xfrm>
            <a:off x="320039" y="1298447"/>
            <a:ext cx="1984250" cy="256033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8" name="Text 4"/>
          <p:cNvSpPr txBox="1"/>
          <p:nvPr/>
        </p:nvSpPr>
        <p:spPr>
          <a:xfrm>
            <a:off x="365760" y="1350263"/>
            <a:ext cx="189280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TensorBoard / callback</a:t>
            </a:r>
          </a:p>
        </p:txBody>
      </p:sp>
      <p:sp>
        <p:nvSpPr>
          <p:cNvPr id="439" name="Shape 5"/>
          <p:cNvSpPr/>
          <p:nvPr/>
        </p:nvSpPr>
        <p:spPr>
          <a:xfrm>
            <a:off x="320039" y="1572767"/>
            <a:ext cx="4160522" cy="1938529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0" name="Text 6"/>
          <p:cNvSpPr txBox="1"/>
          <p:nvPr/>
        </p:nvSpPr>
        <p:spPr>
          <a:xfrm>
            <a:off x="457200" y="1682495"/>
            <a:ext cx="3886200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from stable_baselines3.common.callbacks\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import EvalCallback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eval_env = gym.make(</a:t>
            </a:r>
            <a:r>
              <a:rPr>
                <a:solidFill>
                  <a:srgbClr val="E8B931"/>
                </a:solidFill>
              </a:rPr>
              <a:t>"CartPole-v1"</a:t>
            </a:r>
            <a:r>
              <a:t>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cb = EvalCallback(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eval_env,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best_model_save_path=</a:t>
            </a:r>
            <a:r>
              <a:rPr>
                <a:solidFill>
                  <a:srgbClr val="E8B931"/>
                </a:solidFill>
              </a:rPr>
              <a:t>"./best/"</a:t>
            </a:r>
            <a:r>
              <a:t>,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eval_freq=</a:t>
            </a:r>
            <a:r>
              <a:rPr>
                <a:solidFill>
                  <a:srgbClr val="4A9ECC"/>
                </a:solidFill>
              </a:rPr>
              <a:t>5000</a:t>
            </a:r>
            <a:r>
              <a:t>, n_eval_episodes=</a:t>
            </a:r>
            <a:r>
              <a:rPr>
                <a:solidFill>
                  <a:srgbClr val="4A9ECC"/>
                </a:solidFill>
              </a:rPr>
              <a:t>10</a:t>
            </a:r>
            <a:r>
              <a:t>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model.learn(total_timesteps=</a:t>
            </a:r>
            <a:r>
              <a:rPr>
                <a:solidFill>
                  <a:srgbClr val="4A9ECC"/>
                </a:solidFill>
              </a:rPr>
              <a:t>100_000</a:t>
            </a:r>
            <a:r>
              <a:t>,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callback=cb)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88888"/>
                </a:solidFill>
              </a:rPr>
              <a:t># tensorboard --logdir ./tb_logs/</a:t>
            </a:r>
          </a:p>
        </p:txBody>
      </p:sp>
      <p:sp>
        <p:nvSpPr>
          <p:cNvPr id="441" name="Shape 7"/>
          <p:cNvSpPr/>
          <p:nvPr/>
        </p:nvSpPr>
        <p:spPr>
          <a:xfrm>
            <a:off x="4754879" y="1298447"/>
            <a:ext cx="4069081" cy="3429001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2" name="Shape 8"/>
          <p:cNvSpPr/>
          <p:nvPr/>
        </p:nvSpPr>
        <p:spPr>
          <a:xfrm>
            <a:off x="4754879" y="1298447"/>
            <a:ext cx="82297" cy="3429001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3" name="Text 9"/>
          <p:cNvSpPr txBox="1"/>
          <p:nvPr/>
        </p:nvSpPr>
        <p:spPr>
          <a:xfrm>
            <a:off x="4965191" y="1410715"/>
            <a:ext cx="37490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What the curves tell you</a:t>
            </a:r>
          </a:p>
        </p:txBody>
      </p:sp>
      <p:sp>
        <p:nvSpPr>
          <p:cNvPr id="444" name="Text 10"/>
          <p:cNvSpPr txBox="1"/>
          <p:nvPr/>
        </p:nvSpPr>
        <p:spPr>
          <a:xfrm>
            <a:off x="4965191" y="1669795"/>
            <a:ext cx="37490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ep_rew_mean ↑</a:t>
            </a:r>
          </a:p>
        </p:txBody>
      </p:sp>
      <p:sp>
        <p:nvSpPr>
          <p:cNvPr id="445" name="Text 11"/>
          <p:cNvSpPr txBox="1"/>
          <p:nvPr/>
        </p:nvSpPr>
        <p:spPr>
          <a:xfrm>
            <a:off x="4965191" y="1885187"/>
            <a:ext cx="3749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Primary signal — smoothed mean episode reward; should rise monotonically after warm-up</a:t>
            </a:r>
          </a:p>
        </p:txBody>
      </p:sp>
      <p:sp>
        <p:nvSpPr>
          <p:cNvPr id="446" name="Text 12"/>
          <p:cNvSpPr txBox="1"/>
          <p:nvPr/>
        </p:nvSpPr>
        <p:spPr>
          <a:xfrm>
            <a:off x="4965191" y="2282443"/>
            <a:ext cx="37490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entropy_loss ↓</a:t>
            </a:r>
          </a:p>
        </p:txBody>
      </p:sp>
      <p:sp>
        <p:nvSpPr>
          <p:cNvPr id="447" name="Text 13"/>
          <p:cNvSpPr txBox="1"/>
          <p:nvPr/>
        </p:nvSpPr>
        <p:spPr>
          <a:xfrm>
            <a:off x="4965191" y="2497836"/>
            <a:ext cx="3749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Policy entropy decreasing = agent becoming more deterministic = exploiting a learned strategy</a:t>
            </a:r>
          </a:p>
        </p:txBody>
      </p:sp>
      <p:sp>
        <p:nvSpPr>
          <p:cNvPr id="448" name="Text 14"/>
          <p:cNvSpPr txBox="1"/>
          <p:nvPr/>
        </p:nvSpPr>
        <p:spPr>
          <a:xfrm>
            <a:off x="4965191" y="2895092"/>
            <a:ext cx="37490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value_loss ↓</a:t>
            </a:r>
          </a:p>
        </p:txBody>
      </p:sp>
      <p:sp>
        <p:nvSpPr>
          <p:cNvPr id="449" name="Text 15"/>
          <p:cNvSpPr txBox="1"/>
          <p:nvPr/>
        </p:nvSpPr>
        <p:spPr>
          <a:xfrm>
            <a:off x="4965191" y="3110484"/>
            <a:ext cx="3749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Critic accuracy; high variance or oscillation signals unstable learning</a:t>
            </a:r>
          </a:p>
        </p:txBody>
      </p:sp>
      <p:sp>
        <p:nvSpPr>
          <p:cNvPr id="450" name="Text 16"/>
          <p:cNvSpPr txBox="1"/>
          <p:nvPr/>
        </p:nvSpPr>
        <p:spPr>
          <a:xfrm>
            <a:off x="4965191" y="3507739"/>
            <a:ext cx="37490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approx_kl</a:t>
            </a:r>
          </a:p>
        </p:txBody>
      </p:sp>
      <p:sp>
        <p:nvSpPr>
          <p:cNvPr id="451" name="Text 17"/>
          <p:cNvSpPr txBox="1"/>
          <p:nvPr/>
        </p:nvSpPr>
        <p:spPr>
          <a:xfrm>
            <a:off x="4965191" y="3723131"/>
            <a:ext cx="3749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Kullback-Leibler between old/new policy; PPO clips this to ≈ 0.01–0.05</a:t>
            </a:r>
          </a:p>
        </p:txBody>
      </p:sp>
      <p:sp>
        <p:nvSpPr>
          <p:cNvPr id="452" name="Text 18"/>
          <p:cNvSpPr txBox="1"/>
          <p:nvPr/>
        </p:nvSpPr>
        <p:spPr>
          <a:xfrm>
            <a:off x="4965191" y="4120387"/>
            <a:ext cx="37490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explained_variance</a:t>
            </a:r>
          </a:p>
        </p:txBody>
      </p:sp>
      <p:sp>
        <p:nvSpPr>
          <p:cNvPr id="453" name="Text 19"/>
          <p:cNvSpPr txBox="1"/>
          <p:nvPr/>
        </p:nvSpPr>
        <p:spPr>
          <a:xfrm>
            <a:off x="4965191" y="4335779"/>
            <a:ext cx="3749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R² of value predictions; &lt; 0 = critic worse than random — needs more capacity</a:t>
            </a:r>
          </a:p>
        </p:txBody>
      </p:sp>
      <p:sp>
        <p:nvSpPr>
          <p:cNvPr id="454" name="Shape 20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5" name="Text 21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456" name="Text 22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Analysing the Trained Policy</a:t>
            </a:r>
          </a:p>
        </p:txBody>
      </p:sp>
      <p:sp>
        <p:nvSpPr>
          <p:cNvPr id="459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0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From black-box model to interpretable physics</a:t>
            </a:r>
          </a:p>
        </p:txBody>
      </p:sp>
      <p:sp>
        <p:nvSpPr>
          <p:cNvPr id="461" name="Shape 3"/>
          <p:cNvSpPr/>
          <p:nvPr/>
        </p:nvSpPr>
        <p:spPr>
          <a:xfrm>
            <a:off x="320040" y="1298447"/>
            <a:ext cx="3927348" cy="256033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2" name="Text 4"/>
          <p:cNvSpPr txBox="1"/>
          <p:nvPr/>
        </p:nvSpPr>
        <p:spPr>
          <a:xfrm>
            <a:off x="365759" y="1350263"/>
            <a:ext cx="383591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CartPole — phase portrait of the trained policy</a:t>
            </a:r>
          </a:p>
        </p:txBody>
      </p:sp>
      <p:sp>
        <p:nvSpPr>
          <p:cNvPr id="463" name="Shape 5"/>
          <p:cNvSpPr/>
          <p:nvPr/>
        </p:nvSpPr>
        <p:spPr>
          <a:xfrm>
            <a:off x="320040" y="1572767"/>
            <a:ext cx="8503920" cy="1828801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4" name="Text 6"/>
          <p:cNvSpPr txBox="1"/>
          <p:nvPr/>
        </p:nvSpPr>
        <p:spPr>
          <a:xfrm>
            <a:off x="457200" y="1682495"/>
            <a:ext cx="8229600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import numpy as np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import matplotlib.pyplot as plt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theta  = np.linspace(-0.2, 0.2, 50)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theta_dot = np.linspace(-2, 2, 50)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TH, TD = np.meshgrid(theta, theta_dot)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actions = np.zeros_like(TH)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for i, th in enumerate(theta):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for j, td in enumerate(theta_dot):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obs = np.array([[0, 0, th, td]], dtype=np.float32)  # x=0, xdot=0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actions[j, i], _ = model.predict(obs, deterministic=True)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plt.contourf(TH, TD, actions, cmap=</a:t>
            </a:r>
            <a:r>
              <a:rPr>
                <a:solidFill>
                  <a:srgbClr val="E8B931"/>
                </a:solidFill>
              </a:rPr>
              <a:t>'RdBu'</a:t>
            </a:r>
            <a:r>
              <a:t>, alpha=0.8)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plt.xlabel(</a:t>
            </a:r>
            <a:r>
              <a:rPr>
                <a:solidFill>
                  <a:srgbClr val="E8B931"/>
                </a:solidFill>
              </a:rPr>
              <a:t>r'$\theta$ (rad)'</a:t>
            </a:r>
            <a:r>
              <a:t>);  plt.ylabel(</a:t>
            </a:r>
            <a:r>
              <a:rPr>
                <a:solidFill>
                  <a:srgbClr val="E8B931"/>
                </a:solidFill>
              </a:rPr>
              <a:t>r'$\dot\theta$ (rad/s)'</a:t>
            </a:r>
            <a:r>
              <a:t>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plt.colorbar(label=</a:t>
            </a:r>
            <a:r>
              <a:rPr>
                <a:solidFill>
                  <a:srgbClr val="E8B931"/>
                </a:solidFill>
              </a:rPr>
              <a:t>'Action (0=L, 1=R)'</a:t>
            </a:r>
            <a:r>
              <a:t>)  </a:t>
            </a:r>
            <a:r>
              <a:rPr>
                <a:solidFill>
                  <a:srgbClr val="888888"/>
                </a:solidFill>
              </a:rPr>
              <a:t># boundary ≈ straight line through origin = linear controller!</a:t>
            </a:r>
          </a:p>
        </p:txBody>
      </p:sp>
      <p:sp>
        <p:nvSpPr>
          <p:cNvPr id="465" name="Shape 7"/>
          <p:cNvSpPr/>
          <p:nvPr/>
        </p:nvSpPr>
        <p:spPr>
          <a:xfrm>
            <a:off x="320040" y="3520440"/>
            <a:ext cx="8503920" cy="1005840"/>
          </a:xfrm>
          <a:prstGeom prst="rect">
            <a:avLst/>
          </a:prstGeom>
          <a:solidFill>
            <a:srgbClr val="1E3A4C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6" name="Text 8"/>
          <p:cNvSpPr txBox="1"/>
          <p:nvPr/>
        </p:nvSpPr>
        <p:spPr>
          <a:xfrm>
            <a:off x="502919" y="3589019"/>
            <a:ext cx="18288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💡  Physical insight:</a:t>
            </a:r>
          </a:p>
        </p:txBody>
      </p:sp>
      <p:sp>
        <p:nvSpPr>
          <p:cNvPr id="467" name="Text 9"/>
          <p:cNvSpPr txBox="1"/>
          <p:nvPr/>
        </p:nvSpPr>
        <p:spPr>
          <a:xfrm>
            <a:off x="502919" y="3896359"/>
            <a:ext cx="822960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The decision boundary in (θ, θ̇) space is approximately linear — the PPO neural network rediscovers the classical LQR (Linear-Quadratic Regulator) controller for the inverted pendulum. The optimal gain ratio θ/θ̇ tells you the relative weight placed on angle vs angular velocity — directly comparable to the LQR solution.</a:t>
            </a:r>
          </a:p>
        </p:txBody>
      </p:sp>
      <p:sp>
        <p:nvSpPr>
          <p:cNvPr id="468" name="Shape 10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9" name="Text 11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470" name="Text 12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FrozenLake: Reading the Q-Table</a:t>
            </a:r>
          </a:p>
        </p:txBody>
      </p:sp>
      <p:sp>
        <p:nvSpPr>
          <p:cNvPr id="473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Connecting DQN output to the Bellman analysis from Week 5</a:t>
            </a:r>
          </a:p>
        </p:txBody>
      </p:sp>
      <p:sp>
        <p:nvSpPr>
          <p:cNvPr id="475" name="Shape 3"/>
          <p:cNvSpPr/>
          <p:nvPr/>
        </p:nvSpPr>
        <p:spPr>
          <a:xfrm>
            <a:off x="320039" y="1298447"/>
            <a:ext cx="2217422" cy="256033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6" name="Text 4"/>
          <p:cNvSpPr txBox="1"/>
          <p:nvPr/>
        </p:nvSpPr>
        <p:spPr>
          <a:xfrm>
            <a:off x="365760" y="1350263"/>
            <a:ext cx="21259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Extract Q-values from DQN</a:t>
            </a:r>
          </a:p>
        </p:txBody>
      </p:sp>
      <p:sp>
        <p:nvSpPr>
          <p:cNvPr id="477" name="Shape 5"/>
          <p:cNvSpPr/>
          <p:nvPr/>
        </p:nvSpPr>
        <p:spPr>
          <a:xfrm>
            <a:off x="320040" y="1572767"/>
            <a:ext cx="8503920" cy="2103121"/>
          </a:xfrm>
          <a:prstGeom prst="rect">
            <a:avLst/>
          </a:prstGeom>
          <a:solidFill>
            <a:srgbClr val="161616"/>
          </a:solidFill>
          <a:ln w="12700">
            <a:solidFill>
              <a:srgbClr val="4A9E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8" name="Text 6"/>
          <p:cNvSpPr txBox="1"/>
          <p:nvPr/>
        </p:nvSpPr>
        <p:spPr>
          <a:xfrm>
            <a:off x="457200" y="1568195"/>
            <a:ext cx="8229600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import torch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import numpy as np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88888"/>
                </a:solidFill>
              </a:rPr>
              <a:t># The DQN model stores a q_net — we extract Q(s,a) for all 16 states</a:t>
            </a:r>
            <a:endParaRPr>
              <a:solidFill>
                <a:srgbClr val="888888"/>
              </a:solidFill>
            </a:endParaRP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states = torch.arange(16, dtype=torch.float32).unsqueeze(1)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with torch.no_grad():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q_values = model.q_net(model.q_net.features_extractor(states))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q_np = q_values.numpy()  # shape (16, 4)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88888"/>
                </a:solidFill>
              </a:rPr>
              <a:t># Visualise as heatmap of best action per cell</a:t>
            </a:r>
            <a:endParaRPr>
              <a:solidFill>
                <a:srgbClr val="888888"/>
              </a:solidFill>
            </a:endParaRP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best_actions = np.argmax(q_np, axis=1).reshape(4, 4)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action_labels = {0:</a:t>
            </a:r>
            <a:r>
              <a:rPr>
                <a:solidFill>
                  <a:srgbClr val="E8B931"/>
                </a:solidFill>
              </a:rPr>
              <a:t>'←'</a:t>
            </a:r>
            <a:r>
              <a:t>, 1:</a:t>
            </a:r>
            <a:r>
              <a:rPr>
                <a:solidFill>
                  <a:srgbClr val="E8B931"/>
                </a:solidFill>
              </a:rPr>
              <a:t>'↓'</a:t>
            </a:r>
            <a:r>
              <a:t>, 2:</a:t>
            </a:r>
            <a:r>
              <a:rPr>
                <a:solidFill>
                  <a:srgbClr val="E8B931"/>
                </a:solidFill>
              </a:rPr>
              <a:t>'→'</a:t>
            </a:r>
            <a:r>
              <a:t>, 3:</a:t>
            </a:r>
            <a:r>
              <a:rPr>
                <a:solidFill>
                  <a:srgbClr val="E8B931"/>
                </a:solidFill>
              </a:rPr>
              <a:t>'↑'</a:t>
            </a:r>
            <a:r>
              <a:t>}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print('Greedy policy:')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for row in best_actions:</a:t>
            </a:r>
          </a:p>
          <a:p>
            <a:pPr>
              <a:defRPr sz="9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print(' '.join([action_labels[a] for a in row]))</a:t>
            </a:r>
          </a:p>
        </p:txBody>
      </p:sp>
      <p:sp>
        <p:nvSpPr>
          <p:cNvPr id="479" name="Text 7"/>
          <p:cNvSpPr txBox="1"/>
          <p:nvPr/>
        </p:nvSpPr>
        <p:spPr>
          <a:xfrm>
            <a:off x="320040" y="3839441"/>
            <a:ext cx="8503920" cy="166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0F0"/>
                </a:solidFill>
              </a:defRPr>
            </a:lvl1pPr>
          </a:lstStyle>
          <a:p>
            <a:pPr/>
            <a:r>
              <a:t>▸  Expected optimal path on deterministic grid:  S → ↓ → → → → → G  (row-major, avoiding holes)</a:t>
            </a:r>
          </a:p>
        </p:txBody>
      </p:sp>
      <p:sp>
        <p:nvSpPr>
          <p:cNvPr id="480" name="Text 8"/>
          <p:cNvSpPr txBox="1"/>
          <p:nvPr/>
        </p:nvSpPr>
        <p:spPr>
          <a:xfrm>
            <a:off x="320040" y="4113761"/>
            <a:ext cx="8503920" cy="166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E8B931"/>
                </a:solidFill>
              </a:defRPr>
            </a:lvl1pPr>
          </a:lstStyle>
          <a:p>
            <a:pPr/>
            <a:r>
              <a:t>▸  The Q-values encode exactly V*(s) from Week 5 — the Bellman values learned by iteration, now stored in a neural network.</a:t>
            </a:r>
          </a:p>
        </p:txBody>
      </p:sp>
      <p:sp>
        <p:nvSpPr>
          <p:cNvPr id="481" name="Shape 9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2" name="Text 10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483" name="Text 11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Guided Exercises</a:t>
            </a:r>
          </a:p>
        </p:txBody>
      </p:sp>
      <p:sp>
        <p:nvSpPr>
          <p:cNvPr id="486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7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Four problems — from running to researching</a:t>
            </a:r>
          </a:p>
        </p:txBody>
      </p:sp>
      <p:sp>
        <p:nvSpPr>
          <p:cNvPr id="488" name="Shape 3"/>
          <p:cNvSpPr/>
          <p:nvPr/>
        </p:nvSpPr>
        <p:spPr>
          <a:xfrm>
            <a:off x="320039" y="1298447"/>
            <a:ext cx="4206242" cy="1572769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9" name="Shape 4"/>
          <p:cNvSpPr/>
          <p:nvPr/>
        </p:nvSpPr>
        <p:spPr>
          <a:xfrm>
            <a:off x="320040" y="1298447"/>
            <a:ext cx="82297" cy="157276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0" name="Text 5"/>
          <p:cNvSpPr txBox="1"/>
          <p:nvPr/>
        </p:nvSpPr>
        <p:spPr>
          <a:xfrm>
            <a:off x="484631" y="1414271"/>
            <a:ext cx="640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 1</a:t>
            </a:r>
          </a:p>
        </p:txBody>
      </p:sp>
      <p:sp>
        <p:nvSpPr>
          <p:cNvPr id="491" name="Text 6"/>
          <p:cNvSpPr txBox="1"/>
          <p:nvPr/>
        </p:nvSpPr>
        <p:spPr>
          <a:xfrm>
            <a:off x="484631" y="1633727"/>
            <a:ext cx="39319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Run + Solve CartPole  (30 min)</a:t>
            </a:r>
          </a:p>
        </p:txBody>
      </p:sp>
      <p:sp>
        <p:nvSpPr>
          <p:cNvPr id="492" name="Text 7"/>
          <p:cNvSpPr txBox="1"/>
          <p:nvPr/>
        </p:nvSpPr>
        <p:spPr>
          <a:xfrm>
            <a:off x="484631" y="2043176"/>
            <a:ext cx="393192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/>
            <a:r>
              <a:t>Install Gymnasium and SB3. Train a PPO agent on CartPole-v1 for 100 000 steps. Plot the learning curve (ep_rew_mean vs steps). Report the first timestep at which mean reward &gt; 450. Compare to training with A2C — which converges faster?</a:t>
            </a:r>
          </a:p>
        </p:txBody>
      </p:sp>
      <p:sp>
        <p:nvSpPr>
          <p:cNvPr id="493" name="Shape 8"/>
          <p:cNvSpPr/>
          <p:nvPr/>
        </p:nvSpPr>
        <p:spPr>
          <a:xfrm>
            <a:off x="4754879" y="1298447"/>
            <a:ext cx="4206241" cy="1572769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4" name="Shape 9"/>
          <p:cNvSpPr/>
          <p:nvPr/>
        </p:nvSpPr>
        <p:spPr>
          <a:xfrm>
            <a:off x="4754879" y="1298447"/>
            <a:ext cx="82297" cy="1572769"/>
          </a:xfrm>
          <a:prstGeom prst="rect">
            <a:avLst/>
          </a:prstGeom>
          <a:solidFill>
            <a:srgbClr val="E8B93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5" name="Text 10"/>
          <p:cNvSpPr txBox="1"/>
          <p:nvPr/>
        </p:nvSpPr>
        <p:spPr>
          <a:xfrm>
            <a:off x="4919471" y="1414271"/>
            <a:ext cx="6400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8B931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 2</a:t>
            </a:r>
          </a:p>
        </p:txBody>
      </p:sp>
      <p:sp>
        <p:nvSpPr>
          <p:cNvPr id="496" name="Text 11"/>
          <p:cNvSpPr txBox="1"/>
          <p:nvPr/>
        </p:nvSpPr>
        <p:spPr>
          <a:xfrm>
            <a:off x="4919471" y="1633727"/>
            <a:ext cx="3931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FrozenLake: Sparse Reward Challenge  (40 min)</a:t>
            </a:r>
          </a:p>
        </p:txBody>
      </p:sp>
      <p:sp>
        <p:nvSpPr>
          <p:cNvPr id="497" name="Text 12"/>
          <p:cNvSpPr txBox="1"/>
          <p:nvPr/>
        </p:nvSpPr>
        <p:spPr>
          <a:xfrm>
            <a:off x="4919471" y="2043176"/>
            <a:ext cx="393192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/>
            <a:r>
              <a:t>Train DQN on FrozenLake-v1 with is_slippery=False (deterministic). Then switch to is_slippery=True (stochastic). Plot success rate vs training steps for both. Quantify the gap. Explain why sparse reward makes the stochastic case harder — connect to random walk physics.</a:t>
            </a:r>
          </a:p>
        </p:txBody>
      </p:sp>
      <p:sp>
        <p:nvSpPr>
          <p:cNvPr id="498" name="Shape 13"/>
          <p:cNvSpPr/>
          <p:nvPr/>
        </p:nvSpPr>
        <p:spPr>
          <a:xfrm>
            <a:off x="320039" y="2990088"/>
            <a:ext cx="4206242" cy="1572769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Shape 14"/>
          <p:cNvSpPr/>
          <p:nvPr/>
        </p:nvSpPr>
        <p:spPr>
          <a:xfrm>
            <a:off x="320040" y="2990088"/>
            <a:ext cx="82297" cy="1572769"/>
          </a:xfrm>
          <a:prstGeom prst="rect">
            <a:avLst/>
          </a:prstGeom>
          <a:solidFill>
            <a:srgbClr val="5DBB6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0" name="Text 15"/>
          <p:cNvSpPr txBox="1"/>
          <p:nvPr/>
        </p:nvSpPr>
        <p:spPr>
          <a:xfrm>
            <a:off x="484631" y="3105911"/>
            <a:ext cx="640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DBB6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 3</a:t>
            </a:r>
          </a:p>
        </p:txBody>
      </p:sp>
      <p:sp>
        <p:nvSpPr>
          <p:cNvPr id="501" name="Text 16"/>
          <p:cNvSpPr txBox="1"/>
          <p:nvPr/>
        </p:nvSpPr>
        <p:spPr>
          <a:xfrm>
            <a:off x="484631" y="3325368"/>
            <a:ext cx="39319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Reward Landscape Visualisation  (45 min)</a:t>
            </a:r>
          </a:p>
        </p:txBody>
      </p:sp>
      <p:sp>
        <p:nvSpPr>
          <p:cNvPr id="502" name="Text 17"/>
          <p:cNvSpPr txBox="1"/>
          <p:nvPr/>
        </p:nvSpPr>
        <p:spPr>
          <a:xfrm>
            <a:off x="484631" y="3658615"/>
            <a:ext cx="393192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/>
            <a:r>
              <a:t>For CartPole: sample 10 000 random trajectories. For each step compute the immediate reward gradient ∇_θ R. Plot the reward landscape as a function of pole angle θ. Compare to the gradient structure of a simple quadratic potential. Is it convex? Where is the maximum gradient?</a:t>
            </a:r>
          </a:p>
        </p:txBody>
      </p:sp>
      <p:sp>
        <p:nvSpPr>
          <p:cNvPr id="503" name="Shape 18"/>
          <p:cNvSpPr/>
          <p:nvPr/>
        </p:nvSpPr>
        <p:spPr>
          <a:xfrm>
            <a:off x="4754879" y="2990088"/>
            <a:ext cx="4206241" cy="1572769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4" name="Shape 19"/>
          <p:cNvSpPr/>
          <p:nvPr/>
        </p:nvSpPr>
        <p:spPr>
          <a:xfrm>
            <a:off x="4754879" y="2990088"/>
            <a:ext cx="82297" cy="1572769"/>
          </a:xfrm>
          <a:prstGeom prst="rect">
            <a:avLst/>
          </a:prstGeom>
          <a:solidFill>
            <a:srgbClr val="E0555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5" name="Text 20"/>
          <p:cNvSpPr txBox="1"/>
          <p:nvPr/>
        </p:nvSpPr>
        <p:spPr>
          <a:xfrm>
            <a:off x="4919471" y="3105911"/>
            <a:ext cx="6400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E0555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Ex 4</a:t>
            </a:r>
          </a:p>
        </p:txBody>
      </p:sp>
      <p:sp>
        <p:nvSpPr>
          <p:cNvPr id="506" name="Text 21"/>
          <p:cNvSpPr txBox="1"/>
          <p:nvPr/>
        </p:nvSpPr>
        <p:spPr>
          <a:xfrm>
            <a:off x="4919471" y="3325368"/>
            <a:ext cx="39319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★  Lyapunov Stability Test  (60 min)</a:t>
            </a:r>
          </a:p>
        </p:txBody>
      </p:sp>
      <p:sp>
        <p:nvSpPr>
          <p:cNvPr id="507" name="Text 22"/>
          <p:cNvSpPr txBox="1"/>
          <p:nvPr/>
        </p:nvSpPr>
        <p:spPr>
          <a:xfrm>
            <a:off x="4919471" y="3728465"/>
            <a:ext cx="393192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/>
            <a:r>
              <a:t>Load the trained CartPole PPO model. Run 100 episodes. For each timestep compute V(s) = θ² + θ̇². Plot dV/dt = V(s_{t+1}) − V(s_t) as a function of θ. Show that dV/dt &lt; 0 on average for |θ| &lt; 0.1 rad (stable region). Where does the policy fail Lyapunov stability?</a:t>
            </a:r>
          </a:p>
        </p:txBody>
      </p:sp>
      <p:sp>
        <p:nvSpPr>
          <p:cNvPr id="508" name="Shape 23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9" name="Text 24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510" name="Text 25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 0"/>
          <p:cNvSpPr txBox="1"/>
          <p:nvPr/>
        </p:nvSpPr>
        <p:spPr>
          <a:xfrm>
            <a:off x="457200" y="268731"/>
            <a:ext cx="822960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0F0F0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References &amp; Further Reading</a:t>
            </a:r>
          </a:p>
        </p:txBody>
      </p:sp>
      <p:sp>
        <p:nvSpPr>
          <p:cNvPr id="513" name="Shape 1"/>
          <p:cNvSpPr/>
          <p:nvPr/>
        </p:nvSpPr>
        <p:spPr>
          <a:xfrm>
            <a:off x="457199" y="804672"/>
            <a:ext cx="1097282" cy="41149"/>
          </a:xfrm>
          <a:prstGeom prst="rect">
            <a:avLst/>
          </a:prstGeom>
          <a:solidFill>
            <a:srgbClr val="4A9EC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4" name="Text 2"/>
          <p:cNvSpPr txBox="1"/>
          <p:nvPr/>
        </p:nvSpPr>
        <p:spPr>
          <a:xfrm>
            <a:off x="457200" y="922528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4A9ECC"/>
                </a:solidFill>
              </a:defRPr>
            </a:lvl1pPr>
          </a:lstStyle>
          <a:p>
            <a:pPr/>
            <a:r>
              <a:t>Week 6</a:t>
            </a:r>
          </a:p>
        </p:txBody>
      </p:sp>
      <p:sp>
        <p:nvSpPr>
          <p:cNvPr id="515" name="Text 3"/>
          <p:cNvSpPr txBox="1"/>
          <p:nvPr/>
        </p:nvSpPr>
        <p:spPr>
          <a:xfrm>
            <a:off x="457199" y="1377696"/>
            <a:ext cx="12801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Gymnasium</a:t>
            </a:r>
          </a:p>
        </p:txBody>
      </p:sp>
      <p:sp>
        <p:nvSpPr>
          <p:cNvPr id="516" name="Text 4"/>
          <p:cNvSpPr txBox="1"/>
          <p:nvPr/>
        </p:nvSpPr>
        <p:spPr>
          <a:xfrm>
            <a:off x="1828799" y="1378204"/>
            <a:ext cx="694944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Farama Foundation (2022). Gymnasium. https://gymnasium.farama.org — the official Gymnasium documentation. Successor to OpenAI Gym.</a:t>
            </a:r>
          </a:p>
        </p:txBody>
      </p:sp>
      <p:sp>
        <p:nvSpPr>
          <p:cNvPr id="517" name="Shape 5"/>
          <p:cNvSpPr/>
          <p:nvPr/>
        </p:nvSpPr>
        <p:spPr>
          <a:xfrm>
            <a:off x="457199" y="1717294"/>
            <a:ext cx="8321042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8" name="Text 6"/>
          <p:cNvSpPr txBox="1"/>
          <p:nvPr/>
        </p:nvSpPr>
        <p:spPr>
          <a:xfrm>
            <a:off x="457199" y="1834895"/>
            <a:ext cx="12801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SB3</a:t>
            </a:r>
          </a:p>
        </p:txBody>
      </p:sp>
      <p:sp>
        <p:nvSpPr>
          <p:cNvPr id="519" name="Text 7"/>
          <p:cNvSpPr txBox="1"/>
          <p:nvPr/>
        </p:nvSpPr>
        <p:spPr>
          <a:xfrm>
            <a:off x="1828799" y="1905253"/>
            <a:ext cx="69494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Raffin A. et al. (2021). Stable-Baselines3: Reliable Reinforcement Learning Implementations. JMLR 22(268), 1–8.</a:t>
            </a:r>
          </a:p>
        </p:txBody>
      </p:sp>
      <p:sp>
        <p:nvSpPr>
          <p:cNvPr id="520" name="Shape 8"/>
          <p:cNvSpPr/>
          <p:nvPr/>
        </p:nvSpPr>
        <p:spPr>
          <a:xfrm>
            <a:off x="457199" y="2174494"/>
            <a:ext cx="8321042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1" name="Text 9"/>
          <p:cNvSpPr txBox="1"/>
          <p:nvPr/>
        </p:nvSpPr>
        <p:spPr>
          <a:xfrm>
            <a:off x="457199" y="2292095"/>
            <a:ext cx="12801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PPO</a:t>
            </a:r>
          </a:p>
        </p:txBody>
      </p:sp>
      <p:sp>
        <p:nvSpPr>
          <p:cNvPr id="522" name="Text 10"/>
          <p:cNvSpPr txBox="1"/>
          <p:nvPr/>
        </p:nvSpPr>
        <p:spPr>
          <a:xfrm>
            <a:off x="1828799" y="2292603"/>
            <a:ext cx="694944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Schulman J. et al. (2017). Proximal Policy Optimization Algorithms. arXiv:1707.06347. The algorithm behind CartPole training.</a:t>
            </a:r>
          </a:p>
        </p:txBody>
      </p:sp>
      <p:sp>
        <p:nvSpPr>
          <p:cNvPr id="523" name="Shape 11"/>
          <p:cNvSpPr/>
          <p:nvPr/>
        </p:nvSpPr>
        <p:spPr>
          <a:xfrm>
            <a:off x="457199" y="2631694"/>
            <a:ext cx="8321042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4" name="Text 12"/>
          <p:cNvSpPr txBox="1"/>
          <p:nvPr/>
        </p:nvSpPr>
        <p:spPr>
          <a:xfrm>
            <a:off x="457199" y="2749295"/>
            <a:ext cx="12801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DQN</a:t>
            </a:r>
          </a:p>
        </p:txBody>
      </p:sp>
      <p:sp>
        <p:nvSpPr>
          <p:cNvPr id="525" name="Text 13"/>
          <p:cNvSpPr txBox="1"/>
          <p:nvPr/>
        </p:nvSpPr>
        <p:spPr>
          <a:xfrm>
            <a:off x="1828799" y="2749803"/>
            <a:ext cx="694944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Mnih V. et al. (2015). Human-level control through deep RL. Nature 518, 529–533. Original DQN for Atari — foundation of SB3 DQN.</a:t>
            </a:r>
          </a:p>
        </p:txBody>
      </p:sp>
      <p:sp>
        <p:nvSpPr>
          <p:cNvPr id="526" name="Shape 14"/>
          <p:cNvSpPr/>
          <p:nvPr/>
        </p:nvSpPr>
        <p:spPr>
          <a:xfrm>
            <a:off x="457199" y="3088894"/>
            <a:ext cx="8321042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7" name="Text 15"/>
          <p:cNvSpPr txBox="1"/>
          <p:nvPr/>
        </p:nvSpPr>
        <p:spPr>
          <a:xfrm>
            <a:off x="457199" y="3206495"/>
            <a:ext cx="12801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Reward shaping</a:t>
            </a:r>
          </a:p>
        </p:txBody>
      </p:sp>
      <p:sp>
        <p:nvSpPr>
          <p:cNvPr id="528" name="Text 16"/>
          <p:cNvSpPr txBox="1"/>
          <p:nvPr/>
        </p:nvSpPr>
        <p:spPr>
          <a:xfrm>
            <a:off x="1828799" y="3276853"/>
            <a:ext cx="69494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Ng A., Harada D., Russell S. (1999). Policy invariance under reward transformations. ICML 99, 278–287.</a:t>
            </a:r>
          </a:p>
        </p:txBody>
      </p:sp>
      <p:sp>
        <p:nvSpPr>
          <p:cNvPr id="529" name="Shape 17"/>
          <p:cNvSpPr/>
          <p:nvPr/>
        </p:nvSpPr>
        <p:spPr>
          <a:xfrm>
            <a:off x="457199" y="3546093"/>
            <a:ext cx="8321042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0" name="Text 18"/>
          <p:cNvSpPr txBox="1"/>
          <p:nvPr/>
        </p:nvSpPr>
        <p:spPr>
          <a:xfrm>
            <a:off x="457199" y="3663695"/>
            <a:ext cx="12801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Lyapunov + RL</a:t>
            </a:r>
          </a:p>
        </p:txBody>
      </p:sp>
      <p:sp>
        <p:nvSpPr>
          <p:cNvPr id="531" name="Text 19"/>
          <p:cNvSpPr txBox="1"/>
          <p:nvPr/>
        </p:nvSpPr>
        <p:spPr>
          <a:xfrm>
            <a:off x="1828799" y="3734053"/>
            <a:ext cx="69494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Berkenkamp F. et al. (2017). Safe model-based RL with stability guarantees. NeurIPS 2017.</a:t>
            </a:r>
          </a:p>
        </p:txBody>
      </p:sp>
      <p:sp>
        <p:nvSpPr>
          <p:cNvPr id="532" name="Shape 20"/>
          <p:cNvSpPr/>
          <p:nvPr/>
        </p:nvSpPr>
        <p:spPr>
          <a:xfrm>
            <a:off x="457199" y="4003293"/>
            <a:ext cx="8321042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3" name="Text 21"/>
          <p:cNvSpPr txBox="1"/>
          <p:nvPr/>
        </p:nvSpPr>
        <p:spPr>
          <a:xfrm>
            <a:off x="457199" y="4120895"/>
            <a:ext cx="12801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LQR connection</a:t>
            </a:r>
          </a:p>
        </p:txBody>
      </p:sp>
      <p:sp>
        <p:nvSpPr>
          <p:cNvPr id="534" name="Text 22"/>
          <p:cNvSpPr txBox="1"/>
          <p:nvPr/>
        </p:nvSpPr>
        <p:spPr>
          <a:xfrm>
            <a:off x="1828799" y="4121403"/>
            <a:ext cx="694944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0F0F0"/>
                </a:solidFill>
              </a:defRPr>
            </a:lvl1pPr>
          </a:lstStyle>
          <a:p>
            <a:pPr/>
            <a:r>
              <a:t>Anderson B.D.O., Moore J.B. (2007). Optimal Control: Linear Quadratic Methods. Dover. — see Ch. 4 for inverted pendulum LQR solution.</a:t>
            </a:r>
          </a:p>
        </p:txBody>
      </p:sp>
      <p:sp>
        <p:nvSpPr>
          <p:cNvPr id="535" name="Shape 23"/>
          <p:cNvSpPr/>
          <p:nvPr/>
        </p:nvSpPr>
        <p:spPr>
          <a:xfrm>
            <a:off x="0" y="4818888"/>
            <a:ext cx="9144000" cy="324613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6" name="Text 24"/>
          <p:cNvSpPr txBox="1"/>
          <p:nvPr/>
        </p:nvSpPr>
        <p:spPr>
          <a:xfrm>
            <a:off x="274320" y="4910836"/>
            <a:ext cx="6400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From Conway to LangGraph • Week 6 • Università di Bologna</a:t>
            </a:r>
          </a:p>
        </p:txBody>
      </p:sp>
      <p:sp>
        <p:nvSpPr>
          <p:cNvPr id="537" name="Text 25"/>
          <p:cNvSpPr txBox="1"/>
          <p:nvPr/>
        </p:nvSpPr>
        <p:spPr>
          <a:xfrm>
            <a:off x="6858000" y="4904486"/>
            <a:ext cx="20116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4A9EC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Slide 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