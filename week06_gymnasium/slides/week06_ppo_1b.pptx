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Testo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Titolo Testo</a:t>
            </a:r>
          </a:p>
        </p:txBody>
      </p:sp>
      <p:sp>
        <p:nvSpPr>
          <p:cNvPr id="3" name="Corpo livello uno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4" name="Numero diapositiva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A6EA5"/>
          </a:solidFill>
          <a:ln w="1270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Text 1"/>
          <p:cNvSpPr txBox="1"/>
          <p:nvPr/>
        </p:nvSpPr>
        <p:spPr>
          <a:xfrm>
            <a:off x="548640" y="681989"/>
            <a:ext cx="8046719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500" sz="1300">
                <a:solidFill>
                  <a:srgbClr val="8BAFC4"/>
                </a:solidFill>
              </a:defRPr>
            </a:lvl1pPr>
          </a:lstStyle>
          <a:p>
            <a:pPr/>
            <a:r>
              <a:t>Week 6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548640" y="1308945"/>
            <a:ext cx="8046719" cy="1131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ct val="120000"/>
              </a:lnSpc>
              <a:defRPr b="1" sz="3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Proximal Policy</a:t>
            </a:r>
          </a:p>
          <a:p>
            <a:pPr>
              <a:lnSpc>
                <a:spcPct val="120000"/>
              </a:lnSpc>
              <a:defRPr b="1" sz="3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Optimisation</a:t>
            </a:r>
          </a:p>
        </p:txBody>
      </p:sp>
      <p:sp>
        <p:nvSpPr>
          <p:cNvPr id="23" name="Shape 3"/>
          <p:cNvSpPr/>
          <p:nvPr/>
        </p:nvSpPr>
        <p:spPr>
          <a:xfrm>
            <a:off x="548639" y="2743199"/>
            <a:ext cx="1280162" cy="45722"/>
          </a:xfrm>
          <a:prstGeom prst="rect">
            <a:avLst/>
          </a:prstGeom>
          <a:solidFill>
            <a:srgbClr val="3A6EA5"/>
          </a:solidFill>
          <a:ln w="1270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" name="Text 4"/>
          <p:cNvSpPr txBox="1"/>
          <p:nvPr/>
        </p:nvSpPr>
        <p:spPr>
          <a:xfrm>
            <a:off x="548640" y="2919476"/>
            <a:ext cx="8046719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200">
                <a:solidFill>
                  <a:srgbClr val="8BAFC4"/>
                </a:solidFill>
              </a:defRPr>
            </a:lvl1pPr>
          </a:lstStyle>
          <a:p>
            <a:pPr/>
            <a:r>
              <a:t>An Elementary and Formal Introduction</a:t>
            </a:r>
          </a:p>
        </p:txBody>
      </p:sp>
      <p:sp>
        <p:nvSpPr>
          <p:cNvPr id="25" name="Text 5"/>
          <p:cNvSpPr txBox="1"/>
          <p:nvPr/>
        </p:nvSpPr>
        <p:spPr>
          <a:xfrm>
            <a:off x="548640" y="3295142"/>
            <a:ext cx="8046719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637A87"/>
                </a:solidFill>
              </a:defRPr>
            </a:lvl1pPr>
          </a:lstStyle>
          <a:p>
            <a:pPr/>
            <a:r>
              <a:t>Mirko Degli Esposti  ·  Dipartimento di Fisica  ·  Università di Bologna</a:t>
            </a:r>
          </a:p>
        </p:txBody>
      </p:sp>
      <p:sp>
        <p:nvSpPr>
          <p:cNvPr id="26" name="Shape 6"/>
          <p:cNvSpPr/>
          <p:nvPr/>
        </p:nvSpPr>
        <p:spPr>
          <a:xfrm>
            <a:off x="548640" y="3794759"/>
            <a:ext cx="54865" cy="100585"/>
          </a:xfrm>
          <a:prstGeom prst="rect">
            <a:avLst/>
          </a:prstGeom>
          <a:solidFill>
            <a:srgbClr val="3A6EA5"/>
          </a:solidFill>
          <a:ln w="1270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" name="Text 7"/>
          <p:cNvSpPr txBox="1"/>
          <p:nvPr/>
        </p:nvSpPr>
        <p:spPr>
          <a:xfrm>
            <a:off x="713231" y="3726688"/>
            <a:ext cx="777240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8BAFC4"/>
                </a:solidFill>
              </a:defRPr>
            </a:lvl1pPr>
          </a:lstStyle>
          <a:p>
            <a:pPr/>
            <a:r>
              <a:t>§1  Prerequisites and Notation</a:t>
            </a:r>
          </a:p>
        </p:txBody>
      </p:sp>
      <p:sp>
        <p:nvSpPr>
          <p:cNvPr id="28" name="Shape 8"/>
          <p:cNvSpPr/>
          <p:nvPr/>
        </p:nvSpPr>
        <p:spPr>
          <a:xfrm>
            <a:off x="548640" y="3927347"/>
            <a:ext cx="54865" cy="100585"/>
          </a:xfrm>
          <a:prstGeom prst="rect">
            <a:avLst/>
          </a:prstGeom>
          <a:solidFill>
            <a:srgbClr val="3A6EA5"/>
          </a:solidFill>
          <a:ln w="1270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Text 9"/>
          <p:cNvSpPr txBox="1"/>
          <p:nvPr/>
        </p:nvSpPr>
        <p:spPr>
          <a:xfrm>
            <a:off x="713231" y="3859275"/>
            <a:ext cx="777240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8BAFC4"/>
                </a:solidFill>
              </a:defRPr>
            </a:lvl1pPr>
          </a:lstStyle>
          <a:p>
            <a:pPr/>
            <a:r>
              <a:t>§2  From Value Functions to Policies</a:t>
            </a:r>
          </a:p>
        </p:txBody>
      </p:sp>
      <p:sp>
        <p:nvSpPr>
          <p:cNvPr id="30" name="Shape 10"/>
          <p:cNvSpPr/>
          <p:nvPr/>
        </p:nvSpPr>
        <p:spPr>
          <a:xfrm>
            <a:off x="548640" y="4059935"/>
            <a:ext cx="54865" cy="100585"/>
          </a:xfrm>
          <a:prstGeom prst="rect">
            <a:avLst/>
          </a:prstGeom>
          <a:solidFill>
            <a:srgbClr val="3A6EA5"/>
          </a:solidFill>
          <a:ln w="1270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" name="Text 11"/>
          <p:cNvSpPr txBox="1"/>
          <p:nvPr/>
        </p:nvSpPr>
        <p:spPr>
          <a:xfrm>
            <a:off x="713231" y="3991863"/>
            <a:ext cx="777240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8BAFC4"/>
                </a:solidFill>
              </a:defRPr>
            </a:lvl1pPr>
          </a:lstStyle>
          <a:p>
            <a:pPr/>
            <a:r>
              <a:t>§3  The Policy Gradient Theorem</a:t>
            </a:r>
          </a:p>
        </p:txBody>
      </p:sp>
      <p:sp>
        <p:nvSpPr>
          <p:cNvPr id="32" name="Shape 12"/>
          <p:cNvSpPr/>
          <p:nvPr/>
        </p:nvSpPr>
        <p:spPr>
          <a:xfrm>
            <a:off x="548640" y="4192523"/>
            <a:ext cx="54865" cy="100585"/>
          </a:xfrm>
          <a:prstGeom prst="rect">
            <a:avLst/>
          </a:prstGeom>
          <a:solidFill>
            <a:srgbClr val="3A6EA5"/>
          </a:solidFill>
          <a:ln w="1270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" name="Text 13"/>
          <p:cNvSpPr txBox="1"/>
          <p:nvPr/>
        </p:nvSpPr>
        <p:spPr>
          <a:xfrm>
            <a:off x="713231" y="4124451"/>
            <a:ext cx="777240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8BAFC4"/>
                </a:solidFill>
              </a:defRPr>
            </a:lvl1pPr>
          </a:lstStyle>
          <a:p>
            <a:pPr/>
            <a:r>
              <a:t>§4  The Importance-Sampling Surrogate</a:t>
            </a:r>
          </a:p>
        </p:txBody>
      </p:sp>
      <p:sp>
        <p:nvSpPr>
          <p:cNvPr id="34" name="Shape 14"/>
          <p:cNvSpPr/>
          <p:nvPr/>
        </p:nvSpPr>
        <p:spPr>
          <a:xfrm>
            <a:off x="548640" y="4325111"/>
            <a:ext cx="54865" cy="100585"/>
          </a:xfrm>
          <a:prstGeom prst="rect">
            <a:avLst/>
          </a:prstGeom>
          <a:solidFill>
            <a:srgbClr val="3A6EA5"/>
          </a:solidFill>
          <a:ln w="1270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" name="Text 15"/>
          <p:cNvSpPr txBox="1"/>
          <p:nvPr/>
        </p:nvSpPr>
        <p:spPr>
          <a:xfrm>
            <a:off x="713231" y="4250048"/>
            <a:ext cx="7772401" cy="2324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8BAFC4"/>
                </a:solidFill>
              </a:defRPr>
            </a:lvl1pPr>
          </a:lstStyle>
          <a:p>
            <a:pPr/>
            <a:r>
              <a:t>§5  Trust-Region Motivation (TRPO → PPO)</a:t>
            </a:r>
          </a:p>
        </p:txBody>
      </p:sp>
      <p:sp>
        <p:nvSpPr>
          <p:cNvPr id="36" name="Shape 16"/>
          <p:cNvSpPr/>
          <p:nvPr/>
        </p:nvSpPr>
        <p:spPr>
          <a:xfrm>
            <a:off x="548640" y="4457699"/>
            <a:ext cx="54865" cy="100586"/>
          </a:xfrm>
          <a:prstGeom prst="rect">
            <a:avLst/>
          </a:prstGeom>
          <a:solidFill>
            <a:srgbClr val="3A6EA5"/>
          </a:solidFill>
          <a:ln w="1270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Text 17"/>
          <p:cNvSpPr txBox="1"/>
          <p:nvPr/>
        </p:nvSpPr>
        <p:spPr>
          <a:xfrm>
            <a:off x="713231" y="4389627"/>
            <a:ext cx="777240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8BAFC4"/>
                </a:solidFill>
              </a:defRPr>
            </a:lvl1pPr>
          </a:lstStyle>
          <a:p>
            <a:pPr/>
            <a:r>
              <a:t>§6  The Clipped Surrogate Objective</a:t>
            </a:r>
          </a:p>
        </p:txBody>
      </p:sp>
      <p:sp>
        <p:nvSpPr>
          <p:cNvPr id="38" name="Shape 18"/>
          <p:cNvSpPr/>
          <p:nvPr/>
        </p:nvSpPr>
        <p:spPr>
          <a:xfrm>
            <a:off x="548640" y="4590288"/>
            <a:ext cx="54865" cy="100585"/>
          </a:xfrm>
          <a:prstGeom prst="rect">
            <a:avLst/>
          </a:prstGeom>
          <a:solidFill>
            <a:srgbClr val="3A6EA5"/>
          </a:solidFill>
          <a:ln w="1270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" name="Text 19"/>
          <p:cNvSpPr txBox="1"/>
          <p:nvPr/>
        </p:nvSpPr>
        <p:spPr>
          <a:xfrm>
            <a:off x="713231" y="4522215"/>
            <a:ext cx="777240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8BAFC4"/>
                </a:solidFill>
              </a:defRPr>
            </a:lvl1pPr>
          </a:lstStyle>
          <a:p>
            <a:pPr/>
            <a:r>
              <a:t>§7  Advantage Estimation and GAE</a:t>
            </a:r>
          </a:p>
        </p:txBody>
      </p:sp>
      <p:sp>
        <p:nvSpPr>
          <p:cNvPr id="40" name="Shape 20"/>
          <p:cNvSpPr/>
          <p:nvPr/>
        </p:nvSpPr>
        <p:spPr>
          <a:xfrm>
            <a:off x="548640" y="4722876"/>
            <a:ext cx="54865" cy="100585"/>
          </a:xfrm>
          <a:prstGeom prst="rect">
            <a:avLst/>
          </a:prstGeom>
          <a:solidFill>
            <a:srgbClr val="3A6EA5"/>
          </a:solidFill>
          <a:ln w="1270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" name="Text 21"/>
          <p:cNvSpPr txBox="1"/>
          <p:nvPr/>
        </p:nvSpPr>
        <p:spPr>
          <a:xfrm>
            <a:off x="713231" y="4654804"/>
            <a:ext cx="777240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8BAFC4"/>
                </a:solidFill>
              </a:defRPr>
            </a:lvl1pPr>
          </a:lstStyle>
          <a:p>
            <a:pPr/>
            <a:r>
              <a:t>§8  The Complete Algorithm</a:t>
            </a:r>
          </a:p>
        </p:txBody>
      </p:sp>
      <p:sp>
        <p:nvSpPr>
          <p:cNvPr id="42" name="Shape 22"/>
          <p:cNvSpPr/>
          <p:nvPr/>
        </p:nvSpPr>
        <p:spPr>
          <a:xfrm>
            <a:off x="548640" y="4855464"/>
            <a:ext cx="54865" cy="100585"/>
          </a:xfrm>
          <a:prstGeom prst="rect">
            <a:avLst/>
          </a:prstGeom>
          <a:solidFill>
            <a:srgbClr val="3A6EA5"/>
          </a:solidFill>
          <a:ln w="1270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" name="Text 23"/>
          <p:cNvSpPr txBox="1"/>
          <p:nvPr/>
        </p:nvSpPr>
        <p:spPr>
          <a:xfrm>
            <a:off x="713231" y="4787392"/>
            <a:ext cx="777240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8BAFC4"/>
                </a:solidFill>
              </a:defRPr>
            </a:lvl1pPr>
          </a:lstStyle>
          <a:p>
            <a:pPr/>
            <a:r>
              <a:t>§9  Hyperparameters · §10  Physics Analogies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A6EA5"/>
          </a:solidFill>
          <a:ln w="1270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" name="Text 1"/>
          <p:cNvSpPr txBox="1"/>
          <p:nvPr/>
        </p:nvSpPr>
        <p:spPr>
          <a:xfrm>
            <a:off x="548640" y="657411"/>
            <a:ext cx="1828801" cy="605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600">
                <a:solidFill>
                  <a:srgbClr val="3A6EA5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§1</a:t>
            </a:r>
          </a:p>
        </p:txBody>
      </p:sp>
      <p:sp>
        <p:nvSpPr>
          <p:cNvPr id="47" name="Text 2"/>
          <p:cNvSpPr txBox="1"/>
          <p:nvPr/>
        </p:nvSpPr>
        <p:spPr>
          <a:xfrm>
            <a:off x="548640" y="1553873"/>
            <a:ext cx="8046719" cy="4584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Prerequisites and Notation</a:t>
            </a:r>
          </a:p>
        </p:txBody>
      </p:sp>
      <p:sp>
        <p:nvSpPr>
          <p:cNvPr id="48" name="Text 3"/>
          <p:cNvSpPr txBox="1"/>
          <p:nvPr/>
        </p:nvSpPr>
        <p:spPr>
          <a:xfrm>
            <a:off x="548640" y="2425699"/>
            <a:ext cx="8046719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200">
                <a:solidFill>
                  <a:srgbClr val="8BAFC4"/>
                </a:solidFill>
              </a:defRPr>
            </a:lvl1pPr>
          </a:lstStyle>
          <a:p>
            <a:pPr/>
            <a:r>
              <a:t>MDP, policy, value functions, advantage</a:t>
            </a:r>
          </a:p>
        </p:txBody>
      </p:sp>
      <p:sp>
        <p:nvSpPr>
          <p:cNvPr id="49" name="Text 4"/>
          <p:cNvSpPr txBox="1"/>
          <p:nvPr/>
        </p:nvSpPr>
        <p:spPr>
          <a:xfrm>
            <a:off x="0" y="4917694"/>
            <a:ext cx="9144000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4A6880"/>
                </a:solidFill>
              </a:defRPr>
            </a:lvl1pPr>
          </a:lstStyle>
          <a:p>
            <a:pPr/>
            <a:r>
              <a:t>From Conway to LangGraph  ·  Università di Bologna  ·  Week 6  ·  PPO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0"/>
          <p:cNvSpPr/>
          <p:nvPr/>
        </p:nvSpPr>
        <p:spPr>
          <a:xfrm>
            <a:off x="0" y="-1"/>
            <a:ext cx="9144000" cy="74981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2" name="Text 1"/>
          <p:cNvSpPr txBox="1"/>
          <p:nvPr/>
        </p:nvSpPr>
        <p:spPr>
          <a:xfrm>
            <a:off x="301751" y="240329"/>
            <a:ext cx="6583682" cy="269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9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§1 — The MDP and Key Notation</a:t>
            </a:r>
          </a:p>
        </p:txBody>
      </p:sp>
      <p:sp>
        <p:nvSpPr>
          <p:cNvPr id="53" name="Text 2"/>
          <p:cNvSpPr txBox="1"/>
          <p:nvPr/>
        </p:nvSpPr>
        <p:spPr>
          <a:xfrm>
            <a:off x="6903719" y="311404"/>
            <a:ext cx="21031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ABBC3"/>
                </a:solidFill>
              </a:defRPr>
            </a:lvl1pPr>
          </a:lstStyle>
          <a:p>
            <a:pPr/>
            <a:r>
              <a:t>Prerequisites</a:t>
            </a:r>
          </a:p>
        </p:txBody>
      </p:sp>
      <p:sp>
        <p:nvSpPr>
          <p:cNvPr id="54" name="Shape 3"/>
          <p:cNvSpPr/>
          <p:nvPr/>
        </p:nvSpPr>
        <p:spPr>
          <a:xfrm>
            <a:off x="274320" y="868680"/>
            <a:ext cx="8595360" cy="512065"/>
          </a:xfrm>
          <a:prstGeom prst="rect">
            <a:avLst/>
          </a:prstGeom>
          <a:solidFill>
            <a:srgbClr val="E8F0F8"/>
          </a:solidFill>
          <a:ln w="1524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" name="Text 4"/>
          <p:cNvSpPr txBox="1"/>
          <p:nvPr/>
        </p:nvSpPr>
        <p:spPr>
          <a:xfrm>
            <a:off x="411479" y="990092"/>
            <a:ext cx="8321042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C2B33"/>
                </a:solidFill>
              </a:defRPr>
            </a:lvl1pPr>
          </a:lstStyle>
          <a:p>
            <a:pPr/>
            <a:r>
              <a:t>MDP  =  ( S , A , P , R , γ )   —   the 5-tuple underlying every RL problem</a:t>
            </a:r>
          </a:p>
        </p:txBody>
      </p:sp>
      <p:sp>
        <p:nvSpPr>
          <p:cNvPr id="56" name="Shape 5"/>
          <p:cNvSpPr/>
          <p:nvPr/>
        </p:nvSpPr>
        <p:spPr>
          <a:xfrm>
            <a:off x="274320" y="1481327"/>
            <a:ext cx="8595360" cy="384049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Text 6"/>
          <p:cNvSpPr txBox="1"/>
          <p:nvPr/>
        </p:nvSpPr>
        <p:spPr>
          <a:xfrm>
            <a:off x="365759" y="1597151"/>
            <a:ext cx="14630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3A6EA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</a:t>
            </a:r>
          </a:p>
        </p:txBody>
      </p:sp>
      <p:sp>
        <p:nvSpPr>
          <p:cNvPr id="58" name="Text 7"/>
          <p:cNvSpPr txBox="1"/>
          <p:nvPr/>
        </p:nvSpPr>
        <p:spPr>
          <a:xfrm>
            <a:off x="1874520" y="1602633"/>
            <a:ext cx="6858001" cy="141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C2B33"/>
                </a:solidFill>
              </a:defRPr>
            </a:lvl1pPr>
          </a:lstStyle>
          <a:p>
            <a:pPr/>
            <a:r>
              <a:t>State space (may be continuous — e.g. ℝ⁴ for CartPole)</a:t>
            </a:r>
          </a:p>
        </p:txBody>
      </p:sp>
      <p:sp>
        <p:nvSpPr>
          <p:cNvPr id="59" name="Shape 8"/>
          <p:cNvSpPr/>
          <p:nvPr/>
        </p:nvSpPr>
        <p:spPr>
          <a:xfrm>
            <a:off x="274320" y="1901951"/>
            <a:ext cx="8595360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0" name="Text 9"/>
          <p:cNvSpPr txBox="1"/>
          <p:nvPr/>
        </p:nvSpPr>
        <p:spPr>
          <a:xfrm>
            <a:off x="365759" y="2017776"/>
            <a:ext cx="14630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3A6EA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61" name="Text 10"/>
          <p:cNvSpPr txBox="1"/>
          <p:nvPr/>
        </p:nvSpPr>
        <p:spPr>
          <a:xfrm>
            <a:off x="1874520" y="2024126"/>
            <a:ext cx="68580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C2B33"/>
                </a:solidFill>
              </a:defRPr>
            </a:lvl1pPr>
          </a:lstStyle>
          <a:p>
            <a:pPr/>
            <a:r>
              <a:t>Action space  (discrete or continuous)</a:t>
            </a:r>
          </a:p>
        </p:txBody>
      </p:sp>
      <p:sp>
        <p:nvSpPr>
          <p:cNvPr id="62" name="Shape 11"/>
          <p:cNvSpPr/>
          <p:nvPr/>
        </p:nvSpPr>
        <p:spPr>
          <a:xfrm>
            <a:off x="274320" y="2322576"/>
            <a:ext cx="8595360" cy="384049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3" name="Text 12"/>
          <p:cNvSpPr txBox="1"/>
          <p:nvPr/>
        </p:nvSpPr>
        <p:spPr>
          <a:xfrm>
            <a:off x="365759" y="2438399"/>
            <a:ext cx="14630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3A6EA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P(s′|s,a)</a:t>
            </a:r>
          </a:p>
        </p:txBody>
      </p:sp>
      <p:sp>
        <p:nvSpPr>
          <p:cNvPr id="64" name="Text 13"/>
          <p:cNvSpPr txBox="1"/>
          <p:nvPr/>
        </p:nvSpPr>
        <p:spPr>
          <a:xfrm>
            <a:off x="1874520" y="2444749"/>
            <a:ext cx="68580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C2B33"/>
                </a:solidFill>
              </a:defRPr>
            </a:lvl1pPr>
          </a:lstStyle>
          <a:p>
            <a:pPr/>
            <a:r>
              <a:t>Transition kernel  (unknown to the agent)</a:t>
            </a:r>
          </a:p>
        </p:txBody>
      </p:sp>
      <p:sp>
        <p:nvSpPr>
          <p:cNvPr id="65" name="Shape 14"/>
          <p:cNvSpPr/>
          <p:nvPr/>
        </p:nvSpPr>
        <p:spPr>
          <a:xfrm>
            <a:off x="274320" y="2743200"/>
            <a:ext cx="8595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" name="Text 15"/>
          <p:cNvSpPr txBox="1"/>
          <p:nvPr/>
        </p:nvSpPr>
        <p:spPr>
          <a:xfrm>
            <a:off x="365759" y="2859024"/>
            <a:ext cx="14630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3A6EA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R(s,a)</a:t>
            </a:r>
          </a:p>
        </p:txBody>
      </p:sp>
      <p:sp>
        <p:nvSpPr>
          <p:cNvPr id="67" name="Text 16"/>
          <p:cNvSpPr txBox="1"/>
          <p:nvPr/>
        </p:nvSpPr>
        <p:spPr>
          <a:xfrm>
            <a:off x="1874520" y="2863606"/>
            <a:ext cx="6858001" cy="1432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C2B33"/>
                </a:solidFill>
              </a:defRPr>
            </a:lvl1pPr>
          </a:lstStyle>
          <a:p>
            <a:pPr/>
            <a:r>
              <a:t>Reward function, values r ∈ ℝ</a:t>
            </a:r>
          </a:p>
        </p:txBody>
      </p:sp>
      <p:sp>
        <p:nvSpPr>
          <p:cNvPr id="68" name="Shape 17"/>
          <p:cNvSpPr/>
          <p:nvPr/>
        </p:nvSpPr>
        <p:spPr>
          <a:xfrm>
            <a:off x="274320" y="3163823"/>
            <a:ext cx="8595360" cy="384049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" name="Text 18"/>
          <p:cNvSpPr txBox="1"/>
          <p:nvPr/>
        </p:nvSpPr>
        <p:spPr>
          <a:xfrm>
            <a:off x="365759" y="3279648"/>
            <a:ext cx="14630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3A6EA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γ ∈ [0,1)</a:t>
            </a:r>
          </a:p>
        </p:txBody>
      </p:sp>
      <p:sp>
        <p:nvSpPr>
          <p:cNvPr id="70" name="Text 19"/>
          <p:cNvSpPr txBox="1"/>
          <p:nvPr/>
        </p:nvSpPr>
        <p:spPr>
          <a:xfrm>
            <a:off x="1874520" y="3285998"/>
            <a:ext cx="68580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C2B33"/>
                </a:solidFill>
              </a:defRPr>
            </a:lvl1pPr>
          </a:lstStyle>
          <a:p>
            <a:pPr/>
            <a:r>
              <a:t>Discount factor — controls planning horizon</a:t>
            </a:r>
          </a:p>
        </p:txBody>
      </p:sp>
      <p:sp>
        <p:nvSpPr>
          <p:cNvPr id="71" name="Text 20"/>
          <p:cNvSpPr txBox="1"/>
          <p:nvPr/>
        </p:nvSpPr>
        <p:spPr>
          <a:xfrm>
            <a:off x="274320" y="3648375"/>
            <a:ext cx="4114801" cy="237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Key Symbols</a:t>
            </a:r>
          </a:p>
        </p:txBody>
      </p:sp>
      <p:sp>
        <p:nvSpPr>
          <p:cNvPr id="72" name="Shape 21"/>
          <p:cNvSpPr/>
          <p:nvPr/>
        </p:nvSpPr>
        <p:spPr>
          <a:xfrm>
            <a:off x="274319" y="3950208"/>
            <a:ext cx="4160522" cy="292609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3" name="Text 22"/>
          <p:cNvSpPr txBox="1"/>
          <p:nvPr/>
        </p:nvSpPr>
        <p:spPr>
          <a:xfrm>
            <a:off x="365760" y="4026662"/>
            <a:ext cx="118872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3A6EA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πθ(a|s)</a:t>
            </a:r>
          </a:p>
        </p:txBody>
      </p:sp>
      <p:sp>
        <p:nvSpPr>
          <p:cNvPr id="74" name="Text 23"/>
          <p:cNvSpPr txBox="1"/>
          <p:nvPr/>
        </p:nvSpPr>
        <p:spPr>
          <a:xfrm>
            <a:off x="1600200" y="4033012"/>
            <a:ext cx="2743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1C2B33"/>
                </a:solidFill>
              </a:defRPr>
            </a:lvl1pPr>
          </a:lstStyle>
          <a:p>
            <a:pPr/>
            <a:r>
              <a:t>Stochastic policy parameterised by θ</a:t>
            </a:r>
          </a:p>
        </p:txBody>
      </p:sp>
      <p:sp>
        <p:nvSpPr>
          <p:cNvPr id="75" name="Shape 24"/>
          <p:cNvSpPr/>
          <p:nvPr/>
        </p:nvSpPr>
        <p:spPr>
          <a:xfrm>
            <a:off x="274319" y="4270247"/>
            <a:ext cx="4160522" cy="292609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6" name="Text 25"/>
          <p:cNvSpPr txBox="1"/>
          <p:nvPr/>
        </p:nvSpPr>
        <p:spPr>
          <a:xfrm>
            <a:off x="365760" y="4346701"/>
            <a:ext cx="118872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3A6EA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Vπ(s)</a:t>
            </a:r>
          </a:p>
        </p:txBody>
      </p:sp>
      <p:sp>
        <p:nvSpPr>
          <p:cNvPr id="77" name="Text 26"/>
          <p:cNvSpPr txBox="1"/>
          <p:nvPr/>
        </p:nvSpPr>
        <p:spPr>
          <a:xfrm>
            <a:off x="1600200" y="4353051"/>
            <a:ext cx="2743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1C2B33"/>
                </a:solidFill>
              </a:defRPr>
            </a:lvl1pPr>
          </a:lstStyle>
          <a:p>
            <a:pPr/>
            <a:r>
              <a:t>State-value: Eπ[Gt | st=s]</a:t>
            </a:r>
          </a:p>
        </p:txBody>
      </p:sp>
      <p:sp>
        <p:nvSpPr>
          <p:cNvPr id="78" name="Shape 27"/>
          <p:cNvSpPr/>
          <p:nvPr/>
        </p:nvSpPr>
        <p:spPr>
          <a:xfrm>
            <a:off x="274319" y="4590288"/>
            <a:ext cx="4160522" cy="292609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" name="Text 28"/>
          <p:cNvSpPr txBox="1"/>
          <p:nvPr/>
        </p:nvSpPr>
        <p:spPr>
          <a:xfrm>
            <a:off x="365760" y="4666742"/>
            <a:ext cx="118872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3A6EA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Qπ(s,a)</a:t>
            </a:r>
          </a:p>
        </p:txBody>
      </p:sp>
      <p:sp>
        <p:nvSpPr>
          <p:cNvPr id="80" name="Text 29"/>
          <p:cNvSpPr txBox="1"/>
          <p:nvPr/>
        </p:nvSpPr>
        <p:spPr>
          <a:xfrm>
            <a:off x="1600200" y="4673092"/>
            <a:ext cx="2743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1C2B33"/>
                </a:solidFill>
              </a:defRPr>
            </a:lvl1pPr>
          </a:lstStyle>
          <a:p>
            <a:pPr/>
            <a:r>
              <a:t>Action-value: Eπ[Gt | st=s, at=a]</a:t>
            </a:r>
          </a:p>
        </p:txBody>
      </p:sp>
      <p:sp>
        <p:nvSpPr>
          <p:cNvPr id="81" name="Shape 30"/>
          <p:cNvSpPr/>
          <p:nvPr/>
        </p:nvSpPr>
        <p:spPr>
          <a:xfrm>
            <a:off x="4617720" y="3950208"/>
            <a:ext cx="4160521" cy="292609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Text 31"/>
          <p:cNvSpPr txBox="1"/>
          <p:nvPr/>
        </p:nvSpPr>
        <p:spPr>
          <a:xfrm>
            <a:off x="4709159" y="4026662"/>
            <a:ext cx="11887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3A6EA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Aπ(s,a)</a:t>
            </a:r>
          </a:p>
        </p:txBody>
      </p:sp>
      <p:sp>
        <p:nvSpPr>
          <p:cNvPr id="83" name="Text 32"/>
          <p:cNvSpPr txBox="1"/>
          <p:nvPr/>
        </p:nvSpPr>
        <p:spPr>
          <a:xfrm>
            <a:off x="5943600" y="4033012"/>
            <a:ext cx="2743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1C2B33"/>
                </a:solidFill>
              </a:defRPr>
            </a:lvl1pPr>
          </a:lstStyle>
          <a:p>
            <a:pPr/>
            <a:r>
              <a:t>Advantage: Qπ(s,a) − Vπ(s)</a:t>
            </a:r>
          </a:p>
        </p:txBody>
      </p:sp>
      <p:sp>
        <p:nvSpPr>
          <p:cNvPr id="84" name="Shape 33"/>
          <p:cNvSpPr/>
          <p:nvPr/>
        </p:nvSpPr>
        <p:spPr>
          <a:xfrm>
            <a:off x="4617720" y="4270247"/>
            <a:ext cx="4160521" cy="292609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5" name="Text 34"/>
          <p:cNvSpPr txBox="1"/>
          <p:nvPr/>
        </p:nvSpPr>
        <p:spPr>
          <a:xfrm>
            <a:off x="4709159" y="4346701"/>
            <a:ext cx="11887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3A6EA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Gt</a:t>
            </a:r>
          </a:p>
        </p:txBody>
      </p:sp>
      <p:sp>
        <p:nvSpPr>
          <p:cNvPr id="86" name="Text 35"/>
          <p:cNvSpPr txBox="1"/>
          <p:nvPr/>
        </p:nvSpPr>
        <p:spPr>
          <a:xfrm>
            <a:off x="5943600" y="4353051"/>
            <a:ext cx="2743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1C2B33"/>
                </a:solidFill>
              </a:defRPr>
            </a:lvl1pPr>
          </a:lstStyle>
          <a:p>
            <a:pPr/>
            <a:r>
              <a:t>Discounted return: Σk≥0 γk rt+k</a:t>
            </a:r>
          </a:p>
        </p:txBody>
      </p:sp>
      <p:sp>
        <p:nvSpPr>
          <p:cNvPr id="87" name="Shape 36"/>
          <p:cNvSpPr/>
          <p:nvPr/>
        </p:nvSpPr>
        <p:spPr>
          <a:xfrm>
            <a:off x="4617720" y="4590288"/>
            <a:ext cx="4160521" cy="292609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8" name="Text 37"/>
          <p:cNvSpPr txBox="1"/>
          <p:nvPr/>
        </p:nvSpPr>
        <p:spPr>
          <a:xfrm>
            <a:off x="4709159" y="4666742"/>
            <a:ext cx="11887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3A6EA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J(θ)</a:t>
            </a:r>
          </a:p>
        </p:txBody>
      </p:sp>
      <p:sp>
        <p:nvSpPr>
          <p:cNvPr id="89" name="Text 38"/>
          <p:cNvSpPr txBox="1"/>
          <p:nvPr/>
        </p:nvSpPr>
        <p:spPr>
          <a:xfrm>
            <a:off x="5943600" y="4673092"/>
            <a:ext cx="2743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1C2B33"/>
                </a:solidFill>
              </a:defRPr>
            </a:lvl1pPr>
          </a:lstStyle>
          <a:p>
            <a:pPr/>
            <a:r>
              <a:t>Objective: Eπθ[G0]  — maximise this</a:t>
            </a:r>
          </a:p>
        </p:txBody>
      </p:sp>
      <p:sp>
        <p:nvSpPr>
          <p:cNvPr id="90" name="Text 39"/>
          <p:cNvSpPr txBox="1"/>
          <p:nvPr/>
        </p:nvSpPr>
        <p:spPr>
          <a:xfrm>
            <a:off x="0" y="4917694"/>
            <a:ext cx="9144000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6B7C85"/>
                </a:solidFill>
              </a:defRPr>
            </a:lvl1pPr>
          </a:lstStyle>
          <a:p>
            <a:pPr/>
            <a:r>
              <a:t>From Conway to LangGraph  ·  Università di Bologna  ·  Week 6  ·  §1 Notation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0"/>
          <p:cNvSpPr/>
          <p:nvPr/>
        </p:nvSpPr>
        <p:spPr>
          <a:xfrm>
            <a:off x="0" y="-1"/>
            <a:ext cx="9144000" cy="74981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3" name="Text 1"/>
          <p:cNvSpPr txBox="1"/>
          <p:nvPr/>
        </p:nvSpPr>
        <p:spPr>
          <a:xfrm>
            <a:off x="301751" y="240329"/>
            <a:ext cx="6583682" cy="269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9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§1 — The Advantage Function</a:t>
            </a:r>
          </a:p>
        </p:txBody>
      </p:sp>
      <p:sp>
        <p:nvSpPr>
          <p:cNvPr id="94" name="Text 2"/>
          <p:cNvSpPr txBox="1"/>
          <p:nvPr/>
        </p:nvSpPr>
        <p:spPr>
          <a:xfrm>
            <a:off x="6903719" y="311404"/>
            <a:ext cx="21031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ABBC3"/>
                </a:solidFill>
              </a:defRPr>
            </a:lvl1pPr>
          </a:lstStyle>
          <a:p>
            <a:pPr/>
            <a:r>
              <a:t>The teaching signal of policy gradient</a:t>
            </a:r>
          </a:p>
        </p:txBody>
      </p:sp>
      <p:sp>
        <p:nvSpPr>
          <p:cNvPr id="95" name="Shape 3"/>
          <p:cNvSpPr/>
          <p:nvPr/>
        </p:nvSpPr>
        <p:spPr>
          <a:xfrm>
            <a:off x="274320" y="868680"/>
            <a:ext cx="8595360" cy="621793"/>
          </a:xfrm>
          <a:prstGeom prst="rect">
            <a:avLst/>
          </a:prstGeom>
          <a:solidFill>
            <a:srgbClr val="E8F0F8"/>
          </a:solidFill>
          <a:ln w="1905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6" name="Text 4"/>
          <p:cNvSpPr txBox="1"/>
          <p:nvPr/>
        </p:nvSpPr>
        <p:spPr>
          <a:xfrm>
            <a:off x="457200" y="903478"/>
            <a:ext cx="8229600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600">
                <a:solidFill>
                  <a:srgbClr val="36454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Aπ(s, a)  =  Qπ(s, a)  −  Vπ(s)</a:t>
            </a:r>
          </a:p>
        </p:txBody>
      </p:sp>
      <p:sp>
        <p:nvSpPr>
          <p:cNvPr id="97" name="Text 5"/>
          <p:cNvSpPr txBox="1"/>
          <p:nvPr/>
        </p:nvSpPr>
        <p:spPr>
          <a:xfrm>
            <a:off x="457200" y="1253236"/>
            <a:ext cx="8229600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6B7C85"/>
                </a:solidFill>
              </a:defRPr>
            </a:lvl1pPr>
          </a:lstStyle>
          <a:p>
            <a:pPr/>
            <a:r>
              <a:t>How much better is action a, compared to the average action at state s?</a:t>
            </a:r>
          </a:p>
        </p:txBody>
      </p:sp>
      <p:sp>
        <p:nvSpPr>
          <p:cNvPr id="98" name="Shape 6"/>
          <p:cNvSpPr/>
          <p:nvPr/>
        </p:nvSpPr>
        <p:spPr>
          <a:xfrm>
            <a:off x="274319" y="1627632"/>
            <a:ext cx="2788922" cy="2286001"/>
          </a:xfrm>
          <a:prstGeom prst="rect">
            <a:avLst/>
          </a:prstGeom>
          <a:solidFill>
            <a:srgbClr val="F0F2F4"/>
          </a:solidFill>
          <a:ln w="15240">
            <a:solidFill>
              <a:srgbClr val="3645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9" name="Shape 7"/>
          <p:cNvSpPr/>
          <p:nvPr/>
        </p:nvSpPr>
        <p:spPr>
          <a:xfrm>
            <a:off x="274319" y="1627632"/>
            <a:ext cx="2788922" cy="256033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0" name="Text 8"/>
          <p:cNvSpPr txBox="1"/>
          <p:nvPr/>
        </p:nvSpPr>
        <p:spPr>
          <a:xfrm>
            <a:off x="365760" y="1692148"/>
            <a:ext cx="26060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Zero-mean property</a:t>
            </a:r>
          </a:p>
        </p:txBody>
      </p:sp>
      <p:sp>
        <p:nvSpPr>
          <p:cNvPr id="101" name="Text 9"/>
          <p:cNvSpPr txBox="1"/>
          <p:nvPr/>
        </p:nvSpPr>
        <p:spPr>
          <a:xfrm>
            <a:off x="384048" y="2526283"/>
            <a:ext cx="2578608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900">
                <a:solidFill>
                  <a:srgbClr val="1C2B33"/>
                </a:solidFill>
              </a:defRPr>
            </a:pPr>
            <a:r>
              <a:t>Ea~π [ Aπ(s,a) ] = 0  for all s</a:t>
            </a:r>
          </a:p>
          <a:p>
            <a:pPr>
              <a:defRPr sz="900"/>
            </a:pPr>
          </a:p>
          <a:p>
            <a:pPr>
              <a:defRPr sz="900">
                <a:solidFill>
                  <a:srgbClr val="1C2B33"/>
                </a:solidFill>
              </a:defRPr>
            </a:pPr>
            <a:r>
              <a:t>Averaging advantage over the policy gives zero — it is a pure relative measure, not an absolute scale.</a:t>
            </a:r>
          </a:p>
        </p:txBody>
      </p:sp>
      <p:sp>
        <p:nvSpPr>
          <p:cNvPr id="102" name="Shape 10"/>
          <p:cNvSpPr/>
          <p:nvPr/>
        </p:nvSpPr>
        <p:spPr>
          <a:xfrm>
            <a:off x="3200399" y="1627632"/>
            <a:ext cx="2788922" cy="2286001"/>
          </a:xfrm>
          <a:prstGeom prst="rect">
            <a:avLst/>
          </a:prstGeom>
          <a:solidFill>
            <a:srgbClr val="E8F4EC"/>
          </a:solidFill>
          <a:ln w="15240">
            <a:solidFill>
              <a:srgbClr val="2E6B3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3" name="Shape 11"/>
          <p:cNvSpPr/>
          <p:nvPr/>
        </p:nvSpPr>
        <p:spPr>
          <a:xfrm>
            <a:off x="3200399" y="1627632"/>
            <a:ext cx="2788922" cy="256033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4" name="Text 12"/>
          <p:cNvSpPr txBox="1"/>
          <p:nvPr/>
        </p:nvSpPr>
        <p:spPr>
          <a:xfrm>
            <a:off x="3291840" y="1685156"/>
            <a:ext cx="2606041" cy="140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A &gt; 0  →  good action</a:t>
            </a:r>
          </a:p>
        </p:txBody>
      </p:sp>
      <p:sp>
        <p:nvSpPr>
          <p:cNvPr id="105" name="Text 13"/>
          <p:cNvSpPr txBox="1"/>
          <p:nvPr/>
        </p:nvSpPr>
        <p:spPr>
          <a:xfrm>
            <a:off x="3310128" y="2526283"/>
            <a:ext cx="2578609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900">
                <a:solidFill>
                  <a:srgbClr val="1C2B33"/>
                </a:solidFill>
              </a:defRPr>
            </a:pPr>
            <a:r>
              <a:t>Action a is better than average under π.</a:t>
            </a:r>
          </a:p>
          <a:p>
            <a:pPr>
              <a:defRPr sz="900"/>
            </a:pPr>
          </a:p>
          <a:p>
            <a:pPr>
              <a:defRPr sz="900">
                <a:solidFill>
                  <a:srgbClr val="1C2B33"/>
                </a:solidFill>
              </a:defRPr>
            </a:pPr>
            <a:r>
              <a:t>The policy gradient will push θ to increase π(a|s).</a:t>
            </a:r>
          </a:p>
          <a:p>
            <a:pPr>
              <a:defRPr sz="900">
                <a:solidFill>
                  <a:srgbClr val="1C2B33"/>
                </a:solidFill>
              </a:defRPr>
            </a:pPr>
            <a:r>
              <a:t>This is the 'positive reinforcement' branch.</a:t>
            </a:r>
          </a:p>
        </p:txBody>
      </p:sp>
      <p:sp>
        <p:nvSpPr>
          <p:cNvPr id="106" name="Shape 14"/>
          <p:cNvSpPr/>
          <p:nvPr/>
        </p:nvSpPr>
        <p:spPr>
          <a:xfrm>
            <a:off x="6126479" y="1627632"/>
            <a:ext cx="2788921" cy="2286001"/>
          </a:xfrm>
          <a:prstGeom prst="rect">
            <a:avLst/>
          </a:prstGeom>
          <a:solidFill>
            <a:srgbClr val="FCEEF0"/>
          </a:solidFill>
          <a:ln w="15240">
            <a:solidFill>
              <a:srgbClr val="9B233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7" name="Shape 15"/>
          <p:cNvSpPr/>
          <p:nvPr/>
        </p:nvSpPr>
        <p:spPr>
          <a:xfrm>
            <a:off x="6126479" y="1627632"/>
            <a:ext cx="2788921" cy="256033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8" name="Text 16"/>
          <p:cNvSpPr txBox="1"/>
          <p:nvPr/>
        </p:nvSpPr>
        <p:spPr>
          <a:xfrm>
            <a:off x="6217920" y="1685156"/>
            <a:ext cx="2606041" cy="140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A &lt; 0  →  bad action</a:t>
            </a:r>
          </a:p>
        </p:txBody>
      </p:sp>
      <p:sp>
        <p:nvSpPr>
          <p:cNvPr id="109" name="Text 17"/>
          <p:cNvSpPr txBox="1"/>
          <p:nvPr/>
        </p:nvSpPr>
        <p:spPr>
          <a:xfrm>
            <a:off x="6236208" y="2526283"/>
            <a:ext cx="2578608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900">
                <a:solidFill>
                  <a:srgbClr val="1C2B33"/>
                </a:solidFill>
              </a:defRPr>
            </a:pPr>
            <a:r>
              <a:t>Action a is worse than average under π.</a:t>
            </a:r>
          </a:p>
          <a:p>
            <a:pPr>
              <a:defRPr sz="900"/>
            </a:pPr>
          </a:p>
          <a:p>
            <a:pPr>
              <a:defRPr sz="900">
                <a:solidFill>
                  <a:srgbClr val="1C2B33"/>
                </a:solidFill>
              </a:defRPr>
            </a:pPr>
            <a:r>
              <a:t>The policy gradient will push θ to decrease π(a|s).</a:t>
            </a:r>
          </a:p>
          <a:p>
            <a:pPr>
              <a:defRPr sz="900">
                <a:solidFill>
                  <a:srgbClr val="1C2B33"/>
                </a:solidFill>
              </a:defRPr>
            </a:pPr>
            <a:r>
              <a:t>This is the 'negative reinforcement' branch.</a:t>
            </a:r>
          </a:p>
        </p:txBody>
      </p:sp>
      <p:sp>
        <p:nvSpPr>
          <p:cNvPr id="110" name="Shape 18"/>
          <p:cNvSpPr/>
          <p:nvPr/>
        </p:nvSpPr>
        <p:spPr>
          <a:xfrm>
            <a:off x="274320" y="4005071"/>
            <a:ext cx="8595360" cy="749809"/>
          </a:xfrm>
          <a:prstGeom prst="rect">
            <a:avLst/>
          </a:prstGeom>
          <a:solidFill>
            <a:srgbClr val="FDF6DC"/>
          </a:solidFill>
          <a:ln w="15240">
            <a:solidFill>
              <a:srgbClr val="B886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1" name="Shape 19"/>
          <p:cNvSpPr/>
          <p:nvPr/>
        </p:nvSpPr>
        <p:spPr>
          <a:xfrm>
            <a:off x="274320" y="4005071"/>
            <a:ext cx="8595360" cy="201169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Text 20"/>
          <p:cNvSpPr txBox="1"/>
          <p:nvPr/>
        </p:nvSpPr>
        <p:spPr>
          <a:xfrm>
            <a:off x="384047" y="4042155"/>
            <a:ext cx="2743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KEY INSIGHT</a:t>
            </a:r>
          </a:p>
        </p:txBody>
      </p:sp>
      <p:sp>
        <p:nvSpPr>
          <p:cNvPr id="113" name="Text 21"/>
          <p:cNvSpPr txBox="1"/>
          <p:nvPr/>
        </p:nvSpPr>
        <p:spPr>
          <a:xfrm>
            <a:off x="384047" y="4298696"/>
            <a:ext cx="8321042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1C2B33"/>
                </a:solidFill>
              </a:defRPr>
            </a:lvl1pPr>
          </a:lstStyle>
          <a:p>
            <a:pPr/>
            <a:r>
              <a:t>The advantage replaces the raw return Gt in the policy gradient. Since Ea[A]=0, the baseline Vπ(s) contributes zero gradient — but dramatically reduces variance. This substitution is what makes actor-critic methods stable.</a:t>
            </a:r>
          </a:p>
        </p:txBody>
      </p:sp>
      <p:sp>
        <p:nvSpPr>
          <p:cNvPr id="114" name="Text 22"/>
          <p:cNvSpPr txBox="1"/>
          <p:nvPr/>
        </p:nvSpPr>
        <p:spPr>
          <a:xfrm>
            <a:off x="0" y="4917694"/>
            <a:ext cx="9144000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6B7C85"/>
                </a:solidFill>
              </a:defRPr>
            </a:lvl1pPr>
          </a:lstStyle>
          <a:p>
            <a:pPr/>
            <a:r>
              <a:t>From Conway to LangGraph  ·  Università di Bologna  ·  Week 6  ·  §1 Advantage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A6EA5"/>
          </a:solidFill>
          <a:ln w="1270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7" name="Text 1"/>
          <p:cNvSpPr txBox="1"/>
          <p:nvPr/>
        </p:nvSpPr>
        <p:spPr>
          <a:xfrm>
            <a:off x="548640" y="657411"/>
            <a:ext cx="1828801" cy="605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600">
                <a:solidFill>
                  <a:srgbClr val="3A6EA5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§2</a:t>
            </a:r>
          </a:p>
        </p:txBody>
      </p:sp>
      <p:sp>
        <p:nvSpPr>
          <p:cNvPr id="118" name="Text 2"/>
          <p:cNvSpPr txBox="1"/>
          <p:nvPr/>
        </p:nvSpPr>
        <p:spPr>
          <a:xfrm>
            <a:off x="548640" y="1553873"/>
            <a:ext cx="8046719" cy="4584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From Value Functions to Policies</a:t>
            </a:r>
          </a:p>
        </p:txBody>
      </p:sp>
      <p:sp>
        <p:nvSpPr>
          <p:cNvPr id="119" name="Text 3"/>
          <p:cNvSpPr txBox="1"/>
          <p:nvPr/>
        </p:nvSpPr>
        <p:spPr>
          <a:xfrm>
            <a:off x="548640" y="2425699"/>
            <a:ext cx="8046719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200">
                <a:solidFill>
                  <a:srgbClr val="8BAFC4"/>
                </a:solidFill>
              </a:defRPr>
            </a:lvl1pPr>
          </a:lstStyle>
          <a:p>
            <a:pPr/>
            <a:r>
              <a:t>Why policy gradients? Why not DQN everywhere?</a:t>
            </a:r>
          </a:p>
        </p:txBody>
      </p:sp>
      <p:sp>
        <p:nvSpPr>
          <p:cNvPr id="120" name="Text 4"/>
          <p:cNvSpPr txBox="1"/>
          <p:nvPr/>
        </p:nvSpPr>
        <p:spPr>
          <a:xfrm>
            <a:off x="0" y="4917694"/>
            <a:ext cx="9144000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4A6880"/>
                </a:solidFill>
              </a:defRPr>
            </a:lvl1pPr>
          </a:lstStyle>
          <a:p>
            <a:pPr/>
            <a:r>
              <a:t>From Conway to LangGraph  ·  Università di Bologna  ·  Week 6  ·  PPO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0"/>
          <p:cNvSpPr/>
          <p:nvPr/>
        </p:nvSpPr>
        <p:spPr>
          <a:xfrm>
            <a:off x="0" y="-1"/>
            <a:ext cx="9144000" cy="74981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3" name="Text 1"/>
          <p:cNvSpPr txBox="1"/>
          <p:nvPr/>
        </p:nvSpPr>
        <p:spPr>
          <a:xfrm>
            <a:off x="301751" y="240329"/>
            <a:ext cx="6583682" cy="269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9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§2 — Two Families of RL Algorithms</a:t>
            </a:r>
          </a:p>
        </p:txBody>
      </p:sp>
      <p:sp>
        <p:nvSpPr>
          <p:cNvPr id="124" name="Text 2"/>
          <p:cNvSpPr txBox="1"/>
          <p:nvPr/>
        </p:nvSpPr>
        <p:spPr>
          <a:xfrm>
            <a:off x="6903719" y="311404"/>
            <a:ext cx="21031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ABBC3"/>
                </a:solidFill>
              </a:defRPr>
            </a:lvl1pPr>
          </a:lstStyle>
          <a:p>
            <a:pPr/>
            <a:r>
              <a:t>Value-based vs Policy Gradient</a:t>
            </a:r>
          </a:p>
        </p:txBody>
      </p:sp>
      <p:sp>
        <p:nvSpPr>
          <p:cNvPr id="125" name="Shape 3"/>
          <p:cNvSpPr/>
          <p:nvPr/>
        </p:nvSpPr>
        <p:spPr>
          <a:xfrm>
            <a:off x="274319" y="914399"/>
            <a:ext cx="4160522" cy="3675890"/>
          </a:xfrm>
          <a:prstGeom prst="rect">
            <a:avLst/>
          </a:prstGeom>
          <a:solidFill>
            <a:srgbClr val="E8F0F8"/>
          </a:solidFill>
          <a:ln w="1524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6" name="Shape 4"/>
          <p:cNvSpPr/>
          <p:nvPr/>
        </p:nvSpPr>
        <p:spPr>
          <a:xfrm>
            <a:off x="274319" y="914400"/>
            <a:ext cx="4160522" cy="256032"/>
          </a:xfrm>
          <a:prstGeom prst="rect">
            <a:avLst/>
          </a:prstGeom>
          <a:solidFill>
            <a:srgbClr val="3A6EA5"/>
          </a:solidFill>
          <a:ln w="1270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7" name="Text 5"/>
          <p:cNvSpPr txBox="1"/>
          <p:nvPr/>
        </p:nvSpPr>
        <p:spPr>
          <a:xfrm>
            <a:off x="365759" y="975263"/>
            <a:ext cx="3931922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Value-Based  (e.g. DQN)</a:t>
            </a:r>
          </a:p>
        </p:txBody>
      </p:sp>
      <p:sp>
        <p:nvSpPr>
          <p:cNvPr id="128" name="Text 6"/>
          <p:cNvSpPr txBox="1"/>
          <p:nvPr/>
        </p:nvSpPr>
        <p:spPr>
          <a:xfrm>
            <a:off x="402336" y="1271524"/>
            <a:ext cx="38404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3A6EA5"/>
                </a:solidFill>
              </a:defRPr>
            </a:lvl1pPr>
          </a:lstStyle>
          <a:p>
            <a:pPr/>
            <a:r>
              <a:t>What is learned?</a:t>
            </a:r>
          </a:p>
        </p:txBody>
      </p:sp>
      <p:sp>
        <p:nvSpPr>
          <p:cNvPr id="129" name="Text 7"/>
          <p:cNvSpPr txBox="1"/>
          <p:nvPr/>
        </p:nvSpPr>
        <p:spPr>
          <a:xfrm>
            <a:off x="402336" y="1536699"/>
            <a:ext cx="38404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1C2B33"/>
                </a:solidFill>
              </a:defRPr>
            </a:lvl1pPr>
          </a:lstStyle>
          <a:p>
            <a:pPr/>
            <a:r>
              <a:t>Q*(s,a) — the optimal action-value function</a:t>
            </a:r>
          </a:p>
        </p:txBody>
      </p:sp>
      <p:sp>
        <p:nvSpPr>
          <p:cNvPr id="130" name="Shape 8"/>
          <p:cNvSpPr/>
          <p:nvPr/>
        </p:nvSpPr>
        <p:spPr>
          <a:xfrm>
            <a:off x="402336" y="1801367"/>
            <a:ext cx="3840481" cy="1"/>
          </a:xfrm>
          <a:prstGeom prst="line">
            <a:avLst/>
          </a:prstGeom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1" name="Text 9"/>
          <p:cNvSpPr txBox="1"/>
          <p:nvPr/>
        </p:nvSpPr>
        <p:spPr>
          <a:xfrm>
            <a:off x="402336" y="1911604"/>
            <a:ext cx="38404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3A6EA5"/>
                </a:solidFill>
              </a:defRPr>
            </a:lvl1pPr>
          </a:lstStyle>
          <a:p>
            <a:pPr/>
            <a:r>
              <a:t>Policy extraction</a:t>
            </a:r>
          </a:p>
        </p:txBody>
      </p:sp>
      <p:sp>
        <p:nvSpPr>
          <p:cNvPr id="132" name="Text 10"/>
          <p:cNvSpPr txBox="1"/>
          <p:nvPr/>
        </p:nvSpPr>
        <p:spPr>
          <a:xfrm>
            <a:off x="402336" y="2176780"/>
            <a:ext cx="38404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1C2B33"/>
                </a:solidFill>
              </a:defRPr>
            </a:lvl1pPr>
          </a:lstStyle>
          <a:p>
            <a:pPr/>
            <a:r>
              <a:t>π(s) = argmax_a Q*(s,a)  (implicit, deterministic)</a:t>
            </a:r>
          </a:p>
        </p:txBody>
      </p:sp>
      <p:sp>
        <p:nvSpPr>
          <p:cNvPr id="133" name="Shape 11"/>
          <p:cNvSpPr/>
          <p:nvPr/>
        </p:nvSpPr>
        <p:spPr>
          <a:xfrm>
            <a:off x="402336" y="2441448"/>
            <a:ext cx="3840481" cy="1"/>
          </a:xfrm>
          <a:prstGeom prst="line">
            <a:avLst/>
          </a:prstGeom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4" name="Text 12"/>
          <p:cNvSpPr txBox="1"/>
          <p:nvPr/>
        </p:nvSpPr>
        <p:spPr>
          <a:xfrm>
            <a:off x="402336" y="2551683"/>
            <a:ext cx="38404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3A6EA5"/>
                </a:solidFill>
              </a:defRPr>
            </a:lvl1pPr>
          </a:lstStyle>
          <a:p>
            <a:pPr/>
            <a:r>
              <a:t>Action space</a:t>
            </a:r>
          </a:p>
        </p:txBody>
      </p:sp>
      <p:sp>
        <p:nvSpPr>
          <p:cNvPr id="135" name="Text 13"/>
          <p:cNvSpPr txBox="1"/>
          <p:nvPr/>
        </p:nvSpPr>
        <p:spPr>
          <a:xfrm>
            <a:off x="402336" y="2816859"/>
            <a:ext cx="38404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1C2B33"/>
                </a:solidFill>
              </a:defRPr>
            </a:lvl1pPr>
          </a:lstStyle>
          <a:p>
            <a:pPr/>
            <a:r>
              <a:t>Discrete and enumerable  (cannot scale to continuous)</a:t>
            </a:r>
          </a:p>
        </p:txBody>
      </p:sp>
      <p:sp>
        <p:nvSpPr>
          <p:cNvPr id="136" name="Shape 14"/>
          <p:cNvSpPr/>
          <p:nvPr/>
        </p:nvSpPr>
        <p:spPr>
          <a:xfrm>
            <a:off x="402336" y="3081527"/>
            <a:ext cx="3840481" cy="1"/>
          </a:xfrm>
          <a:prstGeom prst="line">
            <a:avLst/>
          </a:prstGeom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7" name="Text 15"/>
          <p:cNvSpPr txBox="1"/>
          <p:nvPr/>
        </p:nvSpPr>
        <p:spPr>
          <a:xfrm>
            <a:off x="402336" y="3191763"/>
            <a:ext cx="38404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3A6EA5"/>
                </a:solidFill>
              </a:defRPr>
            </a:lvl1pPr>
          </a:lstStyle>
          <a:p>
            <a:pPr/>
            <a:r>
              <a:t>Key idea</a:t>
            </a:r>
          </a:p>
        </p:txBody>
      </p:sp>
      <p:sp>
        <p:nvSpPr>
          <p:cNvPr id="138" name="Text 16"/>
          <p:cNvSpPr txBox="1"/>
          <p:nvPr/>
        </p:nvSpPr>
        <p:spPr>
          <a:xfrm>
            <a:off x="402336" y="3449948"/>
            <a:ext cx="3840480" cy="140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1C2B33"/>
                </a:solidFill>
              </a:defRPr>
            </a:lvl1pPr>
          </a:lstStyle>
          <a:p>
            <a:pPr/>
            <a:r>
              <a:t>Minimise Bellman residual until Q → Q*</a:t>
            </a:r>
          </a:p>
        </p:txBody>
      </p:sp>
      <p:sp>
        <p:nvSpPr>
          <p:cNvPr id="139" name="Shape 17"/>
          <p:cNvSpPr/>
          <p:nvPr/>
        </p:nvSpPr>
        <p:spPr>
          <a:xfrm>
            <a:off x="402336" y="3721608"/>
            <a:ext cx="3840481" cy="1"/>
          </a:xfrm>
          <a:prstGeom prst="line">
            <a:avLst/>
          </a:prstGeom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0" name="Text 18"/>
          <p:cNvSpPr txBox="1"/>
          <p:nvPr/>
        </p:nvSpPr>
        <p:spPr>
          <a:xfrm>
            <a:off x="402336" y="3831843"/>
            <a:ext cx="38404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3A6EA5"/>
                </a:solidFill>
              </a:defRPr>
            </a:lvl1pPr>
          </a:lstStyle>
          <a:p>
            <a:pPr/>
            <a:r>
              <a:t>Limitation</a:t>
            </a:r>
          </a:p>
        </p:txBody>
      </p:sp>
      <p:sp>
        <p:nvSpPr>
          <p:cNvPr id="141" name="Text 19"/>
          <p:cNvSpPr txBox="1"/>
          <p:nvPr/>
        </p:nvSpPr>
        <p:spPr>
          <a:xfrm>
            <a:off x="402336" y="4097020"/>
            <a:ext cx="38404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1C2B33"/>
                </a:solidFill>
              </a:defRPr>
            </a:lvl1pPr>
          </a:lstStyle>
          <a:p>
            <a:pPr/>
            <a:r>
              <a:t>No direct optimisation of J(θ); policy is a byproduct</a:t>
            </a:r>
          </a:p>
        </p:txBody>
      </p:sp>
      <p:sp>
        <p:nvSpPr>
          <p:cNvPr id="142" name="Shape 20"/>
          <p:cNvSpPr/>
          <p:nvPr/>
        </p:nvSpPr>
        <p:spPr>
          <a:xfrm>
            <a:off x="4709159" y="914399"/>
            <a:ext cx="4160521" cy="3675890"/>
          </a:xfrm>
          <a:prstGeom prst="rect">
            <a:avLst/>
          </a:prstGeom>
          <a:solidFill>
            <a:srgbClr val="E8F4EC"/>
          </a:solidFill>
          <a:ln w="15240">
            <a:solidFill>
              <a:srgbClr val="2E6B3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3" name="Shape 21"/>
          <p:cNvSpPr/>
          <p:nvPr/>
        </p:nvSpPr>
        <p:spPr>
          <a:xfrm>
            <a:off x="4709159" y="914400"/>
            <a:ext cx="4160521" cy="256032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4" name="Text 22"/>
          <p:cNvSpPr txBox="1"/>
          <p:nvPr/>
        </p:nvSpPr>
        <p:spPr>
          <a:xfrm>
            <a:off x="4800599" y="975263"/>
            <a:ext cx="3931922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Policy Gradient  (e.g. PPO)</a:t>
            </a:r>
          </a:p>
        </p:txBody>
      </p:sp>
      <p:sp>
        <p:nvSpPr>
          <p:cNvPr id="145" name="Text 23"/>
          <p:cNvSpPr txBox="1"/>
          <p:nvPr/>
        </p:nvSpPr>
        <p:spPr>
          <a:xfrm>
            <a:off x="4837176" y="1271524"/>
            <a:ext cx="3840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2E6B3E"/>
                </a:solidFill>
              </a:defRPr>
            </a:lvl1pPr>
          </a:lstStyle>
          <a:p>
            <a:pPr/>
            <a:r>
              <a:t>What is learned?</a:t>
            </a:r>
          </a:p>
        </p:txBody>
      </p:sp>
      <p:sp>
        <p:nvSpPr>
          <p:cNvPr id="146" name="Text 24"/>
          <p:cNvSpPr txBox="1"/>
          <p:nvPr/>
        </p:nvSpPr>
        <p:spPr>
          <a:xfrm>
            <a:off x="4837176" y="1536699"/>
            <a:ext cx="3840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1C2B33"/>
                </a:solidFill>
              </a:defRPr>
            </a:lvl1pPr>
          </a:lstStyle>
          <a:p>
            <a:pPr/>
            <a:r>
              <a:t>πθ(a|s) — the policy itself, parameterised by θ</a:t>
            </a:r>
          </a:p>
        </p:txBody>
      </p:sp>
      <p:sp>
        <p:nvSpPr>
          <p:cNvPr id="147" name="Shape 25"/>
          <p:cNvSpPr/>
          <p:nvPr/>
        </p:nvSpPr>
        <p:spPr>
          <a:xfrm>
            <a:off x="4837176" y="1801367"/>
            <a:ext cx="3840481" cy="1"/>
          </a:xfrm>
          <a:prstGeom prst="line">
            <a:avLst/>
          </a:prstGeom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8" name="Text 26"/>
          <p:cNvSpPr txBox="1"/>
          <p:nvPr/>
        </p:nvSpPr>
        <p:spPr>
          <a:xfrm>
            <a:off x="4837176" y="1911604"/>
            <a:ext cx="3840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2E6B3E"/>
                </a:solidFill>
              </a:defRPr>
            </a:lvl1pPr>
          </a:lstStyle>
          <a:p>
            <a:pPr/>
            <a:r>
              <a:t>Policy extraction</a:t>
            </a:r>
          </a:p>
        </p:txBody>
      </p:sp>
      <p:sp>
        <p:nvSpPr>
          <p:cNvPr id="149" name="Text 27"/>
          <p:cNvSpPr txBox="1"/>
          <p:nvPr/>
        </p:nvSpPr>
        <p:spPr>
          <a:xfrm>
            <a:off x="4837176" y="2176780"/>
            <a:ext cx="3840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1C2B33"/>
                </a:solidFill>
              </a:defRPr>
            </a:lvl1pPr>
          </a:lstStyle>
          <a:p>
            <a:pPr/>
            <a:r>
              <a:t>πθ is directly used; stochastic policy is natural</a:t>
            </a:r>
          </a:p>
        </p:txBody>
      </p:sp>
      <p:sp>
        <p:nvSpPr>
          <p:cNvPr id="150" name="Shape 28"/>
          <p:cNvSpPr/>
          <p:nvPr/>
        </p:nvSpPr>
        <p:spPr>
          <a:xfrm>
            <a:off x="4837176" y="2441448"/>
            <a:ext cx="3840481" cy="1"/>
          </a:xfrm>
          <a:prstGeom prst="line">
            <a:avLst/>
          </a:prstGeom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1" name="Text 29"/>
          <p:cNvSpPr txBox="1"/>
          <p:nvPr/>
        </p:nvSpPr>
        <p:spPr>
          <a:xfrm>
            <a:off x="4837176" y="2551683"/>
            <a:ext cx="3840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2E6B3E"/>
                </a:solidFill>
              </a:defRPr>
            </a:lvl1pPr>
          </a:lstStyle>
          <a:p>
            <a:pPr/>
            <a:r>
              <a:t>Action space</a:t>
            </a:r>
          </a:p>
        </p:txBody>
      </p:sp>
      <p:sp>
        <p:nvSpPr>
          <p:cNvPr id="152" name="Text 30"/>
          <p:cNvSpPr txBox="1"/>
          <p:nvPr/>
        </p:nvSpPr>
        <p:spPr>
          <a:xfrm>
            <a:off x="4837176" y="2816859"/>
            <a:ext cx="3840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1C2B33"/>
                </a:solidFill>
              </a:defRPr>
            </a:lvl1pPr>
          </a:lstStyle>
          <a:p>
            <a:pPr/>
            <a:r>
              <a:t>Continuous or discrete — no argmax needed</a:t>
            </a:r>
          </a:p>
        </p:txBody>
      </p:sp>
      <p:sp>
        <p:nvSpPr>
          <p:cNvPr id="153" name="Shape 31"/>
          <p:cNvSpPr/>
          <p:nvPr/>
        </p:nvSpPr>
        <p:spPr>
          <a:xfrm>
            <a:off x="4837176" y="3081527"/>
            <a:ext cx="3840481" cy="1"/>
          </a:xfrm>
          <a:prstGeom prst="line">
            <a:avLst/>
          </a:prstGeom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4" name="Text 32"/>
          <p:cNvSpPr txBox="1"/>
          <p:nvPr/>
        </p:nvSpPr>
        <p:spPr>
          <a:xfrm>
            <a:off x="4837176" y="3191763"/>
            <a:ext cx="3840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2E6B3E"/>
                </a:solidFill>
              </a:defRPr>
            </a:lvl1pPr>
          </a:lstStyle>
          <a:p>
            <a:pPr/>
            <a:r>
              <a:t>Key idea</a:t>
            </a:r>
          </a:p>
        </p:txBody>
      </p:sp>
      <p:sp>
        <p:nvSpPr>
          <p:cNvPr id="155" name="Text 33"/>
          <p:cNvSpPr txBox="1"/>
          <p:nvPr/>
        </p:nvSpPr>
        <p:spPr>
          <a:xfrm>
            <a:off x="4837176" y="3456939"/>
            <a:ext cx="3840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1C2B33"/>
                </a:solidFill>
              </a:defRPr>
            </a:lvl1pPr>
          </a:lstStyle>
          <a:p>
            <a:pPr/>
            <a:r>
              <a:t>Gradient ascent on J(θ) = Eπθ[G0]</a:t>
            </a:r>
          </a:p>
        </p:txBody>
      </p:sp>
      <p:sp>
        <p:nvSpPr>
          <p:cNvPr id="156" name="Shape 34"/>
          <p:cNvSpPr/>
          <p:nvPr/>
        </p:nvSpPr>
        <p:spPr>
          <a:xfrm>
            <a:off x="4837176" y="3721608"/>
            <a:ext cx="3840481" cy="1"/>
          </a:xfrm>
          <a:prstGeom prst="line">
            <a:avLst/>
          </a:prstGeom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7" name="Text 35"/>
          <p:cNvSpPr txBox="1"/>
          <p:nvPr/>
        </p:nvSpPr>
        <p:spPr>
          <a:xfrm>
            <a:off x="4837176" y="3831843"/>
            <a:ext cx="3840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2E6B3E"/>
                </a:solidFill>
              </a:defRPr>
            </a:lvl1pPr>
          </a:lstStyle>
          <a:p>
            <a:pPr/>
            <a:r>
              <a:t>Limitation</a:t>
            </a:r>
          </a:p>
        </p:txBody>
      </p:sp>
      <p:sp>
        <p:nvSpPr>
          <p:cNvPr id="158" name="Text 36"/>
          <p:cNvSpPr txBox="1"/>
          <p:nvPr/>
        </p:nvSpPr>
        <p:spPr>
          <a:xfrm>
            <a:off x="4837176" y="4097020"/>
            <a:ext cx="3840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1C2B33"/>
                </a:solidFill>
              </a:defRPr>
            </a:lvl1pPr>
          </a:lstStyle>
          <a:p>
            <a:pPr/>
            <a:r>
              <a:t>High-variance gradients; careful variance reduction needed</a:t>
            </a:r>
          </a:p>
        </p:txBody>
      </p:sp>
      <p:sp>
        <p:nvSpPr>
          <p:cNvPr id="159" name="Shape 37"/>
          <p:cNvSpPr/>
          <p:nvPr/>
        </p:nvSpPr>
        <p:spPr>
          <a:xfrm>
            <a:off x="274320" y="4663440"/>
            <a:ext cx="8595360" cy="347473"/>
          </a:xfrm>
          <a:prstGeom prst="rect">
            <a:avLst/>
          </a:prstGeom>
          <a:solidFill>
            <a:srgbClr val="FDF6DC"/>
          </a:solidFill>
          <a:ln w="12700">
            <a:solidFill>
              <a:srgbClr val="B886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0" name="Shape 38"/>
          <p:cNvSpPr/>
          <p:nvPr/>
        </p:nvSpPr>
        <p:spPr>
          <a:xfrm>
            <a:off x="274320" y="4663440"/>
            <a:ext cx="54865" cy="347473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1" name="Text 39"/>
          <p:cNvSpPr txBox="1"/>
          <p:nvPr/>
        </p:nvSpPr>
        <p:spPr>
          <a:xfrm>
            <a:off x="457200" y="4664456"/>
            <a:ext cx="8229600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1C2B33"/>
                </a:solidFill>
              </a:defRPr>
            </a:lvl1pPr>
          </a:lstStyle>
          <a:p>
            <a:pPr/>
            <a:r>
              <a:t>Physics analogy  —  Value-based: find the ground state of H (minimise energy).  Policy gradient: variational principle — optimise over trial wavefunctions πθ to maximise expected return.</a:t>
            </a:r>
          </a:p>
        </p:txBody>
      </p:sp>
      <p:sp>
        <p:nvSpPr>
          <p:cNvPr id="162" name="Text 40"/>
          <p:cNvSpPr txBox="1"/>
          <p:nvPr/>
        </p:nvSpPr>
        <p:spPr>
          <a:xfrm>
            <a:off x="0" y="4917694"/>
            <a:ext cx="9144000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6B7C85"/>
                </a:solidFill>
              </a:defRPr>
            </a:lvl1pPr>
          </a:lstStyle>
          <a:p>
            <a:pPr/>
            <a:r>
              <a:t>From Conway to LangGraph  ·  Università di Bologna  ·  Week 6  ·  §2 Two Families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A6EA5"/>
          </a:solidFill>
          <a:ln w="1270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5" name="Text 1"/>
          <p:cNvSpPr txBox="1"/>
          <p:nvPr/>
        </p:nvSpPr>
        <p:spPr>
          <a:xfrm>
            <a:off x="548640" y="657411"/>
            <a:ext cx="1828801" cy="605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600">
                <a:solidFill>
                  <a:srgbClr val="3A6EA5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§3</a:t>
            </a:r>
          </a:p>
        </p:txBody>
      </p:sp>
      <p:sp>
        <p:nvSpPr>
          <p:cNvPr id="166" name="Text 2"/>
          <p:cNvSpPr txBox="1"/>
          <p:nvPr/>
        </p:nvSpPr>
        <p:spPr>
          <a:xfrm>
            <a:off x="548640" y="1553873"/>
            <a:ext cx="8046719" cy="4584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The Policy Gradient Theorem</a:t>
            </a:r>
          </a:p>
        </p:txBody>
      </p:sp>
      <p:sp>
        <p:nvSpPr>
          <p:cNvPr id="167" name="Text 3"/>
          <p:cNvSpPr txBox="1"/>
          <p:nvPr/>
        </p:nvSpPr>
        <p:spPr>
          <a:xfrm>
            <a:off x="548640" y="2425699"/>
            <a:ext cx="8046719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200">
                <a:solidFill>
                  <a:srgbClr val="8BAFC4"/>
                </a:solidFill>
              </a:defRPr>
            </a:lvl1pPr>
          </a:lstStyle>
          <a:p>
            <a:pPr/>
            <a:r>
              <a:t>The log-derivative trick and the REINFORCE identity</a:t>
            </a:r>
          </a:p>
        </p:txBody>
      </p:sp>
      <p:sp>
        <p:nvSpPr>
          <p:cNvPr id="168" name="Text 4"/>
          <p:cNvSpPr txBox="1"/>
          <p:nvPr/>
        </p:nvSpPr>
        <p:spPr>
          <a:xfrm>
            <a:off x="0" y="4917694"/>
            <a:ext cx="9144000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4A6880"/>
                </a:solidFill>
              </a:defRPr>
            </a:lvl1pPr>
          </a:lstStyle>
          <a:p>
            <a:pPr/>
            <a:r>
              <a:t>From Conway to LangGraph  ·  Università di Bologna  ·  Week 6  ·  PPO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0"/>
          <p:cNvSpPr/>
          <p:nvPr/>
        </p:nvSpPr>
        <p:spPr>
          <a:xfrm>
            <a:off x="0" y="-1"/>
            <a:ext cx="9144000" cy="74981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1" name="Text 1"/>
          <p:cNvSpPr txBox="1"/>
          <p:nvPr/>
        </p:nvSpPr>
        <p:spPr>
          <a:xfrm>
            <a:off x="301751" y="240329"/>
            <a:ext cx="6583682" cy="269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9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§3 — The Log-Derivative Trick</a:t>
            </a:r>
          </a:p>
        </p:txBody>
      </p:sp>
      <p:sp>
        <p:nvSpPr>
          <p:cNvPr id="172" name="Text 2"/>
          <p:cNvSpPr txBox="1"/>
          <p:nvPr/>
        </p:nvSpPr>
        <p:spPr>
          <a:xfrm>
            <a:off x="6903719" y="247904"/>
            <a:ext cx="210312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ABBC3"/>
                </a:solidFill>
              </a:defRPr>
            </a:lvl1pPr>
          </a:lstStyle>
          <a:p>
            <a:pPr/>
            <a:r>
              <a:t>How to differentiate through trajectory probabilities</a:t>
            </a:r>
          </a:p>
        </p:txBody>
      </p:sp>
      <p:sp>
        <p:nvSpPr>
          <p:cNvPr id="173" name="Text 3"/>
          <p:cNvSpPr txBox="1"/>
          <p:nvPr/>
        </p:nvSpPr>
        <p:spPr>
          <a:xfrm>
            <a:off x="274320" y="856487"/>
            <a:ext cx="85953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C2B33"/>
                </a:solidFill>
              </a:defRPr>
            </a:lvl1pPr>
          </a:lstStyle>
          <a:p>
            <a:pPr/>
            <a:r>
              <a:t>Goal: compute ∇θ J(θ)  without differentiating through the unknown dynamics P(s′|s,a).</a:t>
            </a:r>
          </a:p>
        </p:txBody>
      </p:sp>
      <p:sp>
        <p:nvSpPr>
          <p:cNvPr id="174" name="Shape 4"/>
          <p:cNvSpPr/>
          <p:nvPr/>
        </p:nvSpPr>
        <p:spPr>
          <a:xfrm>
            <a:off x="274320" y="1170432"/>
            <a:ext cx="8595360" cy="1024129"/>
          </a:xfrm>
          <a:prstGeom prst="rect">
            <a:avLst/>
          </a:prstGeom>
          <a:solidFill>
            <a:srgbClr val="F5F8FA"/>
          </a:solidFill>
          <a:ln w="1270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5" name="Shape 5"/>
          <p:cNvSpPr/>
          <p:nvPr/>
        </p:nvSpPr>
        <p:spPr>
          <a:xfrm>
            <a:off x="274320" y="1170432"/>
            <a:ext cx="8595360" cy="219457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6" name="Text 6"/>
          <p:cNvSpPr txBox="1"/>
          <p:nvPr/>
        </p:nvSpPr>
        <p:spPr>
          <a:xfrm>
            <a:off x="384047" y="1216660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Step 1  —  Trajectory probability</a:t>
            </a:r>
          </a:p>
        </p:txBody>
      </p:sp>
      <p:sp>
        <p:nvSpPr>
          <p:cNvPr id="177" name="Text 7"/>
          <p:cNvSpPr txBox="1"/>
          <p:nvPr/>
        </p:nvSpPr>
        <p:spPr>
          <a:xfrm>
            <a:off x="384047" y="1455654"/>
            <a:ext cx="8321042" cy="270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36454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P(τ;θ)  =  ρ₀(s₀)  ∏t≥0  πθ(at|st)  P(st+1|st, at)</a:t>
            </a:r>
          </a:p>
        </p:txBody>
      </p:sp>
      <p:sp>
        <p:nvSpPr>
          <p:cNvPr id="178" name="Text 8"/>
          <p:cNvSpPr txBox="1"/>
          <p:nvPr/>
        </p:nvSpPr>
        <p:spPr>
          <a:xfrm>
            <a:off x="384047" y="1821414"/>
            <a:ext cx="8321042" cy="270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36454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J(θ) = ∫ P(τ;θ) G(τ) dτ</a:t>
            </a:r>
          </a:p>
        </p:txBody>
      </p:sp>
      <p:sp>
        <p:nvSpPr>
          <p:cNvPr id="179" name="Shape 9"/>
          <p:cNvSpPr/>
          <p:nvPr/>
        </p:nvSpPr>
        <p:spPr>
          <a:xfrm>
            <a:off x="274320" y="2286000"/>
            <a:ext cx="8595360" cy="1188720"/>
          </a:xfrm>
          <a:prstGeom prst="rect">
            <a:avLst/>
          </a:prstGeom>
          <a:solidFill>
            <a:srgbClr val="E8F0F8"/>
          </a:solidFill>
          <a:ln w="1905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0" name="Shape 10"/>
          <p:cNvSpPr/>
          <p:nvPr/>
        </p:nvSpPr>
        <p:spPr>
          <a:xfrm>
            <a:off x="274320" y="2286000"/>
            <a:ext cx="8595360" cy="219456"/>
          </a:xfrm>
          <a:prstGeom prst="rect">
            <a:avLst/>
          </a:prstGeom>
          <a:solidFill>
            <a:srgbClr val="3A6EA5"/>
          </a:solidFill>
          <a:ln w="1270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1" name="Text 11"/>
          <p:cNvSpPr txBox="1"/>
          <p:nvPr/>
        </p:nvSpPr>
        <p:spPr>
          <a:xfrm>
            <a:off x="384047" y="2332227"/>
            <a:ext cx="83210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Step 2  —  Log-derivative identity  (the REINFORCE trick)</a:t>
            </a:r>
          </a:p>
        </p:txBody>
      </p:sp>
      <p:sp>
        <p:nvSpPr>
          <p:cNvPr id="182" name="Text 12"/>
          <p:cNvSpPr txBox="1"/>
          <p:nvPr/>
        </p:nvSpPr>
        <p:spPr>
          <a:xfrm>
            <a:off x="384047" y="2571222"/>
            <a:ext cx="8321042" cy="270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36454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∇θ P(τ;θ)  =  P(τ;θ)  ∇θ log P(τ;θ)</a:t>
            </a:r>
          </a:p>
        </p:txBody>
      </p:sp>
      <p:sp>
        <p:nvSpPr>
          <p:cNvPr id="183" name="Text 13"/>
          <p:cNvSpPr txBox="1"/>
          <p:nvPr/>
        </p:nvSpPr>
        <p:spPr>
          <a:xfrm>
            <a:off x="384047" y="2901950"/>
            <a:ext cx="8321042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1C2B33"/>
                </a:solidFill>
              </a:defRPr>
            </a:lvl1pPr>
          </a:lstStyle>
          <a:p>
            <a:pPr/>
            <a:r>
              <a:t>Since log P(τ;θ) = log ρ₀(s₀) + Σt log πθ(at|st) + Σt log P(st+1|st,at)  and  dynamics terms do NOT depend on θ:</a:t>
            </a:r>
          </a:p>
        </p:txBody>
      </p:sp>
      <p:sp>
        <p:nvSpPr>
          <p:cNvPr id="184" name="Text 14"/>
          <p:cNvSpPr txBox="1"/>
          <p:nvPr/>
        </p:nvSpPr>
        <p:spPr>
          <a:xfrm>
            <a:off x="384047" y="3162853"/>
            <a:ext cx="8321042" cy="2579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2E6B3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∇θ log P(τ;θ)  =  Σt≥0  ∇θ log πθ(at|st)   ← only policy terms survive!</a:t>
            </a:r>
          </a:p>
        </p:txBody>
      </p:sp>
      <p:sp>
        <p:nvSpPr>
          <p:cNvPr id="185" name="Shape 15"/>
          <p:cNvSpPr/>
          <p:nvPr/>
        </p:nvSpPr>
        <p:spPr>
          <a:xfrm>
            <a:off x="274320" y="3547871"/>
            <a:ext cx="8595360" cy="512065"/>
          </a:xfrm>
          <a:prstGeom prst="rect">
            <a:avLst/>
          </a:prstGeom>
          <a:solidFill>
            <a:srgbClr val="E8F4EC"/>
          </a:solidFill>
          <a:ln w="12700">
            <a:solidFill>
              <a:srgbClr val="2E6B3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6" name="Shape 16"/>
          <p:cNvSpPr/>
          <p:nvPr/>
        </p:nvSpPr>
        <p:spPr>
          <a:xfrm>
            <a:off x="274320" y="3547871"/>
            <a:ext cx="54865" cy="512065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7" name="Text 17"/>
          <p:cNvSpPr txBox="1"/>
          <p:nvPr/>
        </p:nvSpPr>
        <p:spPr>
          <a:xfrm>
            <a:off x="457199" y="3624833"/>
            <a:ext cx="8321042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1C2B33"/>
                </a:solidFill>
              </a:defRPr>
            </a:lvl1pPr>
          </a:lstStyle>
          <a:p>
            <a:pPr/>
            <a:r>
              <a:t>Consequence: ∇θ J(θ) depends only on ∇θ log πθ(a|s) — which is computable from the neural network, even though the environment dynamics P(s′|s,a) are unknown and never differentiated through.</a:t>
            </a:r>
          </a:p>
        </p:txBody>
      </p:sp>
      <p:sp>
        <p:nvSpPr>
          <p:cNvPr id="188" name="Text 18"/>
          <p:cNvSpPr txBox="1"/>
          <p:nvPr/>
        </p:nvSpPr>
        <p:spPr>
          <a:xfrm>
            <a:off x="0" y="4917694"/>
            <a:ext cx="9144000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6B7C85"/>
                </a:solidFill>
              </a:defRPr>
            </a:lvl1pPr>
          </a:lstStyle>
          <a:p>
            <a:pPr/>
            <a:r>
              <a:t>From Conway to LangGraph  ·  Università di Bologna  ·  Week 6  ·  §3 Log-Derivative Trick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0"/>
          <p:cNvSpPr/>
          <p:nvPr/>
        </p:nvSpPr>
        <p:spPr>
          <a:xfrm>
            <a:off x="0" y="-1"/>
            <a:ext cx="9144000" cy="74981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1" name="Text 1"/>
          <p:cNvSpPr txBox="1"/>
          <p:nvPr/>
        </p:nvSpPr>
        <p:spPr>
          <a:xfrm>
            <a:off x="301751" y="240329"/>
            <a:ext cx="6583682" cy="269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9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§3 — Policy Gradient Theorem &amp; REINFORCE</a:t>
            </a:r>
          </a:p>
        </p:txBody>
      </p:sp>
      <p:sp>
        <p:nvSpPr>
          <p:cNvPr id="192" name="Text 2"/>
          <p:cNvSpPr txBox="1"/>
          <p:nvPr/>
        </p:nvSpPr>
        <p:spPr>
          <a:xfrm>
            <a:off x="6903719" y="311404"/>
            <a:ext cx="21031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ABBC3"/>
                </a:solidFill>
              </a:defRPr>
            </a:lvl1pPr>
          </a:lstStyle>
          <a:p>
            <a:pPr/>
            <a:r>
              <a:t>Statement and fundamental limitation</a:t>
            </a:r>
          </a:p>
        </p:txBody>
      </p:sp>
      <p:sp>
        <p:nvSpPr>
          <p:cNvPr id="193" name="Shape 3"/>
          <p:cNvSpPr/>
          <p:nvPr/>
        </p:nvSpPr>
        <p:spPr>
          <a:xfrm>
            <a:off x="274320" y="868680"/>
            <a:ext cx="8595360" cy="1371601"/>
          </a:xfrm>
          <a:prstGeom prst="rect">
            <a:avLst/>
          </a:prstGeom>
          <a:solidFill>
            <a:srgbClr val="E8F0F8"/>
          </a:solidFill>
          <a:ln w="1905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4" name="Shape 4"/>
          <p:cNvSpPr/>
          <p:nvPr/>
        </p:nvSpPr>
        <p:spPr>
          <a:xfrm>
            <a:off x="274320" y="868680"/>
            <a:ext cx="8595360" cy="237744"/>
          </a:xfrm>
          <a:prstGeom prst="rect">
            <a:avLst/>
          </a:prstGeom>
          <a:solidFill>
            <a:srgbClr val="3A6EA5"/>
          </a:solidFill>
          <a:ln w="1270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5" name="Text 5"/>
          <p:cNvSpPr txBox="1"/>
          <p:nvPr/>
        </p:nvSpPr>
        <p:spPr>
          <a:xfrm>
            <a:off x="384047" y="924051"/>
            <a:ext cx="83210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POLICY GRADIENT THEOREM</a:t>
            </a:r>
          </a:p>
        </p:txBody>
      </p:sp>
      <p:sp>
        <p:nvSpPr>
          <p:cNvPr id="196" name="Text 6"/>
          <p:cNvSpPr txBox="1"/>
          <p:nvPr/>
        </p:nvSpPr>
        <p:spPr>
          <a:xfrm>
            <a:off x="384047" y="1181354"/>
            <a:ext cx="8321042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36454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∇θ J(θ)  =  Eπθ [ ∇θ log πθ(at|st)   Gt ]</a:t>
            </a:r>
          </a:p>
        </p:txBody>
      </p:sp>
      <p:sp>
        <p:nvSpPr>
          <p:cNvPr id="197" name="Text 7"/>
          <p:cNvSpPr txBox="1"/>
          <p:nvPr/>
        </p:nvSpPr>
        <p:spPr>
          <a:xfrm>
            <a:off x="384047" y="1565382"/>
            <a:ext cx="8321042" cy="270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2E6B3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=  Eπθ [ ∇θ log πθ(at|st)   Aπ(st, at) ]   ← variance-reduced form</a:t>
            </a:r>
          </a:p>
        </p:txBody>
      </p:sp>
      <p:sp>
        <p:nvSpPr>
          <p:cNvPr id="198" name="Text 8"/>
          <p:cNvSpPr txBox="1"/>
          <p:nvPr/>
        </p:nvSpPr>
        <p:spPr>
          <a:xfrm>
            <a:off x="384047" y="1939035"/>
            <a:ext cx="832104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1C2B33"/>
                </a:solidFill>
              </a:defRPr>
            </a:lvl1pPr>
          </a:lstStyle>
          <a:p>
            <a:pPr/>
            <a:r>
              <a:t>Second form: replacing Gt by Aπ(st,at) does not bias the gradient (baseline Vπ contributes zero in expectation) but dramatically reduces variance.</a:t>
            </a:r>
          </a:p>
        </p:txBody>
      </p:sp>
      <p:sp>
        <p:nvSpPr>
          <p:cNvPr id="199" name="Text 9"/>
          <p:cNvSpPr txBox="1"/>
          <p:nvPr/>
        </p:nvSpPr>
        <p:spPr>
          <a:xfrm>
            <a:off x="274320" y="2359071"/>
            <a:ext cx="8229601" cy="237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REINFORCE (Williams, 1992) — the simplest implementation</a:t>
            </a:r>
          </a:p>
        </p:txBody>
      </p:sp>
      <p:sp>
        <p:nvSpPr>
          <p:cNvPr id="200" name="Shape 10"/>
          <p:cNvSpPr/>
          <p:nvPr/>
        </p:nvSpPr>
        <p:spPr>
          <a:xfrm>
            <a:off x="274320" y="2670048"/>
            <a:ext cx="8595360" cy="347473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1" name="Text 11"/>
          <p:cNvSpPr txBox="1"/>
          <p:nvPr/>
        </p:nvSpPr>
        <p:spPr>
          <a:xfrm>
            <a:off x="384047" y="2712719"/>
            <a:ext cx="832104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C2B33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1  Collect a full episode τ = (s₀,a₀,r₀,...,sT) under πθ</a:t>
            </a:r>
          </a:p>
        </p:txBody>
      </p:sp>
      <p:sp>
        <p:nvSpPr>
          <p:cNvPr id="202" name="Shape 12"/>
          <p:cNvSpPr/>
          <p:nvPr/>
        </p:nvSpPr>
        <p:spPr>
          <a:xfrm>
            <a:off x="274320" y="3054095"/>
            <a:ext cx="8595360" cy="347473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3" name="Text 13"/>
          <p:cNvSpPr txBox="1"/>
          <p:nvPr/>
        </p:nvSpPr>
        <p:spPr>
          <a:xfrm>
            <a:off x="384047" y="3096767"/>
            <a:ext cx="832104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C2B33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2  Compute returns:  Gt = Σk≥0  γk rt+k  for each step t</a:t>
            </a:r>
          </a:p>
        </p:txBody>
      </p:sp>
      <p:sp>
        <p:nvSpPr>
          <p:cNvPr id="204" name="Shape 14"/>
          <p:cNvSpPr/>
          <p:nvPr/>
        </p:nvSpPr>
        <p:spPr>
          <a:xfrm>
            <a:off x="274320" y="3438144"/>
            <a:ext cx="8595360" cy="347473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5" name="Text 15"/>
          <p:cNvSpPr txBox="1"/>
          <p:nvPr/>
        </p:nvSpPr>
        <p:spPr>
          <a:xfrm>
            <a:off x="384047" y="3480816"/>
            <a:ext cx="832104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C2B33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3  Update:  θ ← θ + α Σt  ∇θ log πθ(at|st) Gt</a:t>
            </a:r>
          </a:p>
        </p:txBody>
      </p:sp>
      <p:sp>
        <p:nvSpPr>
          <p:cNvPr id="206" name="Shape 16"/>
          <p:cNvSpPr/>
          <p:nvPr/>
        </p:nvSpPr>
        <p:spPr>
          <a:xfrm>
            <a:off x="274320" y="3858767"/>
            <a:ext cx="8595360" cy="914401"/>
          </a:xfrm>
          <a:prstGeom prst="rect">
            <a:avLst/>
          </a:prstGeom>
          <a:solidFill>
            <a:srgbClr val="FCEEF0"/>
          </a:solidFill>
          <a:ln w="15240">
            <a:solidFill>
              <a:srgbClr val="9B233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7" name="Shape 17"/>
          <p:cNvSpPr/>
          <p:nvPr/>
        </p:nvSpPr>
        <p:spPr>
          <a:xfrm>
            <a:off x="274320" y="3858767"/>
            <a:ext cx="8595360" cy="219457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8" name="Text 18"/>
          <p:cNvSpPr txBox="1"/>
          <p:nvPr/>
        </p:nvSpPr>
        <p:spPr>
          <a:xfrm>
            <a:off x="384047" y="3904995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FATAL LIMITATION — HIGH VARIANCE</a:t>
            </a:r>
          </a:p>
        </p:txBody>
      </p:sp>
      <p:sp>
        <p:nvSpPr>
          <p:cNvPr id="209" name="Text 19"/>
          <p:cNvSpPr txBox="1"/>
          <p:nvPr/>
        </p:nvSpPr>
        <p:spPr>
          <a:xfrm>
            <a:off x="384047" y="4182484"/>
            <a:ext cx="8321042" cy="4864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1C2B33"/>
                </a:solidFill>
              </a:defRPr>
            </a:lvl1pPr>
          </a:lstStyle>
          <a:p>
            <a:pPr/>
            <a:r>
              <a:t>The gradient estimate has extremely high variance because Gt sums all future stochastic rewards. In CartPole: Gt ranges from 1 to 500 — a 500× range per episode. This slows convergence drastically and can prevent learning entirely.  →  PPO addresses this on two fronts: (1) variance reduction via GAE, (2) data reuse via importance sampling.</a:t>
            </a:r>
          </a:p>
        </p:txBody>
      </p:sp>
      <p:sp>
        <p:nvSpPr>
          <p:cNvPr id="210" name="Text 20"/>
          <p:cNvSpPr txBox="1"/>
          <p:nvPr/>
        </p:nvSpPr>
        <p:spPr>
          <a:xfrm>
            <a:off x="0" y="4917694"/>
            <a:ext cx="9144000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6B7C85"/>
                </a:solidFill>
              </a:defRPr>
            </a:lvl1pPr>
          </a:lstStyle>
          <a:p>
            <a:pPr/>
            <a:r>
              <a:t>From Conway to LangGraph  ·  Università di Bologna  ·  Week 6  ·  §3 Policy Gradient Theorem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A6EA5"/>
          </a:solidFill>
          <a:ln w="1270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3" name="Text 1"/>
          <p:cNvSpPr txBox="1"/>
          <p:nvPr/>
        </p:nvSpPr>
        <p:spPr>
          <a:xfrm>
            <a:off x="548640" y="657411"/>
            <a:ext cx="1828801" cy="605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600">
                <a:solidFill>
                  <a:srgbClr val="3A6EA5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§4</a:t>
            </a:r>
          </a:p>
        </p:txBody>
      </p:sp>
      <p:sp>
        <p:nvSpPr>
          <p:cNvPr id="214" name="Text 2"/>
          <p:cNvSpPr txBox="1"/>
          <p:nvPr/>
        </p:nvSpPr>
        <p:spPr>
          <a:xfrm>
            <a:off x="548640" y="1553873"/>
            <a:ext cx="8046719" cy="4584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The Importance-Sampling Surrogate</a:t>
            </a:r>
          </a:p>
        </p:txBody>
      </p:sp>
      <p:sp>
        <p:nvSpPr>
          <p:cNvPr id="215" name="Text 3"/>
          <p:cNvSpPr txBox="1"/>
          <p:nvPr/>
        </p:nvSpPr>
        <p:spPr>
          <a:xfrm>
            <a:off x="548640" y="2425699"/>
            <a:ext cx="8046719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200">
                <a:solidFill>
                  <a:srgbClr val="8BAFC4"/>
                </a:solidFill>
              </a:defRPr>
            </a:lvl1pPr>
          </a:lstStyle>
          <a:p>
            <a:pPr/>
            <a:r>
              <a:t>Reusing off-policy data safely</a:t>
            </a:r>
          </a:p>
        </p:txBody>
      </p:sp>
      <p:sp>
        <p:nvSpPr>
          <p:cNvPr id="216" name="Text 4"/>
          <p:cNvSpPr txBox="1"/>
          <p:nvPr/>
        </p:nvSpPr>
        <p:spPr>
          <a:xfrm>
            <a:off x="0" y="4917694"/>
            <a:ext cx="9144000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4A6880"/>
                </a:solidFill>
              </a:defRPr>
            </a:lvl1pPr>
          </a:lstStyle>
          <a:p>
            <a:pPr/>
            <a:r>
              <a:t>From Conway to LangGraph  ·  Università di Bologna  ·  Week 6  ·  PPO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0"/>
          <p:cNvSpPr/>
          <p:nvPr/>
        </p:nvSpPr>
        <p:spPr>
          <a:xfrm>
            <a:off x="0" y="-1"/>
            <a:ext cx="9144000" cy="74981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9" name="Text 1"/>
          <p:cNvSpPr txBox="1"/>
          <p:nvPr/>
        </p:nvSpPr>
        <p:spPr>
          <a:xfrm>
            <a:off x="301751" y="240329"/>
            <a:ext cx="6583682" cy="269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9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§4 — Importance Sampling and the CPI Surrogate</a:t>
            </a:r>
          </a:p>
        </p:txBody>
      </p:sp>
      <p:sp>
        <p:nvSpPr>
          <p:cNvPr id="220" name="Text 2"/>
          <p:cNvSpPr txBox="1"/>
          <p:nvPr/>
        </p:nvSpPr>
        <p:spPr>
          <a:xfrm>
            <a:off x="6903719" y="311404"/>
            <a:ext cx="21031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ABBC3"/>
                </a:solidFill>
              </a:defRPr>
            </a:lvl1pPr>
          </a:lstStyle>
          <a:p>
            <a:pPr/>
            <a:r>
              <a:t>Enabling data reuse</a:t>
            </a:r>
          </a:p>
        </p:txBody>
      </p:sp>
      <p:sp>
        <p:nvSpPr>
          <p:cNvPr id="221" name="Shape 3"/>
          <p:cNvSpPr/>
          <p:nvPr/>
        </p:nvSpPr>
        <p:spPr>
          <a:xfrm>
            <a:off x="274320" y="868680"/>
            <a:ext cx="8595360" cy="566929"/>
          </a:xfrm>
          <a:prstGeom prst="rect">
            <a:avLst/>
          </a:prstGeom>
          <a:solidFill>
            <a:srgbClr val="FCEEF0"/>
          </a:solidFill>
          <a:ln w="12700">
            <a:solidFill>
              <a:srgbClr val="9B233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2" name="Text 4"/>
          <p:cNvSpPr txBox="1"/>
          <p:nvPr/>
        </p:nvSpPr>
        <p:spPr>
          <a:xfrm>
            <a:off x="411479" y="959660"/>
            <a:ext cx="8321042" cy="384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9B2335"/>
                </a:solidFill>
              </a:defRPr>
            </a:lvl1pPr>
          </a:lstStyle>
          <a:p>
            <a:pPr/>
            <a:r>
              <a:t>Problem:  after a gradient step θ ← θ+Δθ, all collected trajectories are stale (generated by old θ) — they must be discarded.  This makes vanilla policy gradient extremely sample-inefficient.</a:t>
            </a:r>
          </a:p>
        </p:txBody>
      </p:sp>
      <p:sp>
        <p:nvSpPr>
          <p:cNvPr id="223" name="Text 5"/>
          <p:cNvSpPr txBox="1"/>
          <p:nvPr/>
        </p:nvSpPr>
        <p:spPr>
          <a:xfrm>
            <a:off x="274320" y="1554399"/>
            <a:ext cx="8229601" cy="237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Remedy — Importance Sampling</a:t>
            </a:r>
          </a:p>
        </p:txBody>
      </p:sp>
      <p:sp>
        <p:nvSpPr>
          <p:cNvPr id="224" name="Shape 6"/>
          <p:cNvSpPr/>
          <p:nvPr/>
        </p:nvSpPr>
        <p:spPr>
          <a:xfrm>
            <a:off x="274320" y="1847088"/>
            <a:ext cx="8595360" cy="475488"/>
          </a:xfrm>
          <a:prstGeom prst="rect">
            <a:avLst/>
          </a:prstGeom>
          <a:solidFill>
            <a:srgbClr val="F5F8FA"/>
          </a:solidFill>
          <a:ln w="1270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5" name="Text 7"/>
          <p:cNvSpPr txBox="1"/>
          <p:nvPr/>
        </p:nvSpPr>
        <p:spPr>
          <a:xfrm>
            <a:off x="384047" y="1935818"/>
            <a:ext cx="8321042" cy="2614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36454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Eₓ~p [ f(x) ]  =  Eₓ~q [ (p(x)/q(x)) f(x) ]   ←  evaluate Eₚ using data from q</a:t>
            </a:r>
          </a:p>
        </p:txBody>
      </p:sp>
      <p:sp>
        <p:nvSpPr>
          <p:cNvPr id="226" name="Text 8"/>
          <p:cNvSpPr txBox="1"/>
          <p:nvPr/>
        </p:nvSpPr>
        <p:spPr>
          <a:xfrm>
            <a:off x="274320" y="2399029"/>
            <a:ext cx="8595360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C2B33"/>
                </a:solidFill>
              </a:defRPr>
            </a:lvl1pPr>
          </a:lstStyle>
          <a:p>
            <a:pPr/>
            <a:r>
              <a:t>Applying this to the policy gradient with  p = πθ  and  q = πθ_old:</a:t>
            </a:r>
          </a:p>
        </p:txBody>
      </p:sp>
      <p:sp>
        <p:nvSpPr>
          <p:cNvPr id="227" name="Shape 9"/>
          <p:cNvSpPr/>
          <p:nvPr/>
        </p:nvSpPr>
        <p:spPr>
          <a:xfrm>
            <a:off x="274320" y="2688335"/>
            <a:ext cx="8595360" cy="658369"/>
          </a:xfrm>
          <a:prstGeom prst="rect">
            <a:avLst/>
          </a:prstGeom>
          <a:solidFill>
            <a:srgbClr val="E8F0F8"/>
          </a:solidFill>
          <a:ln w="1905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8" name="Shape 10"/>
          <p:cNvSpPr/>
          <p:nvPr/>
        </p:nvSpPr>
        <p:spPr>
          <a:xfrm>
            <a:off x="274320" y="2688335"/>
            <a:ext cx="8595360" cy="219457"/>
          </a:xfrm>
          <a:prstGeom prst="rect">
            <a:avLst/>
          </a:prstGeom>
          <a:solidFill>
            <a:srgbClr val="3A6EA5"/>
          </a:solidFill>
          <a:ln w="1270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9" name="Text 11"/>
          <p:cNvSpPr txBox="1"/>
          <p:nvPr/>
        </p:nvSpPr>
        <p:spPr>
          <a:xfrm>
            <a:off x="384047" y="2734563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PROBABILITY RATIO</a:t>
            </a:r>
          </a:p>
        </p:txBody>
      </p:sp>
      <p:sp>
        <p:nvSpPr>
          <p:cNvPr id="230" name="Text 12"/>
          <p:cNvSpPr txBox="1"/>
          <p:nvPr/>
        </p:nvSpPr>
        <p:spPr>
          <a:xfrm>
            <a:off x="384047" y="2973577"/>
            <a:ext cx="8321042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36454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rt(θ)  =  πθ(at|st)  /  πθ_old(at|st)</a:t>
            </a:r>
          </a:p>
        </p:txBody>
      </p:sp>
      <p:sp>
        <p:nvSpPr>
          <p:cNvPr id="231" name="Shape 13"/>
          <p:cNvSpPr/>
          <p:nvPr/>
        </p:nvSpPr>
        <p:spPr>
          <a:xfrm>
            <a:off x="274320" y="3456432"/>
            <a:ext cx="8595360" cy="292609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2" name="Text 14"/>
          <p:cNvSpPr txBox="1"/>
          <p:nvPr/>
        </p:nvSpPr>
        <p:spPr>
          <a:xfrm>
            <a:off x="365759" y="3532886"/>
            <a:ext cx="18288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3A6EA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rt(θold) = 1</a:t>
            </a:r>
          </a:p>
        </p:txBody>
      </p:sp>
      <p:sp>
        <p:nvSpPr>
          <p:cNvPr id="233" name="Text 15"/>
          <p:cNvSpPr txBox="1"/>
          <p:nvPr/>
        </p:nvSpPr>
        <p:spPr>
          <a:xfrm>
            <a:off x="2240279" y="3539236"/>
            <a:ext cx="64922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1C2B33"/>
                </a:solidFill>
              </a:defRPr>
            </a:lvl1pPr>
          </a:lstStyle>
          <a:p>
            <a:pPr/>
            <a:r>
              <a:t>At the start of each update — no correction needed yet</a:t>
            </a:r>
          </a:p>
        </p:txBody>
      </p:sp>
      <p:sp>
        <p:nvSpPr>
          <p:cNvPr id="234" name="Shape 16"/>
          <p:cNvSpPr/>
          <p:nvPr/>
        </p:nvSpPr>
        <p:spPr>
          <a:xfrm>
            <a:off x="274320" y="3785615"/>
            <a:ext cx="8595360" cy="292609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5" name="Text 17"/>
          <p:cNvSpPr txBox="1"/>
          <p:nvPr/>
        </p:nvSpPr>
        <p:spPr>
          <a:xfrm>
            <a:off x="365759" y="3862069"/>
            <a:ext cx="18288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3A6EA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rt(θ) &gt; 1</a:t>
            </a:r>
          </a:p>
        </p:txBody>
      </p:sp>
      <p:sp>
        <p:nvSpPr>
          <p:cNvPr id="236" name="Text 18"/>
          <p:cNvSpPr txBox="1"/>
          <p:nvPr/>
        </p:nvSpPr>
        <p:spPr>
          <a:xfrm>
            <a:off x="2240279" y="3868419"/>
            <a:ext cx="64922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1C2B33"/>
                </a:solidFill>
              </a:defRPr>
            </a:lvl1pPr>
          </a:lstStyle>
          <a:p>
            <a:pPr/>
            <a:r>
              <a:t>πθ assigns higher probability to at than the old policy</a:t>
            </a:r>
          </a:p>
        </p:txBody>
      </p:sp>
      <p:sp>
        <p:nvSpPr>
          <p:cNvPr id="237" name="Shape 19"/>
          <p:cNvSpPr/>
          <p:nvPr/>
        </p:nvSpPr>
        <p:spPr>
          <a:xfrm>
            <a:off x="274320" y="4114799"/>
            <a:ext cx="8595360" cy="292610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8" name="Text 20"/>
          <p:cNvSpPr txBox="1"/>
          <p:nvPr/>
        </p:nvSpPr>
        <p:spPr>
          <a:xfrm>
            <a:off x="365759" y="4191254"/>
            <a:ext cx="18288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3A6EA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rt(θ) &lt;&lt; 1</a:t>
            </a:r>
          </a:p>
        </p:txBody>
      </p:sp>
      <p:sp>
        <p:nvSpPr>
          <p:cNvPr id="239" name="Text 21"/>
          <p:cNvSpPr txBox="1"/>
          <p:nvPr/>
        </p:nvSpPr>
        <p:spPr>
          <a:xfrm>
            <a:off x="2240279" y="4197604"/>
            <a:ext cx="64922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1C2B33"/>
                </a:solidFill>
              </a:defRPr>
            </a:lvl1pPr>
          </a:lstStyle>
          <a:p>
            <a:pPr/>
            <a:r>
              <a:t>πθ assigns much lower probability — action is being suppressed</a:t>
            </a:r>
          </a:p>
        </p:txBody>
      </p:sp>
      <p:sp>
        <p:nvSpPr>
          <p:cNvPr id="240" name="Shape 22"/>
          <p:cNvSpPr/>
          <p:nvPr/>
        </p:nvSpPr>
        <p:spPr>
          <a:xfrm>
            <a:off x="274320" y="4480559"/>
            <a:ext cx="8595360" cy="493777"/>
          </a:xfrm>
          <a:prstGeom prst="rect">
            <a:avLst/>
          </a:prstGeom>
          <a:solidFill>
            <a:srgbClr val="FDF6DC"/>
          </a:solidFill>
          <a:ln w="12700">
            <a:solidFill>
              <a:srgbClr val="B886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1" name="Shape 23"/>
          <p:cNvSpPr/>
          <p:nvPr/>
        </p:nvSpPr>
        <p:spPr>
          <a:xfrm>
            <a:off x="274320" y="4480559"/>
            <a:ext cx="54865" cy="493777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2" name="Text 24"/>
          <p:cNvSpPr txBox="1"/>
          <p:nvPr/>
        </p:nvSpPr>
        <p:spPr>
          <a:xfrm>
            <a:off x="457199" y="4554727"/>
            <a:ext cx="8321042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1C2B33"/>
                </a:solidFill>
              </a:defRPr>
            </a:lvl1pPr>
          </a:lstStyle>
          <a:p>
            <a:pPr/>
            <a:r>
              <a:t>CPI surrogate:  L^CPI(θ) = Et [ rt(θ) Ât ]  — valid only when θ is close to θold.  If the update is large, rt diverges, importance sampling breaks down, and the policy can catastrophically collapse.  This is what PPO's clipping prevents.</a:t>
            </a:r>
          </a:p>
        </p:txBody>
      </p:sp>
      <p:sp>
        <p:nvSpPr>
          <p:cNvPr id="243" name="Text 25"/>
          <p:cNvSpPr txBox="1"/>
          <p:nvPr/>
        </p:nvSpPr>
        <p:spPr>
          <a:xfrm>
            <a:off x="0" y="4917694"/>
            <a:ext cx="9144000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6B7C85"/>
                </a:solidFill>
              </a:defRPr>
            </a:lvl1pPr>
          </a:lstStyle>
          <a:p>
            <a:pPr/>
            <a:r>
              <a:t>From Conway to LangGraph  ·  Università di Bologna  ·  Week 6  ·  §4 Importance Sampling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A6EA5"/>
          </a:solidFill>
          <a:ln w="1270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6" name="Text 1"/>
          <p:cNvSpPr txBox="1"/>
          <p:nvPr/>
        </p:nvSpPr>
        <p:spPr>
          <a:xfrm>
            <a:off x="548640" y="657411"/>
            <a:ext cx="1828801" cy="605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600">
                <a:solidFill>
                  <a:srgbClr val="3A6EA5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§5</a:t>
            </a:r>
          </a:p>
        </p:txBody>
      </p:sp>
      <p:sp>
        <p:nvSpPr>
          <p:cNvPr id="247" name="Text 2"/>
          <p:cNvSpPr txBox="1"/>
          <p:nvPr/>
        </p:nvSpPr>
        <p:spPr>
          <a:xfrm>
            <a:off x="548640" y="1553873"/>
            <a:ext cx="8046719" cy="4584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Trust-Region Motivation</a:t>
            </a:r>
          </a:p>
        </p:txBody>
      </p:sp>
      <p:sp>
        <p:nvSpPr>
          <p:cNvPr id="248" name="Text 3"/>
          <p:cNvSpPr txBox="1"/>
          <p:nvPr/>
        </p:nvSpPr>
        <p:spPr>
          <a:xfrm>
            <a:off x="548640" y="2425699"/>
            <a:ext cx="8046719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200">
                <a:solidFill>
                  <a:srgbClr val="8BAFC4"/>
                </a:solidFill>
              </a:defRPr>
            </a:lvl1pPr>
          </a:lstStyle>
          <a:p>
            <a:pPr/>
            <a:r>
              <a:t>From TRPO to PPO — cheaper, same idea</a:t>
            </a:r>
          </a:p>
        </p:txBody>
      </p:sp>
      <p:sp>
        <p:nvSpPr>
          <p:cNvPr id="249" name="Text 4"/>
          <p:cNvSpPr txBox="1"/>
          <p:nvPr/>
        </p:nvSpPr>
        <p:spPr>
          <a:xfrm>
            <a:off x="0" y="4917694"/>
            <a:ext cx="9144000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4A6880"/>
                </a:solidFill>
              </a:defRPr>
            </a:lvl1pPr>
          </a:lstStyle>
          <a:p>
            <a:pPr/>
            <a:r>
              <a:t>From Conway to LangGraph  ·  Università di Bologna  ·  Week 6  ·  PPO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0"/>
          <p:cNvSpPr/>
          <p:nvPr/>
        </p:nvSpPr>
        <p:spPr>
          <a:xfrm>
            <a:off x="0" y="-1"/>
            <a:ext cx="9144000" cy="74981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2" name="Text 1"/>
          <p:cNvSpPr txBox="1"/>
          <p:nvPr/>
        </p:nvSpPr>
        <p:spPr>
          <a:xfrm>
            <a:off x="301751" y="240329"/>
            <a:ext cx="6583682" cy="269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9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§5 — TRPO and the Trust-Region Idea</a:t>
            </a:r>
          </a:p>
        </p:txBody>
      </p:sp>
      <p:sp>
        <p:nvSpPr>
          <p:cNvPr id="253" name="Text 2"/>
          <p:cNvSpPr txBox="1"/>
          <p:nvPr/>
        </p:nvSpPr>
        <p:spPr>
          <a:xfrm>
            <a:off x="6903719" y="304412"/>
            <a:ext cx="2103121" cy="140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ABBC3"/>
                </a:solidFill>
              </a:defRPr>
            </a:lvl1pPr>
          </a:lstStyle>
          <a:p>
            <a:pPr/>
            <a:r>
              <a:t>Schulman et al., 2015 → 2017</a:t>
            </a:r>
          </a:p>
        </p:txBody>
      </p:sp>
      <p:sp>
        <p:nvSpPr>
          <p:cNvPr id="254" name="Text 3"/>
          <p:cNvSpPr txBox="1"/>
          <p:nvPr/>
        </p:nvSpPr>
        <p:spPr>
          <a:xfrm>
            <a:off x="274320" y="849819"/>
            <a:ext cx="8229601" cy="275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TRPO — Constrained Optimisation</a:t>
            </a:r>
          </a:p>
        </p:txBody>
      </p:sp>
      <p:sp>
        <p:nvSpPr>
          <p:cNvPr id="255" name="Shape 4"/>
          <p:cNvSpPr/>
          <p:nvPr/>
        </p:nvSpPr>
        <p:spPr>
          <a:xfrm>
            <a:off x="274320" y="1170432"/>
            <a:ext cx="8595360" cy="493777"/>
          </a:xfrm>
          <a:prstGeom prst="rect">
            <a:avLst/>
          </a:prstGeom>
          <a:solidFill>
            <a:srgbClr val="E8F0F8"/>
          </a:solidFill>
          <a:ln w="1905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6" name="Text 5"/>
          <p:cNvSpPr txBox="1"/>
          <p:nvPr/>
        </p:nvSpPr>
        <p:spPr>
          <a:xfrm>
            <a:off x="384047" y="1272774"/>
            <a:ext cx="8321042" cy="270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36454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max  L^CPI(θ)     subject to     Et[ KL( πθold ‖ πθ )(st) ]  ≤  δ</a:t>
            </a:r>
          </a:p>
        </p:txBody>
      </p:sp>
      <p:sp>
        <p:nvSpPr>
          <p:cNvPr id="257" name="Text 6"/>
          <p:cNvSpPr txBox="1"/>
          <p:nvPr/>
        </p:nvSpPr>
        <p:spPr>
          <a:xfrm>
            <a:off x="274320" y="1716532"/>
            <a:ext cx="859536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C2B33"/>
                </a:solidFill>
              </a:defRPr>
            </a:lvl1pPr>
          </a:lstStyle>
          <a:p>
            <a:pPr/>
            <a:r>
              <a:t>E[KL] ≤ δ  defines a trust region — a ball around θold in KL-divergence space within which the importance-sampling approximation remains valid.  Theory guarantees monotone policy improvement.</a:t>
            </a:r>
          </a:p>
        </p:txBody>
      </p:sp>
      <p:sp>
        <p:nvSpPr>
          <p:cNvPr id="258" name="Shape 7"/>
          <p:cNvSpPr/>
          <p:nvPr/>
        </p:nvSpPr>
        <p:spPr>
          <a:xfrm>
            <a:off x="274320" y="2139695"/>
            <a:ext cx="8595360" cy="694945"/>
          </a:xfrm>
          <a:prstGeom prst="rect">
            <a:avLst/>
          </a:prstGeom>
          <a:solidFill>
            <a:srgbClr val="E8F4EC"/>
          </a:solidFill>
          <a:ln w="12700">
            <a:solidFill>
              <a:srgbClr val="2E6B3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9" name="Shape 8"/>
          <p:cNvSpPr/>
          <p:nvPr/>
        </p:nvSpPr>
        <p:spPr>
          <a:xfrm>
            <a:off x="274320" y="2139695"/>
            <a:ext cx="54865" cy="694945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0" name="Text 9"/>
          <p:cNvSpPr txBox="1"/>
          <p:nvPr/>
        </p:nvSpPr>
        <p:spPr>
          <a:xfrm>
            <a:off x="457200" y="2280545"/>
            <a:ext cx="8229600" cy="413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1C2B33"/>
                </a:solidFill>
              </a:defRPr>
            </a:lvl1pPr>
          </a:lstStyle>
          <a:p>
            <a:pPr/>
            <a:r>
              <a:t>Physics analogy — Trust region ↔ Renormalisation Group step.  In the RG, integrate out modes within a momentum shell [Λ′,Λ] — never the full theory at once.  Each step is perturbatively valid.  Making δ smaller ↔ smaller shell ↔ more conservative flow.  The KL constraint is the exact RG analogue.</a:t>
            </a:r>
          </a:p>
        </p:txBody>
      </p:sp>
      <p:sp>
        <p:nvSpPr>
          <p:cNvPr id="261" name="Text 10"/>
          <p:cNvSpPr txBox="1"/>
          <p:nvPr/>
        </p:nvSpPr>
        <p:spPr>
          <a:xfrm>
            <a:off x="274320" y="2935143"/>
            <a:ext cx="8229601" cy="237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Why TRPO is impractical for deep RL:</a:t>
            </a:r>
          </a:p>
        </p:txBody>
      </p:sp>
      <p:sp>
        <p:nvSpPr>
          <p:cNvPr id="262" name="Shape 11"/>
          <p:cNvSpPr/>
          <p:nvPr/>
        </p:nvSpPr>
        <p:spPr>
          <a:xfrm>
            <a:off x="274320" y="3218688"/>
            <a:ext cx="8595360" cy="658369"/>
          </a:xfrm>
          <a:prstGeom prst="rect">
            <a:avLst/>
          </a:prstGeom>
          <a:solidFill>
            <a:srgbClr val="FCEEF0"/>
          </a:solidFill>
          <a:ln w="10160">
            <a:solidFill>
              <a:srgbClr val="9B233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3" name="Shape 12"/>
          <p:cNvSpPr/>
          <p:nvPr/>
        </p:nvSpPr>
        <p:spPr>
          <a:xfrm>
            <a:off x="274320" y="3218688"/>
            <a:ext cx="54865" cy="658369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4" name="Text 13"/>
          <p:cNvSpPr txBox="1"/>
          <p:nvPr/>
        </p:nvSpPr>
        <p:spPr>
          <a:xfrm>
            <a:off x="457200" y="3295142"/>
            <a:ext cx="822960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9B2335"/>
                </a:solidFill>
              </a:defRPr>
            </a:lvl1pPr>
          </a:lstStyle>
          <a:p>
            <a:pPr/>
            <a:r>
              <a:t>Computational cost  O(d²)</a:t>
            </a:r>
          </a:p>
        </p:txBody>
      </p:sp>
      <p:sp>
        <p:nvSpPr>
          <p:cNvPr id="265" name="Text 14"/>
          <p:cNvSpPr txBox="1"/>
          <p:nvPr/>
        </p:nvSpPr>
        <p:spPr>
          <a:xfrm>
            <a:off x="457200" y="3539744"/>
            <a:ext cx="8229600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1C2B33"/>
                </a:solidFill>
              </a:defRPr>
            </a:lvl1pPr>
          </a:lstStyle>
          <a:p>
            <a:pPr/>
            <a:r>
              <a:t>The constraint requires the Hessian of the KL divergence — an O(d²) matrix for d parameters.  Neural nets have millions of parameters; this is completely impractical.</a:t>
            </a:r>
          </a:p>
        </p:txBody>
      </p:sp>
      <p:sp>
        <p:nvSpPr>
          <p:cNvPr id="266" name="Shape 15"/>
          <p:cNvSpPr/>
          <p:nvPr/>
        </p:nvSpPr>
        <p:spPr>
          <a:xfrm>
            <a:off x="274320" y="3931920"/>
            <a:ext cx="8595360" cy="658369"/>
          </a:xfrm>
          <a:prstGeom prst="rect">
            <a:avLst/>
          </a:prstGeom>
          <a:solidFill>
            <a:srgbClr val="FCEEF0"/>
          </a:solidFill>
          <a:ln w="10160">
            <a:solidFill>
              <a:srgbClr val="9B233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7" name="Shape 16"/>
          <p:cNvSpPr/>
          <p:nvPr/>
        </p:nvSpPr>
        <p:spPr>
          <a:xfrm>
            <a:off x="274320" y="3931920"/>
            <a:ext cx="54865" cy="658369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8" name="Text 17"/>
          <p:cNvSpPr txBox="1"/>
          <p:nvPr/>
        </p:nvSpPr>
        <p:spPr>
          <a:xfrm>
            <a:off x="457200" y="4008374"/>
            <a:ext cx="822960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9B2335"/>
                </a:solidFill>
              </a:defRPr>
            </a:lvl1pPr>
          </a:lstStyle>
          <a:p>
            <a:pPr/>
            <a:r>
              <a:t>Implementation complexity</a:t>
            </a:r>
          </a:p>
        </p:txBody>
      </p:sp>
      <p:sp>
        <p:nvSpPr>
          <p:cNvPr id="269" name="Text 18"/>
          <p:cNvSpPr txBox="1"/>
          <p:nvPr/>
        </p:nvSpPr>
        <p:spPr>
          <a:xfrm>
            <a:off x="457200" y="4252976"/>
            <a:ext cx="8229600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1C2B33"/>
                </a:solidFill>
              </a:defRPr>
            </a:lvl1pPr>
          </a:lstStyle>
          <a:p>
            <a:pPr/>
            <a:r>
              <a:t>The constrained problem is solved via conjugate-gradient / line-search — requires careful engineering and is incompatible with standard deep learning frameworks (PyTorch / TF).</a:t>
            </a:r>
          </a:p>
        </p:txBody>
      </p:sp>
      <p:sp>
        <p:nvSpPr>
          <p:cNvPr id="270" name="Shape 19"/>
          <p:cNvSpPr/>
          <p:nvPr/>
        </p:nvSpPr>
        <p:spPr>
          <a:xfrm>
            <a:off x="274320" y="4663440"/>
            <a:ext cx="8595360" cy="329185"/>
          </a:xfrm>
          <a:prstGeom prst="rect">
            <a:avLst/>
          </a:prstGeom>
          <a:solidFill>
            <a:srgbClr val="FDF6DC"/>
          </a:solidFill>
          <a:ln w="12700">
            <a:solidFill>
              <a:srgbClr val="B886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1" name="Shape 20"/>
          <p:cNvSpPr/>
          <p:nvPr/>
        </p:nvSpPr>
        <p:spPr>
          <a:xfrm>
            <a:off x="274320" y="4663440"/>
            <a:ext cx="54865" cy="329185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2" name="Text 21"/>
          <p:cNvSpPr txBox="1"/>
          <p:nvPr/>
        </p:nvSpPr>
        <p:spPr>
          <a:xfrm>
            <a:off x="457199" y="4655312"/>
            <a:ext cx="8321042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1C2B33"/>
                </a:solidFill>
              </a:defRPr>
            </a:lvl1pPr>
          </a:lstStyle>
          <a:p>
            <a:pPr/>
            <a:r>
              <a:t>PPO achieves similar performance to TRPO by clipping the probability ratio rt(θ) instead of enforcing a KL constraint — same idea, first-order optimiser only, no Hessian.</a:t>
            </a:r>
          </a:p>
        </p:txBody>
      </p:sp>
      <p:sp>
        <p:nvSpPr>
          <p:cNvPr id="273" name="Text 22"/>
          <p:cNvSpPr txBox="1"/>
          <p:nvPr/>
        </p:nvSpPr>
        <p:spPr>
          <a:xfrm>
            <a:off x="0" y="4917123"/>
            <a:ext cx="9144000" cy="219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6B7C85"/>
                </a:solidFill>
              </a:defRPr>
            </a:lvl1pPr>
          </a:lstStyle>
          <a:p>
            <a:pPr/>
            <a:r>
              <a:t>From Conway to LangGraph  ·  Università di Bologna  ·  Week 6  ·  §5 TRPO → PPO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A6EA5"/>
          </a:solidFill>
          <a:ln w="1270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6" name="Text 1"/>
          <p:cNvSpPr txBox="1"/>
          <p:nvPr/>
        </p:nvSpPr>
        <p:spPr>
          <a:xfrm>
            <a:off x="548640" y="657411"/>
            <a:ext cx="1828801" cy="605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600">
                <a:solidFill>
                  <a:srgbClr val="3A6EA5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§6</a:t>
            </a:r>
          </a:p>
        </p:txBody>
      </p:sp>
      <p:sp>
        <p:nvSpPr>
          <p:cNvPr id="277" name="Text 2"/>
          <p:cNvSpPr txBox="1"/>
          <p:nvPr/>
        </p:nvSpPr>
        <p:spPr>
          <a:xfrm>
            <a:off x="548640" y="1553873"/>
            <a:ext cx="8046719" cy="4584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The Clipped Surrogate Objective</a:t>
            </a:r>
          </a:p>
        </p:txBody>
      </p:sp>
      <p:sp>
        <p:nvSpPr>
          <p:cNvPr id="278" name="Text 3"/>
          <p:cNvSpPr txBox="1"/>
          <p:nvPr/>
        </p:nvSpPr>
        <p:spPr>
          <a:xfrm>
            <a:off x="548640" y="2425699"/>
            <a:ext cx="8046719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200">
                <a:solidFill>
                  <a:srgbClr val="8BAFC4"/>
                </a:solidFill>
              </a:defRPr>
            </a:lvl1pPr>
          </a:lstStyle>
          <a:p>
            <a:pPr/>
            <a:r>
              <a:t>The core of PPO — formal definition and case analysis</a:t>
            </a:r>
          </a:p>
        </p:txBody>
      </p:sp>
      <p:sp>
        <p:nvSpPr>
          <p:cNvPr id="279" name="Text 4"/>
          <p:cNvSpPr txBox="1"/>
          <p:nvPr/>
        </p:nvSpPr>
        <p:spPr>
          <a:xfrm>
            <a:off x="0" y="4917694"/>
            <a:ext cx="9144000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4A6880"/>
                </a:solidFill>
              </a:defRPr>
            </a:lvl1pPr>
          </a:lstStyle>
          <a:p>
            <a:pPr/>
            <a:r>
              <a:t>From Conway to LangGraph  ·  Università di Bologna  ·  Week 6  ·  PPO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Shape 0"/>
          <p:cNvSpPr/>
          <p:nvPr/>
        </p:nvSpPr>
        <p:spPr>
          <a:xfrm>
            <a:off x="0" y="-1"/>
            <a:ext cx="9144000" cy="74981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2" name="Text 1"/>
          <p:cNvSpPr txBox="1"/>
          <p:nvPr/>
        </p:nvSpPr>
        <p:spPr>
          <a:xfrm>
            <a:off x="301751" y="240329"/>
            <a:ext cx="6583682" cy="269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9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§6 — The PPO Clipped Objective</a:t>
            </a:r>
          </a:p>
        </p:txBody>
      </p:sp>
      <p:sp>
        <p:nvSpPr>
          <p:cNvPr id="283" name="Text 2"/>
          <p:cNvSpPr txBox="1"/>
          <p:nvPr/>
        </p:nvSpPr>
        <p:spPr>
          <a:xfrm>
            <a:off x="6903719" y="311404"/>
            <a:ext cx="21031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ABBC3"/>
                </a:solidFill>
              </a:defRPr>
            </a:lvl1pPr>
          </a:lstStyle>
          <a:p>
            <a:pPr/>
            <a:r>
              <a:t>Schulman et al., arXiv:1707.06347</a:t>
            </a:r>
          </a:p>
        </p:txBody>
      </p:sp>
      <p:sp>
        <p:nvSpPr>
          <p:cNvPr id="284" name="Shape 3"/>
          <p:cNvSpPr/>
          <p:nvPr/>
        </p:nvSpPr>
        <p:spPr>
          <a:xfrm>
            <a:off x="274320" y="868680"/>
            <a:ext cx="8595360" cy="1005840"/>
          </a:xfrm>
          <a:prstGeom prst="rect">
            <a:avLst/>
          </a:prstGeom>
          <a:solidFill>
            <a:srgbClr val="E8F0F8"/>
          </a:solidFill>
          <a:ln w="2286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5" name="Shape 4"/>
          <p:cNvSpPr/>
          <p:nvPr/>
        </p:nvSpPr>
        <p:spPr>
          <a:xfrm>
            <a:off x="274320" y="868680"/>
            <a:ext cx="8595360" cy="237744"/>
          </a:xfrm>
          <a:prstGeom prst="rect">
            <a:avLst/>
          </a:prstGeom>
          <a:solidFill>
            <a:srgbClr val="3A6EA5"/>
          </a:solidFill>
          <a:ln w="1270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6" name="Text 5"/>
          <p:cNvSpPr txBox="1"/>
          <p:nvPr/>
        </p:nvSpPr>
        <p:spPr>
          <a:xfrm>
            <a:off x="384047" y="924051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PPO CLIPPED OBJECTIVE</a:t>
            </a:r>
          </a:p>
        </p:txBody>
      </p:sp>
      <p:sp>
        <p:nvSpPr>
          <p:cNvPr id="287" name="Text 6"/>
          <p:cNvSpPr txBox="1"/>
          <p:nvPr/>
        </p:nvSpPr>
        <p:spPr>
          <a:xfrm>
            <a:off x="384047" y="1205992"/>
            <a:ext cx="8321042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36454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L^CLIP(θ)  =  Et [ min(  rt(θ) Ât  ,  clip(rt(θ), 1−ε, 1+ε) Ât  ) ]</a:t>
            </a:r>
          </a:p>
        </p:txBody>
      </p:sp>
      <p:sp>
        <p:nvSpPr>
          <p:cNvPr id="288" name="Text 7"/>
          <p:cNvSpPr txBox="1"/>
          <p:nvPr/>
        </p:nvSpPr>
        <p:spPr>
          <a:xfrm>
            <a:off x="384047" y="1585213"/>
            <a:ext cx="8321042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900">
                <a:solidFill>
                  <a:srgbClr val="6B7C8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rt(θ) = πθ(at|st) / πθold(at|st)</a:t>
            </a:r>
            <a:r>
              <a:rPr b="0">
                <a:latin typeface="+mj-lt"/>
                <a:ea typeface="+mj-ea"/>
                <a:cs typeface="+mj-cs"/>
                <a:sym typeface="Calibri"/>
              </a:rPr>
              <a:t>   ·   </a:t>
            </a:r>
            <a:r>
              <a:t>ε ≈ 0.2 (clip threshold)</a:t>
            </a:r>
            <a:r>
              <a:rPr b="0">
                <a:latin typeface="+mj-lt"/>
                <a:ea typeface="+mj-ea"/>
                <a:cs typeface="+mj-cs"/>
                <a:sym typeface="Calibri"/>
              </a:rPr>
              <a:t>   ·   </a:t>
            </a:r>
            <a:r>
              <a:rPr b="0"/>
              <a:t>clip(x,a,b) = min(max(x,a),b)</a:t>
            </a:r>
          </a:p>
        </p:txBody>
      </p:sp>
      <p:sp>
        <p:nvSpPr>
          <p:cNvPr id="289" name="Text 8"/>
          <p:cNvSpPr txBox="1"/>
          <p:nvPr/>
        </p:nvSpPr>
        <p:spPr>
          <a:xfrm>
            <a:off x="274320" y="2002455"/>
            <a:ext cx="8229601" cy="237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Why the min + clip combination works:</a:t>
            </a:r>
          </a:p>
        </p:txBody>
      </p:sp>
      <p:sp>
        <p:nvSpPr>
          <p:cNvPr id="290" name="Shape 9"/>
          <p:cNvSpPr/>
          <p:nvPr/>
        </p:nvSpPr>
        <p:spPr>
          <a:xfrm>
            <a:off x="274320" y="2304288"/>
            <a:ext cx="2286001" cy="274321"/>
          </a:xfrm>
          <a:prstGeom prst="rect">
            <a:avLst/>
          </a:prstGeom>
          <a:solidFill>
            <a:srgbClr val="36454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1" name="Text 10"/>
          <p:cNvSpPr txBox="1"/>
          <p:nvPr/>
        </p:nvSpPr>
        <p:spPr>
          <a:xfrm>
            <a:off x="329183" y="2377948"/>
            <a:ext cx="217627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Case</a:t>
            </a:r>
          </a:p>
        </p:txBody>
      </p:sp>
      <p:sp>
        <p:nvSpPr>
          <p:cNvPr id="292" name="Shape 11"/>
          <p:cNvSpPr/>
          <p:nvPr/>
        </p:nvSpPr>
        <p:spPr>
          <a:xfrm>
            <a:off x="2560320" y="2304288"/>
            <a:ext cx="1828801" cy="274321"/>
          </a:xfrm>
          <a:prstGeom prst="rect">
            <a:avLst/>
          </a:prstGeom>
          <a:solidFill>
            <a:srgbClr val="36454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3" name="Text 12"/>
          <p:cNvSpPr txBox="1"/>
          <p:nvPr/>
        </p:nvSpPr>
        <p:spPr>
          <a:xfrm>
            <a:off x="2615183" y="2377948"/>
            <a:ext cx="171907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Unconstrained max</a:t>
            </a:r>
          </a:p>
        </p:txBody>
      </p:sp>
      <p:sp>
        <p:nvSpPr>
          <p:cNvPr id="294" name="Shape 13"/>
          <p:cNvSpPr/>
          <p:nvPr/>
        </p:nvSpPr>
        <p:spPr>
          <a:xfrm>
            <a:off x="4389120" y="2304288"/>
            <a:ext cx="1828801" cy="274321"/>
          </a:xfrm>
          <a:prstGeom prst="rect">
            <a:avLst/>
          </a:prstGeom>
          <a:solidFill>
            <a:srgbClr val="36454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5" name="Text 14"/>
          <p:cNvSpPr txBox="1"/>
          <p:nvPr/>
        </p:nvSpPr>
        <p:spPr>
          <a:xfrm>
            <a:off x="4443984" y="2377948"/>
            <a:ext cx="171907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Clipped behaviour</a:t>
            </a:r>
          </a:p>
        </p:txBody>
      </p:sp>
      <p:sp>
        <p:nvSpPr>
          <p:cNvPr id="296" name="Shape 15"/>
          <p:cNvSpPr/>
          <p:nvPr/>
        </p:nvSpPr>
        <p:spPr>
          <a:xfrm>
            <a:off x="6217920" y="2304288"/>
            <a:ext cx="2651761" cy="274321"/>
          </a:xfrm>
          <a:prstGeom prst="rect">
            <a:avLst/>
          </a:prstGeom>
          <a:solidFill>
            <a:srgbClr val="36454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7" name="Text 16"/>
          <p:cNvSpPr txBox="1"/>
          <p:nvPr/>
        </p:nvSpPr>
        <p:spPr>
          <a:xfrm>
            <a:off x="6272784" y="2377948"/>
            <a:ext cx="254203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Effect</a:t>
            </a:r>
          </a:p>
        </p:txBody>
      </p:sp>
      <p:sp>
        <p:nvSpPr>
          <p:cNvPr id="298" name="Shape 17"/>
          <p:cNvSpPr/>
          <p:nvPr/>
        </p:nvSpPr>
        <p:spPr>
          <a:xfrm>
            <a:off x="274320" y="2615183"/>
            <a:ext cx="2286001" cy="621793"/>
          </a:xfrm>
          <a:prstGeom prst="rect">
            <a:avLst/>
          </a:prstGeom>
          <a:solidFill>
            <a:srgbClr val="E8F4EC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9" name="Text 18"/>
          <p:cNvSpPr txBox="1"/>
          <p:nvPr/>
        </p:nvSpPr>
        <p:spPr>
          <a:xfrm>
            <a:off x="329183" y="2810510"/>
            <a:ext cx="2176274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2E6B3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Ât &gt; 0  (good action)</a:t>
            </a:r>
          </a:p>
        </p:txBody>
      </p:sp>
      <p:sp>
        <p:nvSpPr>
          <p:cNvPr id="300" name="Shape 19"/>
          <p:cNvSpPr/>
          <p:nvPr/>
        </p:nvSpPr>
        <p:spPr>
          <a:xfrm>
            <a:off x="2560320" y="2615183"/>
            <a:ext cx="1828801" cy="621793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1" name="Text 20"/>
          <p:cNvSpPr txBox="1"/>
          <p:nvPr/>
        </p:nvSpPr>
        <p:spPr>
          <a:xfrm>
            <a:off x="2615183" y="2816860"/>
            <a:ext cx="171907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Increase rt(θ) without limit</a:t>
            </a:r>
          </a:p>
        </p:txBody>
      </p:sp>
      <p:sp>
        <p:nvSpPr>
          <p:cNvPr id="302" name="Shape 21"/>
          <p:cNvSpPr/>
          <p:nvPr/>
        </p:nvSpPr>
        <p:spPr>
          <a:xfrm>
            <a:off x="4389120" y="2615183"/>
            <a:ext cx="1828801" cy="621793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3" name="Text 22"/>
          <p:cNvSpPr txBox="1"/>
          <p:nvPr/>
        </p:nvSpPr>
        <p:spPr>
          <a:xfrm>
            <a:off x="4443984" y="2816860"/>
            <a:ext cx="171907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rt capped at 1+ε</a:t>
            </a:r>
          </a:p>
        </p:txBody>
      </p:sp>
      <p:sp>
        <p:nvSpPr>
          <p:cNvPr id="304" name="Shape 23"/>
          <p:cNvSpPr/>
          <p:nvPr/>
        </p:nvSpPr>
        <p:spPr>
          <a:xfrm>
            <a:off x="6217920" y="2615183"/>
            <a:ext cx="2651761" cy="621793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5" name="Text 24"/>
          <p:cNvSpPr txBox="1"/>
          <p:nvPr/>
        </p:nvSpPr>
        <p:spPr>
          <a:xfrm>
            <a:off x="6272784" y="2753360"/>
            <a:ext cx="2542033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Cannot over-reward — policy won't diverge from πold in a beneficial direction</a:t>
            </a:r>
          </a:p>
        </p:txBody>
      </p:sp>
      <p:sp>
        <p:nvSpPr>
          <p:cNvPr id="306" name="Shape 25"/>
          <p:cNvSpPr/>
          <p:nvPr/>
        </p:nvSpPr>
        <p:spPr>
          <a:xfrm>
            <a:off x="274320" y="3273552"/>
            <a:ext cx="2286001" cy="621793"/>
          </a:xfrm>
          <a:prstGeom prst="rect">
            <a:avLst/>
          </a:prstGeom>
          <a:solidFill>
            <a:srgbClr val="FCEEF0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7" name="Text 26"/>
          <p:cNvSpPr txBox="1"/>
          <p:nvPr/>
        </p:nvSpPr>
        <p:spPr>
          <a:xfrm>
            <a:off x="329183" y="3468877"/>
            <a:ext cx="2176274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9B233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Ât &lt; 0  (bad action)</a:t>
            </a:r>
          </a:p>
        </p:txBody>
      </p:sp>
      <p:sp>
        <p:nvSpPr>
          <p:cNvPr id="308" name="Shape 27"/>
          <p:cNvSpPr/>
          <p:nvPr/>
        </p:nvSpPr>
        <p:spPr>
          <a:xfrm>
            <a:off x="2560320" y="3273552"/>
            <a:ext cx="1828801" cy="621793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9" name="Text 28"/>
          <p:cNvSpPr txBox="1"/>
          <p:nvPr/>
        </p:nvSpPr>
        <p:spPr>
          <a:xfrm>
            <a:off x="2615183" y="3475227"/>
            <a:ext cx="171907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Decrease rt(θ) without limit</a:t>
            </a:r>
          </a:p>
        </p:txBody>
      </p:sp>
      <p:sp>
        <p:nvSpPr>
          <p:cNvPr id="310" name="Shape 29"/>
          <p:cNvSpPr/>
          <p:nvPr/>
        </p:nvSpPr>
        <p:spPr>
          <a:xfrm>
            <a:off x="4389120" y="3273552"/>
            <a:ext cx="1828801" cy="621793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1" name="Text 30"/>
          <p:cNvSpPr txBox="1"/>
          <p:nvPr/>
        </p:nvSpPr>
        <p:spPr>
          <a:xfrm>
            <a:off x="4443984" y="3475227"/>
            <a:ext cx="171907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rt floored at 1−ε</a:t>
            </a:r>
          </a:p>
        </p:txBody>
      </p:sp>
      <p:sp>
        <p:nvSpPr>
          <p:cNvPr id="312" name="Shape 31"/>
          <p:cNvSpPr/>
          <p:nvPr/>
        </p:nvSpPr>
        <p:spPr>
          <a:xfrm>
            <a:off x="6217920" y="3273552"/>
            <a:ext cx="2651761" cy="621793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3" name="Text 32"/>
          <p:cNvSpPr txBox="1"/>
          <p:nvPr/>
        </p:nvSpPr>
        <p:spPr>
          <a:xfrm>
            <a:off x="6272784" y="3411727"/>
            <a:ext cx="2542033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Cannot over-penalise — won't suppress an action too aggressively</a:t>
            </a:r>
          </a:p>
        </p:txBody>
      </p:sp>
      <p:sp>
        <p:nvSpPr>
          <p:cNvPr id="314" name="Shape 33"/>
          <p:cNvSpPr/>
          <p:nvPr/>
        </p:nvSpPr>
        <p:spPr>
          <a:xfrm>
            <a:off x="274320" y="3931920"/>
            <a:ext cx="2286001" cy="621793"/>
          </a:xfrm>
          <a:prstGeom prst="rect">
            <a:avLst/>
          </a:prstGeom>
          <a:solidFill>
            <a:srgbClr val="F0F2F4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5" name="Text 34"/>
          <p:cNvSpPr txBox="1"/>
          <p:nvPr/>
        </p:nvSpPr>
        <p:spPr>
          <a:xfrm>
            <a:off x="329183" y="4127246"/>
            <a:ext cx="2176274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36454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rt = 1  (no change)</a:t>
            </a:r>
          </a:p>
        </p:txBody>
      </p:sp>
      <p:sp>
        <p:nvSpPr>
          <p:cNvPr id="316" name="Shape 35"/>
          <p:cNvSpPr/>
          <p:nvPr/>
        </p:nvSpPr>
        <p:spPr>
          <a:xfrm>
            <a:off x="2560320" y="3931920"/>
            <a:ext cx="1828801" cy="621793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7" name="Text 36"/>
          <p:cNvSpPr txBox="1"/>
          <p:nvPr/>
        </p:nvSpPr>
        <p:spPr>
          <a:xfrm>
            <a:off x="2615183" y="4133596"/>
            <a:ext cx="171907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L = Ât (baseline)</a:t>
            </a:r>
          </a:p>
        </p:txBody>
      </p:sp>
      <p:sp>
        <p:nvSpPr>
          <p:cNvPr id="318" name="Shape 37"/>
          <p:cNvSpPr/>
          <p:nvPr/>
        </p:nvSpPr>
        <p:spPr>
          <a:xfrm>
            <a:off x="4389120" y="3931920"/>
            <a:ext cx="1828801" cy="621793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9" name="Text 38"/>
          <p:cNvSpPr txBox="1"/>
          <p:nvPr/>
        </p:nvSpPr>
        <p:spPr>
          <a:xfrm>
            <a:off x="4443984" y="4133596"/>
            <a:ext cx="171907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L = Ât (same)</a:t>
            </a:r>
          </a:p>
        </p:txBody>
      </p:sp>
      <p:sp>
        <p:nvSpPr>
          <p:cNvPr id="320" name="Shape 39"/>
          <p:cNvSpPr/>
          <p:nvPr/>
        </p:nvSpPr>
        <p:spPr>
          <a:xfrm>
            <a:off x="6217920" y="3931920"/>
            <a:ext cx="2651761" cy="621793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1" name="Text 40"/>
          <p:cNvSpPr txBox="1"/>
          <p:nvPr/>
        </p:nvSpPr>
        <p:spPr>
          <a:xfrm>
            <a:off x="6272784" y="4070096"/>
            <a:ext cx="2542033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No clipping triggered; gradient equals vanilla policy gradient exactly</a:t>
            </a:r>
          </a:p>
        </p:txBody>
      </p:sp>
      <p:sp>
        <p:nvSpPr>
          <p:cNvPr id="322" name="Shape 41"/>
          <p:cNvSpPr/>
          <p:nvPr/>
        </p:nvSpPr>
        <p:spPr>
          <a:xfrm>
            <a:off x="274320" y="4608576"/>
            <a:ext cx="8595360" cy="402337"/>
          </a:xfrm>
          <a:prstGeom prst="rect">
            <a:avLst/>
          </a:prstGeom>
          <a:solidFill>
            <a:srgbClr val="FDF6DC"/>
          </a:solidFill>
          <a:ln w="12700">
            <a:solidFill>
              <a:srgbClr val="B886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3" name="Shape 42"/>
          <p:cNvSpPr/>
          <p:nvPr/>
        </p:nvSpPr>
        <p:spPr>
          <a:xfrm>
            <a:off x="274320" y="4608576"/>
            <a:ext cx="54865" cy="402337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4" name="Text 43"/>
          <p:cNvSpPr txBox="1"/>
          <p:nvPr/>
        </p:nvSpPr>
        <p:spPr>
          <a:xfrm>
            <a:off x="457199" y="4637024"/>
            <a:ext cx="8321042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1C2B33"/>
                </a:solidFill>
              </a:defRPr>
            </a:lvl1pPr>
          </a:lstStyle>
          <a:p>
            <a:pPr/>
            <a:r>
              <a:t>The min operator is a pessimistic bound.  Moves that keep r close to 1 are unhindered.  Moves that push r beyond [1−ε, 1+ε] hit the clip and receive zero gradient — an automatic trust region with no Hessian required.</a:t>
            </a:r>
          </a:p>
        </p:txBody>
      </p:sp>
      <p:sp>
        <p:nvSpPr>
          <p:cNvPr id="325" name="Text 44"/>
          <p:cNvSpPr txBox="1"/>
          <p:nvPr/>
        </p:nvSpPr>
        <p:spPr>
          <a:xfrm>
            <a:off x="0" y="4917694"/>
            <a:ext cx="9144000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6B7C85"/>
                </a:solidFill>
              </a:defRPr>
            </a:lvl1pPr>
          </a:lstStyle>
          <a:p>
            <a:pPr/>
            <a:r>
              <a:t>From Conway to LangGraph  ·  Università di Bologna  ·  Week 6  ·  §6 L^CLIP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Shape 0"/>
          <p:cNvSpPr/>
          <p:nvPr/>
        </p:nvSpPr>
        <p:spPr>
          <a:xfrm>
            <a:off x="0" y="-1"/>
            <a:ext cx="9144000" cy="74981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8" name="Text 1"/>
          <p:cNvSpPr txBox="1"/>
          <p:nvPr/>
        </p:nvSpPr>
        <p:spPr>
          <a:xfrm>
            <a:off x="301751" y="240329"/>
            <a:ext cx="6583682" cy="269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9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§6 — The Full PPO Objective</a:t>
            </a:r>
          </a:p>
        </p:txBody>
      </p:sp>
      <p:sp>
        <p:nvSpPr>
          <p:cNvPr id="329" name="Text 2"/>
          <p:cNvSpPr txBox="1"/>
          <p:nvPr/>
        </p:nvSpPr>
        <p:spPr>
          <a:xfrm>
            <a:off x="6903719" y="247904"/>
            <a:ext cx="210312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ABBC3"/>
                </a:solidFill>
              </a:defRPr>
            </a:lvl1pPr>
          </a:lstStyle>
          <a:p>
            <a:pPr/>
            <a:r>
              <a:t>Three terms: clip + value function + entropy</a:t>
            </a:r>
          </a:p>
        </p:txBody>
      </p:sp>
      <p:sp>
        <p:nvSpPr>
          <p:cNvPr id="330" name="Shape 3"/>
          <p:cNvSpPr/>
          <p:nvPr/>
        </p:nvSpPr>
        <p:spPr>
          <a:xfrm>
            <a:off x="274320" y="868680"/>
            <a:ext cx="8595360" cy="566929"/>
          </a:xfrm>
          <a:prstGeom prst="rect">
            <a:avLst/>
          </a:prstGeom>
          <a:solidFill>
            <a:srgbClr val="E8F0F8"/>
          </a:solidFill>
          <a:ln w="1905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1" name="Text 4"/>
          <p:cNvSpPr txBox="1"/>
          <p:nvPr/>
        </p:nvSpPr>
        <p:spPr>
          <a:xfrm>
            <a:off x="384047" y="995679"/>
            <a:ext cx="8321042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36454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L^PPO(θ)  =  Et [ L^CLIP(θ)  −  c₁ L^VF(θ)  +  c₂ H[πθ](st) ]</a:t>
            </a:r>
          </a:p>
        </p:txBody>
      </p:sp>
      <p:sp>
        <p:nvSpPr>
          <p:cNvPr id="332" name="Shape 5"/>
          <p:cNvSpPr/>
          <p:nvPr/>
        </p:nvSpPr>
        <p:spPr>
          <a:xfrm>
            <a:off x="274319" y="1572767"/>
            <a:ext cx="2788922" cy="3090673"/>
          </a:xfrm>
          <a:prstGeom prst="rect">
            <a:avLst/>
          </a:prstGeom>
          <a:solidFill>
            <a:srgbClr val="E8F0F8"/>
          </a:solidFill>
          <a:ln w="1524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3" name="Shape 6"/>
          <p:cNvSpPr/>
          <p:nvPr/>
        </p:nvSpPr>
        <p:spPr>
          <a:xfrm>
            <a:off x="274319" y="1572767"/>
            <a:ext cx="2788922" cy="256033"/>
          </a:xfrm>
          <a:prstGeom prst="rect">
            <a:avLst/>
          </a:prstGeom>
          <a:solidFill>
            <a:srgbClr val="3A6EA5"/>
          </a:solidFill>
          <a:ln w="1270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4" name="Text 7"/>
          <p:cNvSpPr txBox="1"/>
          <p:nvPr/>
        </p:nvSpPr>
        <p:spPr>
          <a:xfrm>
            <a:off x="365759" y="1624583"/>
            <a:ext cx="18288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L^CLIP(θ)</a:t>
            </a:r>
          </a:p>
        </p:txBody>
      </p:sp>
      <p:sp>
        <p:nvSpPr>
          <p:cNvPr id="335" name="Text 8"/>
          <p:cNvSpPr txBox="1"/>
          <p:nvPr/>
        </p:nvSpPr>
        <p:spPr>
          <a:xfrm>
            <a:off x="2194560" y="1636887"/>
            <a:ext cx="777241" cy="1277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CCDDEE"/>
                </a:solidFill>
              </a:defRPr>
            </a:lvl1pPr>
          </a:lstStyle>
          <a:p>
            <a:pPr/>
            <a:r>
              <a:t>c₁ = —</a:t>
            </a:r>
          </a:p>
        </p:txBody>
      </p:sp>
      <p:sp>
        <p:nvSpPr>
          <p:cNvPr id="336" name="Text 9"/>
          <p:cNvSpPr txBox="1"/>
          <p:nvPr/>
        </p:nvSpPr>
        <p:spPr>
          <a:xfrm>
            <a:off x="365760" y="1929892"/>
            <a:ext cx="26060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3A6EA5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Clipped Policy Loss</a:t>
            </a:r>
          </a:p>
        </p:txBody>
      </p:sp>
      <p:sp>
        <p:nvSpPr>
          <p:cNvPr id="337" name="Shape 10"/>
          <p:cNvSpPr/>
          <p:nvPr/>
        </p:nvSpPr>
        <p:spPr>
          <a:xfrm>
            <a:off x="365760" y="2157983"/>
            <a:ext cx="2606040" cy="438913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8" name="Text 11"/>
          <p:cNvSpPr txBox="1"/>
          <p:nvPr/>
        </p:nvSpPr>
        <p:spPr>
          <a:xfrm>
            <a:off x="402335" y="2204720"/>
            <a:ext cx="2532890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36454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Et [ min( rt(θ) Ât , clip(rt(θ), 1−ε, 1+ε) Ât ) ]</a:t>
            </a:r>
          </a:p>
        </p:txBody>
      </p:sp>
      <p:sp>
        <p:nvSpPr>
          <p:cNvPr id="339" name="Text 12"/>
          <p:cNvSpPr txBox="1"/>
          <p:nvPr/>
        </p:nvSpPr>
        <p:spPr>
          <a:xfrm>
            <a:off x="365760" y="2936748"/>
            <a:ext cx="2606040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1C2B33"/>
                </a:solidFill>
              </a:defRPr>
            </a:lvl1pPr>
          </a:lstStyle>
          <a:p>
            <a:pPr/>
            <a:r>
              <a:t>The core PPO objective. Penalises large policy changes while still improving on positive-advantage actions.</a:t>
            </a:r>
          </a:p>
        </p:txBody>
      </p:sp>
      <p:sp>
        <p:nvSpPr>
          <p:cNvPr id="340" name="Shape 13"/>
          <p:cNvSpPr/>
          <p:nvPr/>
        </p:nvSpPr>
        <p:spPr>
          <a:xfrm>
            <a:off x="3200399" y="1572767"/>
            <a:ext cx="2788922" cy="3090673"/>
          </a:xfrm>
          <a:prstGeom prst="rect">
            <a:avLst/>
          </a:prstGeom>
          <a:solidFill>
            <a:srgbClr val="F0F2F4"/>
          </a:solidFill>
          <a:ln w="15240">
            <a:solidFill>
              <a:srgbClr val="3645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1" name="Shape 14"/>
          <p:cNvSpPr/>
          <p:nvPr/>
        </p:nvSpPr>
        <p:spPr>
          <a:xfrm>
            <a:off x="3200399" y="1572767"/>
            <a:ext cx="2788922" cy="256033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2" name="Text 15"/>
          <p:cNvSpPr txBox="1"/>
          <p:nvPr/>
        </p:nvSpPr>
        <p:spPr>
          <a:xfrm>
            <a:off x="3291840" y="1624583"/>
            <a:ext cx="18288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L^VF(θ)</a:t>
            </a:r>
          </a:p>
        </p:txBody>
      </p:sp>
      <p:sp>
        <p:nvSpPr>
          <p:cNvPr id="343" name="Text 16"/>
          <p:cNvSpPr txBox="1"/>
          <p:nvPr/>
        </p:nvSpPr>
        <p:spPr>
          <a:xfrm>
            <a:off x="5120640" y="1636887"/>
            <a:ext cx="777241" cy="1277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CCDDEE"/>
                </a:solidFill>
              </a:defRPr>
            </a:lvl1pPr>
          </a:lstStyle>
          <a:p>
            <a:pPr/>
            <a:r>
              <a:t>c₁ ≈ 0.5</a:t>
            </a:r>
          </a:p>
        </p:txBody>
      </p:sp>
      <p:sp>
        <p:nvSpPr>
          <p:cNvPr id="344" name="Text 17"/>
          <p:cNvSpPr txBox="1"/>
          <p:nvPr/>
        </p:nvSpPr>
        <p:spPr>
          <a:xfrm>
            <a:off x="3291840" y="1929892"/>
            <a:ext cx="2606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Value Function Loss</a:t>
            </a:r>
          </a:p>
        </p:txBody>
      </p:sp>
      <p:sp>
        <p:nvSpPr>
          <p:cNvPr id="345" name="Shape 18"/>
          <p:cNvSpPr/>
          <p:nvPr/>
        </p:nvSpPr>
        <p:spPr>
          <a:xfrm>
            <a:off x="3291840" y="2157983"/>
            <a:ext cx="2606041" cy="438913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6" name="Text 19"/>
          <p:cNvSpPr txBox="1"/>
          <p:nvPr/>
        </p:nvSpPr>
        <p:spPr>
          <a:xfrm>
            <a:off x="3328415" y="2268220"/>
            <a:ext cx="2532889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36454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Et [ ( Vθ(st) − V^targ_t )² ]</a:t>
            </a:r>
          </a:p>
        </p:txBody>
      </p:sp>
      <p:sp>
        <p:nvSpPr>
          <p:cNvPr id="347" name="Text 20"/>
          <p:cNvSpPr txBox="1"/>
          <p:nvPr/>
        </p:nvSpPr>
        <p:spPr>
          <a:xfrm>
            <a:off x="3291840" y="2936748"/>
            <a:ext cx="260604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1C2B33"/>
                </a:solidFill>
              </a:defRPr>
            </a:lvl1pPr>
          </a:lstStyle>
          <a:p>
            <a:pPr/>
            <a:r>
              <a:t>Mean squared error between the critic's prediction and the target return. Allows actor and critic to share a network backbone.</a:t>
            </a:r>
          </a:p>
        </p:txBody>
      </p:sp>
      <p:sp>
        <p:nvSpPr>
          <p:cNvPr id="348" name="Shape 21"/>
          <p:cNvSpPr/>
          <p:nvPr/>
        </p:nvSpPr>
        <p:spPr>
          <a:xfrm>
            <a:off x="6126479" y="1572767"/>
            <a:ext cx="2788921" cy="3090673"/>
          </a:xfrm>
          <a:prstGeom prst="rect">
            <a:avLst/>
          </a:prstGeom>
          <a:solidFill>
            <a:srgbClr val="E8F4EC"/>
          </a:solidFill>
          <a:ln w="15240">
            <a:solidFill>
              <a:srgbClr val="2E6B3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9" name="Shape 22"/>
          <p:cNvSpPr/>
          <p:nvPr/>
        </p:nvSpPr>
        <p:spPr>
          <a:xfrm>
            <a:off x="6126479" y="1572767"/>
            <a:ext cx="2788921" cy="256033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0" name="Text 23"/>
          <p:cNvSpPr txBox="1"/>
          <p:nvPr/>
        </p:nvSpPr>
        <p:spPr>
          <a:xfrm>
            <a:off x="6217920" y="1624583"/>
            <a:ext cx="18288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H[πθ](st)</a:t>
            </a:r>
          </a:p>
        </p:txBody>
      </p:sp>
      <p:sp>
        <p:nvSpPr>
          <p:cNvPr id="351" name="Text 24"/>
          <p:cNvSpPr txBox="1"/>
          <p:nvPr/>
        </p:nvSpPr>
        <p:spPr>
          <a:xfrm>
            <a:off x="8046719" y="1636887"/>
            <a:ext cx="777241" cy="1277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CCDDEE"/>
                </a:solidFill>
              </a:defRPr>
            </a:lvl1pPr>
          </a:lstStyle>
          <a:p>
            <a:pPr/>
            <a:r>
              <a:t>c₂ ≈ 0–0.01</a:t>
            </a:r>
          </a:p>
        </p:txBody>
      </p:sp>
      <p:sp>
        <p:nvSpPr>
          <p:cNvPr id="352" name="Text 25"/>
          <p:cNvSpPr txBox="1"/>
          <p:nvPr/>
        </p:nvSpPr>
        <p:spPr>
          <a:xfrm>
            <a:off x="6217920" y="1929892"/>
            <a:ext cx="2606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2E6B3E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Entropy Bonus</a:t>
            </a:r>
          </a:p>
        </p:txBody>
      </p:sp>
      <p:sp>
        <p:nvSpPr>
          <p:cNvPr id="353" name="Shape 26"/>
          <p:cNvSpPr/>
          <p:nvPr/>
        </p:nvSpPr>
        <p:spPr>
          <a:xfrm>
            <a:off x="6217920" y="2157983"/>
            <a:ext cx="2606041" cy="438913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4" name="Text 27"/>
          <p:cNvSpPr txBox="1"/>
          <p:nvPr/>
        </p:nvSpPr>
        <p:spPr>
          <a:xfrm>
            <a:off x="6254496" y="2268220"/>
            <a:ext cx="2532889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36454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−Σa  πθ(a|st) log πθ(a|st)</a:t>
            </a:r>
          </a:p>
        </p:txBody>
      </p:sp>
      <p:sp>
        <p:nvSpPr>
          <p:cNvPr id="355" name="Text 28"/>
          <p:cNvSpPr txBox="1"/>
          <p:nvPr/>
        </p:nvSpPr>
        <p:spPr>
          <a:xfrm>
            <a:off x="6217920" y="2936748"/>
            <a:ext cx="260604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1C2B33"/>
                </a:solidFill>
              </a:defRPr>
            </a:lvl1pPr>
          </a:lstStyle>
          <a:p>
            <a:pPr/>
            <a:r>
              <a:t>Entropy of the policy at state st. Adding this discourages premature convergence to a deterministic policy and encourages exploration.</a:t>
            </a:r>
          </a:p>
        </p:txBody>
      </p:sp>
      <p:sp>
        <p:nvSpPr>
          <p:cNvPr id="356" name="Shape 29"/>
          <p:cNvSpPr/>
          <p:nvPr/>
        </p:nvSpPr>
        <p:spPr>
          <a:xfrm>
            <a:off x="274320" y="4736591"/>
            <a:ext cx="8595360" cy="384049"/>
          </a:xfrm>
          <a:prstGeom prst="rect">
            <a:avLst/>
          </a:prstGeom>
          <a:solidFill>
            <a:srgbClr val="FDF6DC"/>
          </a:solidFill>
          <a:ln w="12700">
            <a:solidFill>
              <a:srgbClr val="B886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7" name="Shape 30"/>
          <p:cNvSpPr/>
          <p:nvPr/>
        </p:nvSpPr>
        <p:spPr>
          <a:xfrm>
            <a:off x="274320" y="4736591"/>
            <a:ext cx="54865" cy="384049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8" name="Text 31"/>
          <p:cNvSpPr txBox="1"/>
          <p:nvPr/>
        </p:nvSpPr>
        <p:spPr>
          <a:xfrm>
            <a:off x="457199" y="4749545"/>
            <a:ext cx="8321042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1C2B33"/>
                </a:solidFill>
              </a:defRPr>
            </a:lvl1pPr>
          </a:lstStyle>
          <a:p>
            <a:pPr/>
            <a:r>
              <a:t>Shared parameters (actor-critic):  πθ and Vθ share a common feature extractor (MLP backbone) with separate output heads. This is computationally efficient and allows both to improve from the same rollout data. c₂ = 0 is standard for CartPole.</a:t>
            </a:r>
          </a:p>
        </p:txBody>
      </p:sp>
      <p:sp>
        <p:nvSpPr>
          <p:cNvPr id="359" name="Text 32"/>
          <p:cNvSpPr txBox="1"/>
          <p:nvPr/>
        </p:nvSpPr>
        <p:spPr>
          <a:xfrm>
            <a:off x="0" y="4917694"/>
            <a:ext cx="9144000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6B7C85"/>
                </a:solidFill>
              </a:defRPr>
            </a:lvl1pPr>
          </a:lstStyle>
          <a:p>
            <a:pPr/>
            <a:r>
              <a:t>From Conway to LangGraph  ·  Università di Bologna  ·  Week 6  ·  §6 Full Objective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A6EA5"/>
          </a:solidFill>
          <a:ln w="1270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2" name="Text 1"/>
          <p:cNvSpPr txBox="1"/>
          <p:nvPr/>
        </p:nvSpPr>
        <p:spPr>
          <a:xfrm>
            <a:off x="548640" y="657411"/>
            <a:ext cx="1828801" cy="605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600">
                <a:solidFill>
                  <a:srgbClr val="3A6EA5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§7</a:t>
            </a:r>
          </a:p>
        </p:txBody>
      </p:sp>
      <p:sp>
        <p:nvSpPr>
          <p:cNvPr id="363" name="Text 2"/>
          <p:cNvSpPr txBox="1"/>
          <p:nvPr/>
        </p:nvSpPr>
        <p:spPr>
          <a:xfrm>
            <a:off x="548640" y="1553873"/>
            <a:ext cx="8046719" cy="4584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Advantage Estimation and GAE</a:t>
            </a:r>
          </a:p>
        </p:txBody>
      </p:sp>
      <p:sp>
        <p:nvSpPr>
          <p:cNvPr id="364" name="Text 3"/>
          <p:cNvSpPr txBox="1"/>
          <p:nvPr/>
        </p:nvSpPr>
        <p:spPr>
          <a:xfrm>
            <a:off x="548640" y="2425699"/>
            <a:ext cx="8046719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200">
                <a:solidFill>
                  <a:srgbClr val="8BAFC4"/>
                </a:solidFill>
              </a:defRPr>
            </a:lvl1pPr>
          </a:lstStyle>
          <a:p>
            <a:pPr/>
            <a:r>
              <a:t>Generalised Advantage Estimation — bias/variance tradeoff</a:t>
            </a:r>
          </a:p>
        </p:txBody>
      </p:sp>
      <p:sp>
        <p:nvSpPr>
          <p:cNvPr id="365" name="Text 4"/>
          <p:cNvSpPr txBox="1"/>
          <p:nvPr/>
        </p:nvSpPr>
        <p:spPr>
          <a:xfrm>
            <a:off x="0" y="4917694"/>
            <a:ext cx="9144000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4A6880"/>
                </a:solidFill>
              </a:defRPr>
            </a:lvl1pPr>
          </a:lstStyle>
          <a:p>
            <a:pPr/>
            <a:r>
              <a:t>From Conway to LangGraph  ·  Università di Bologna  ·  Week 6  ·  PPO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Shape 0"/>
          <p:cNvSpPr/>
          <p:nvPr/>
        </p:nvSpPr>
        <p:spPr>
          <a:xfrm>
            <a:off x="0" y="-1"/>
            <a:ext cx="9144000" cy="74981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8" name="Text 1"/>
          <p:cNvSpPr txBox="1"/>
          <p:nvPr/>
        </p:nvSpPr>
        <p:spPr>
          <a:xfrm>
            <a:off x="301751" y="240329"/>
            <a:ext cx="6583682" cy="269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9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§7 — Generalised Advantage Estimation (GAE)</a:t>
            </a:r>
          </a:p>
        </p:txBody>
      </p:sp>
      <p:sp>
        <p:nvSpPr>
          <p:cNvPr id="369" name="Text 2"/>
          <p:cNvSpPr txBox="1"/>
          <p:nvPr/>
        </p:nvSpPr>
        <p:spPr>
          <a:xfrm>
            <a:off x="6903719" y="311404"/>
            <a:ext cx="21031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ABBC3"/>
                </a:solidFill>
              </a:defRPr>
            </a:lvl1pPr>
          </a:lstStyle>
          <a:p>
            <a:pPr/>
            <a:r>
              <a:t>Schulman et al., ICLR 2016</a:t>
            </a:r>
          </a:p>
        </p:txBody>
      </p:sp>
      <p:sp>
        <p:nvSpPr>
          <p:cNvPr id="370" name="Text 3"/>
          <p:cNvSpPr txBox="1"/>
          <p:nvPr/>
        </p:nvSpPr>
        <p:spPr>
          <a:xfrm>
            <a:off x="274320" y="868599"/>
            <a:ext cx="8229601" cy="237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The Bias–Variance Tradeoff in Advantage Estimation</a:t>
            </a:r>
          </a:p>
        </p:txBody>
      </p:sp>
      <p:sp>
        <p:nvSpPr>
          <p:cNvPr id="371" name="Shape 4"/>
          <p:cNvSpPr/>
          <p:nvPr/>
        </p:nvSpPr>
        <p:spPr>
          <a:xfrm>
            <a:off x="274320" y="1161288"/>
            <a:ext cx="1920240" cy="256033"/>
          </a:xfrm>
          <a:prstGeom prst="rect">
            <a:avLst/>
          </a:prstGeom>
          <a:solidFill>
            <a:srgbClr val="36454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2" name="Text 5"/>
          <p:cNvSpPr txBox="1"/>
          <p:nvPr/>
        </p:nvSpPr>
        <p:spPr>
          <a:xfrm>
            <a:off x="329184" y="1225804"/>
            <a:ext cx="181051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Estimator</a:t>
            </a:r>
          </a:p>
        </p:txBody>
      </p:sp>
      <p:sp>
        <p:nvSpPr>
          <p:cNvPr id="373" name="Shape 6"/>
          <p:cNvSpPr/>
          <p:nvPr/>
        </p:nvSpPr>
        <p:spPr>
          <a:xfrm>
            <a:off x="2194560" y="1161288"/>
            <a:ext cx="4114801" cy="256033"/>
          </a:xfrm>
          <a:prstGeom prst="rect">
            <a:avLst/>
          </a:prstGeom>
          <a:solidFill>
            <a:srgbClr val="36454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4" name="Text 7"/>
          <p:cNvSpPr txBox="1"/>
          <p:nvPr/>
        </p:nvSpPr>
        <p:spPr>
          <a:xfrm>
            <a:off x="2249423" y="1225804"/>
            <a:ext cx="4005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Formula</a:t>
            </a:r>
          </a:p>
        </p:txBody>
      </p:sp>
      <p:sp>
        <p:nvSpPr>
          <p:cNvPr id="375" name="Shape 8"/>
          <p:cNvSpPr/>
          <p:nvPr/>
        </p:nvSpPr>
        <p:spPr>
          <a:xfrm>
            <a:off x="6309359" y="1161288"/>
            <a:ext cx="1463041" cy="256033"/>
          </a:xfrm>
          <a:prstGeom prst="rect">
            <a:avLst/>
          </a:prstGeom>
          <a:solidFill>
            <a:srgbClr val="36454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6" name="Text 9"/>
          <p:cNvSpPr txBox="1"/>
          <p:nvPr/>
        </p:nvSpPr>
        <p:spPr>
          <a:xfrm>
            <a:off x="6364223" y="1225804"/>
            <a:ext cx="135331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Bias</a:t>
            </a:r>
          </a:p>
        </p:txBody>
      </p:sp>
      <p:sp>
        <p:nvSpPr>
          <p:cNvPr id="377" name="Shape 10"/>
          <p:cNvSpPr/>
          <p:nvPr/>
        </p:nvSpPr>
        <p:spPr>
          <a:xfrm>
            <a:off x="7772399" y="1161288"/>
            <a:ext cx="1463042" cy="256033"/>
          </a:xfrm>
          <a:prstGeom prst="rect">
            <a:avLst/>
          </a:prstGeom>
          <a:solidFill>
            <a:srgbClr val="36454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8" name="Text 11"/>
          <p:cNvSpPr txBox="1"/>
          <p:nvPr/>
        </p:nvSpPr>
        <p:spPr>
          <a:xfrm>
            <a:off x="7827264" y="1225804"/>
            <a:ext cx="135331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Variance</a:t>
            </a:r>
          </a:p>
        </p:txBody>
      </p:sp>
      <p:sp>
        <p:nvSpPr>
          <p:cNvPr id="379" name="Shape 12"/>
          <p:cNvSpPr/>
          <p:nvPr/>
        </p:nvSpPr>
        <p:spPr>
          <a:xfrm>
            <a:off x="274320" y="1453896"/>
            <a:ext cx="1920240" cy="320041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0" name="Text 13"/>
          <p:cNvSpPr txBox="1"/>
          <p:nvPr/>
        </p:nvSpPr>
        <p:spPr>
          <a:xfrm>
            <a:off x="329184" y="1504696"/>
            <a:ext cx="181051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Monte Carlo</a:t>
            </a:r>
          </a:p>
        </p:txBody>
      </p:sp>
      <p:sp>
        <p:nvSpPr>
          <p:cNvPr id="381" name="Shape 14"/>
          <p:cNvSpPr/>
          <p:nvPr/>
        </p:nvSpPr>
        <p:spPr>
          <a:xfrm>
            <a:off x="2194560" y="1453896"/>
            <a:ext cx="4114801" cy="320041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2" name="Text 15"/>
          <p:cNvSpPr txBox="1"/>
          <p:nvPr/>
        </p:nvSpPr>
        <p:spPr>
          <a:xfrm>
            <a:off x="2249423" y="1504696"/>
            <a:ext cx="400507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Ât^MC = Gt − Vθ(st)</a:t>
            </a:r>
          </a:p>
        </p:txBody>
      </p:sp>
      <p:sp>
        <p:nvSpPr>
          <p:cNvPr id="383" name="Shape 16"/>
          <p:cNvSpPr/>
          <p:nvPr/>
        </p:nvSpPr>
        <p:spPr>
          <a:xfrm>
            <a:off x="6309359" y="1453896"/>
            <a:ext cx="1463041" cy="320041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4" name="Text 17"/>
          <p:cNvSpPr txBox="1"/>
          <p:nvPr/>
        </p:nvSpPr>
        <p:spPr>
          <a:xfrm>
            <a:off x="6364223" y="1504696"/>
            <a:ext cx="135331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Zero (exact)</a:t>
            </a:r>
          </a:p>
        </p:txBody>
      </p:sp>
      <p:sp>
        <p:nvSpPr>
          <p:cNvPr id="385" name="Shape 18"/>
          <p:cNvSpPr/>
          <p:nvPr/>
        </p:nvSpPr>
        <p:spPr>
          <a:xfrm>
            <a:off x="7772399" y="1453896"/>
            <a:ext cx="1463042" cy="320041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6" name="Text 19"/>
          <p:cNvSpPr txBox="1"/>
          <p:nvPr/>
        </p:nvSpPr>
        <p:spPr>
          <a:xfrm>
            <a:off x="7827264" y="1441196"/>
            <a:ext cx="1353313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Very high (sum of many r.v.)</a:t>
            </a:r>
          </a:p>
        </p:txBody>
      </p:sp>
      <p:sp>
        <p:nvSpPr>
          <p:cNvPr id="387" name="Shape 20"/>
          <p:cNvSpPr/>
          <p:nvPr/>
        </p:nvSpPr>
        <p:spPr>
          <a:xfrm>
            <a:off x="274320" y="1801367"/>
            <a:ext cx="1920240" cy="320041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8" name="Text 21"/>
          <p:cNvSpPr txBox="1"/>
          <p:nvPr/>
        </p:nvSpPr>
        <p:spPr>
          <a:xfrm>
            <a:off x="329184" y="1852168"/>
            <a:ext cx="181051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1-step TD</a:t>
            </a:r>
          </a:p>
        </p:txBody>
      </p:sp>
      <p:sp>
        <p:nvSpPr>
          <p:cNvPr id="389" name="Shape 22"/>
          <p:cNvSpPr/>
          <p:nvPr/>
        </p:nvSpPr>
        <p:spPr>
          <a:xfrm>
            <a:off x="2194560" y="1801367"/>
            <a:ext cx="4114801" cy="320041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0" name="Text 23"/>
          <p:cNvSpPr txBox="1"/>
          <p:nvPr/>
        </p:nvSpPr>
        <p:spPr>
          <a:xfrm>
            <a:off x="2249423" y="1852168"/>
            <a:ext cx="400507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Ât^(1) = rt + γ V(st+1) − V(st)</a:t>
            </a:r>
          </a:p>
        </p:txBody>
      </p:sp>
      <p:sp>
        <p:nvSpPr>
          <p:cNvPr id="391" name="Shape 24"/>
          <p:cNvSpPr/>
          <p:nvPr/>
        </p:nvSpPr>
        <p:spPr>
          <a:xfrm>
            <a:off x="6309359" y="1801367"/>
            <a:ext cx="1463041" cy="320041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2" name="Text 25"/>
          <p:cNvSpPr txBox="1"/>
          <p:nvPr/>
        </p:nvSpPr>
        <p:spPr>
          <a:xfrm>
            <a:off x="6364223" y="1852168"/>
            <a:ext cx="135331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Depends on V accuracy</a:t>
            </a:r>
          </a:p>
        </p:txBody>
      </p:sp>
      <p:sp>
        <p:nvSpPr>
          <p:cNvPr id="393" name="Shape 26"/>
          <p:cNvSpPr/>
          <p:nvPr/>
        </p:nvSpPr>
        <p:spPr>
          <a:xfrm>
            <a:off x="7772399" y="1801367"/>
            <a:ext cx="1463042" cy="320041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4" name="Text 27"/>
          <p:cNvSpPr txBox="1"/>
          <p:nvPr/>
        </p:nvSpPr>
        <p:spPr>
          <a:xfrm>
            <a:off x="7827264" y="1852168"/>
            <a:ext cx="135331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Low (one reward only)</a:t>
            </a:r>
          </a:p>
        </p:txBody>
      </p:sp>
      <p:sp>
        <p:nvSpPr>
          <p:cNvPr id="395" name="Shape 28"/>
          <p:cNvSpPr/>
          <p:nvPr/>
        </p:nvSpPr>
        <p:spPr>
          <a:xfrm>
            <a:off x="274320" y="2148839"/>
            <a:ext cx="1920240" cy="320041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6" name="Text 29"/>
          <p:cNvSpPr txBox="1"/>
          <p:nvPr/>
        </p:nvSpPr>
        <p:spPr>
          <a:xfrm>
            <a:off x="329184" y="2199640"/>
            <a:ext cx="181051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k-step TD</a:t>
            </a:r>
          </a:p>
        </p:txBody>
      </p:sp>
      <p:sp>
        <p:nvSpPr>
          <p:cNvPr id="397" name="Shape 30"/>
          <p:cNvSpPr/>
          <p:nvPr/>
        </p:nvSpPr>
        <p:spPr>
          <a:xfrm>
            <a:off x="2194560" y="2148839"/>
            <a:ext cx="4114801" cy="320041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8" name="Text 31"/>
          <p:cNvSpPr txBox="1"/>
          <p:nvPr/>
        </p:nvSpPr>
        <p:spPr>
          <a:xfrm>
            <a:off x="2249423" y="2199640"/>
            <a:ext cx="400507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Ât^(k) = Σl&lt;k γl rt+l + γk V(st+k) − V(st)</a:t>
            </a:r>
          </a:p>
        </p:txBody>
      </p:sp>
      <p:sp>
        <p:nvSpPr>
          <p:cNvPr id="399" name="Shape 32"/>
          <p:cNvSpPr/>
          <p:nvPr/>
        </p:nvSpPr>
        <p:spPr>
          <a:xfrm>
            <a:off x="6309359" y="2148839"/>
            <a:ext cx="1463041" cy="320041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0" name="Text 33"/>
          <p:cNvSpPr txBox="1"/>
          <p:nvPr/>
        </p:nvSpPr>
        <p:spPr>
          <a:xfrm>
            <a:off x="6364223" y="2199640"/>
            <a:ext cx="135331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Intermediate</a:t>
            </a:r>
          </a:p>
        </p:txBody>
      </p:sp>
      <p:sp>
        <p:nvSpPr>
          <p:cNvPr id="401" name="Shape 34"/>
          <p:cNvSpPr/>
          <p:nvPr/>
        </p:nvSpPr>
        <p:spPr>
          <a:xfrm>
            <a:off x="7772399" y="2148839"/>
            <a:ext cx="1463042" cy="320041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2" name="Text 35"/>
          <p:cNvSpPr txBox="1"/>
          <p:nvPr/>
        </p:nvSpPr>
        <p:spPr>
          <a:xfrm>
            <a:off x="7827264" y="2199640"/>
            <a:ext cx="135331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Intermediate</a:t>
            </a:r>
          </a:p>
        </p:txBody>
      </p:sp>
      <p:sp>
        <p:nvSpPr>
          <p:cNvPr id="403" name="Shape 36"/>
          <p:cNvSpPr/>
          <p:nvPr/>
        </p:nvSpPr>
        <p:spPr>
          <a:xfrm>
            <a:off x="274320" y="2496311"/>
            <a:ext cx="1920240" cy="320041"/>
          </a:xfrm>
          <a:prstGeom prst="rect">
            <a:avLst/>
          </a:prstGeom>
          <a:solidFill>
            <a:srgbClr val="FDF6DC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4" name="Text 37"/>
          <p:cNvSpPr txBox="1"/>
          <p:nvPr/>
        </p:nvSpPr>
        <p:spPr>
          <a:xfrm>
            <a:off x="329184" y="2547112"/>
            <a:ext cx="181051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800">
                <a:solidFill>
                  <a:srgbClr val="B8860B"/>
                </a:solidFill>
              </a:defRPr>
            </a:lvl1pPr>
          </a:lstStyle>
          <a:p>
            <a:pPr/>
            <a:r>
              <a:t>GAE(λ)</a:t>
            </a:r>
          </a:p>
        </p:txBody>
      </p:sp>
      <p:sp>
        <p:nvSpPr>
          <p:cNvPr id="405" name="Shape 38"/>
          <p:cNvSpPr/>
          <p:nvPr/>
        </p:nvSpPr>
        <p:spPr>
          <a:xfrm>
            <a:off x="2194560" y="2496311"/>
            <a:ext cx="4114801" cy="320041"/>
          </a:xfrm>
          <a:prstGeom prst="rect">
            <a:avLst/>
          </a:prstGeom>
          <a:solidFill>
            <a:srgbClr val="FDF6DC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6" name="Text 39"/>
          <p:cNvSpPr txBox="1"/>
          <p:nvPr/>
        </p:nvSpPr>
        <p:spPr>
          <a:xfrm>
            <a:off x="2249423" y="2547112"/>
            <a:ext cx="400507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B8860B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Exponential blend of all k-step estimates</a:t>
            </a:r>
          </a:p>
        </p:txBody>
      </p:sp>
      <p:sp>
        <p:nvSpPr>
          <p:cNvPr id="407" name="Shape 40"/>
          <p:cNvSpPr/>
          <p:nvPr/>
        </p:nvSpPr>
        <p:spPr>
          <a:xfrm>
            <a:off x="6309359" y="2496311"/>
            <a:ext cx="1463041" cy="320041"/>
          </a:xfrm>
          <a:prstGeom prst="rect">
            <a:avLst/>
          </a:prstGeom>
          <a:solidFill>
            <a:srgbClr val="FDF6DC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8" name="Text 41"/>
          <p:cNvSpPr txBox="1"/>
          <p:nvPr/>
        </p:nvSpPr>
        <p:spPr>
          <a:xfrm>
            <a:off x="6364223" y="2547112"/>
            <a:ext cx="135331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B8860B"/>
                </a:solidFill>
              </a:defRPr>
            </a:lvl1pPr>
          </a:lstStyle>
          <a:p>
            <a:pPr/>
            <a:r>
              <a:t>Controlled by λ</a:t>
            </a:r>
          </a:p>
        </p:txBody>
      </p:sp>
      <p:sp>
        <p:nvSpPr>
          <p:cNvPr id="409" name="Shape 42"/>
          <p:cNvSpPr/>
          <p:nvPr/>
        </p:nvSpPr>
        <p:spPr>
          <a:xfrm>
            <a:off x="7772399" y="2496311"/>
            <a:ext cx="1463042" cy="320041"/>
          </a:xfrm>
          <a:prstGeom prst="rect">
            <a:avLst/>
          </a:prstGeom>
          <a:solidFill>
            <a:srgbClr val="FDF6DC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0" name="Text 43"/>
          <p:cNvSpPr txBox="1"/>
          <p:nvPr/>
        </p:nvSpPr>
        <p:spPr>
          <a:xfrm>
            <a:off x="7827264" y="2547112"/>
            <a:ext cx="135331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B8860B"/>
                </a:solidFill>
              </a:defRPr>
            </a:lvl1pPr>
          </a:lstStyle>
          <a:p>
            <a:pPr/>
            <a:r>
              <a:t>Controlled by λ</a:t>
            </a:r>
          </a:p>
        </p:txBody>
      </p:sp>
      <p:sp>
        <p:nvSpPr>
          <p:cNvPr id="411" name="Text 44"/>
          <p:cNvSpPr txBox="1"/>
          <p:nvPr/>
        </p:nvSpPr>
        <p:spPr>
          <a:xfrm>
            <a:off x="274320" y="2916855"/>
            <a:ext cx="8229601" cy="237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C2B33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GAE Definition</a:t>
            </a:r>
          </a:p>
        </p:txBody>
      </p:sp>
      <p:sp>
        <p:nvSpPr>
          <p:cNvPr id="412" name="Shape 45"/>
          <p:cNvSpPr/>
          <p:nvPr/>
        </p:nvSpPr>
        <p:spPr>
          <a:xfrm>
            <a:off x="274320" y="3200399"/>
            <a:ext cx="8595360" cy="493778"/>
          </a:xfrm>
          <a:prstGeom prst="rect">
            <a:avLst/>
          </a:prstGeom>
          <a:solidFill>
            <a:srgbClr val="E8F0F8"/>
          </a:solidFill>
          <a:ln w="1905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3" name="Text 46"/>
          <p:cNvSpPr txBox="1"/>
          <p:nvPr/>
        </p:nvSpPr>
        <p:spPr>
          <a:xfrm>
            <a:off x="384047" y="3309157"/>
            <a:ext cx="8321042" cy="2579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36454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Ât^GAE(γ,λ)  =  Σl≥0 (γλ)^l  δt+l     where     δt = rt + γ Vθ(st+1) − Vθ(st)</a:t>
            </a:r>
          </a:p>
        </p:txBody>
      </p:sp>
      <p:sp>
        <p:nvSpPr>
          <p:cNvPr id="414" name="Shape 47"/>
          <p:cNvSpPr/>
          <p:nvPr/>
        </p:nvSpPr>
        <p:spPr>
          <a:xfrm>
            <a:off x="274319" y="3785615"/>
            <a:ext cx="2788922" cy="969265"/>
          </a:xfrm>
          <a:prstGeom prst="rect">
            <a:avLst/>
          </a:prstGeom>
          <a:solidFill>
            <a:srgbClr val="E8F0F8"/>
          </a:solidFill>
          <a:ln w="1524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5" name="Shape 48"/>
          <p:cNvSpPr/>
          <p:nvPr/>
        </p:nvSpPr>
        <p:spPr>
          <a:xfrm>
            <a:off x="274319" y="3785615"/>
            <a:ext cx="2788922" cy="237744"/>
          </a:xfrm>
          <a:prstGeom prst="rect">
            <a:avLst/>
          </a:prstGeom>
          <a:solidFill>
            <a:srgbClr val="3A6EA5"/>
          </a:solidFill>
          <a:ln w="1270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6" name="Text 49"/>
          <p:cNvSpPr txBox="1"/>
          <p:nvPr/>
        </p:nvSpPr>
        <p:spPr>
          <a:xfrm>
            <a:off x="365760" y="3828287"/>
            <a:ext cx="260604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λ = 0</a:t>
            </a:r>
          </a:p>
        </p:txBody>
      </p:sp>
      <p:sp>
        <p:nvSpPr>
          <p:cNvPr id="417" name="Text 50"/>
          <p:cNvSpPr txBox="1"/>
          <p:nvPr/>
        </p:nvSpPr>
        <p:spPr>
          <a:xfrm>
            <a:off x="365760" y="4152899"/>
            <a:ext cx="2606040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800">
                <a:solidFill>
                  <a:srgbClr val="1C2B33"/>
                </a:solidFill>
              </a:defRPr>
            </a:pPr>
            <a:r>
              <a:t>Ât = δt  =  rt + γV(st+1) − V(st)</a:t>
            </a:r>
          </a:p>
          <a:p>
            <a:pPr>
              <a:defRPr sz="800">
                <a:solidFill>
                  <a:srgbClr val="1C2B33"/>
                </a:solidFill>
              </a:defRPr>
            </a:pPr>
            <a:r>
              <a:t>1-step TD error — low variance, high bias (depends entirely on accuracy of Vθ)</a:t>
            </a:r>
          </a:p>
        </p:txBody>
      </p:sp>
      <p:sp>
        <p:nvSpPr>
          <p:cNvPr id="418" name="Shape 51"/>
          <p:cNvSpPr/>
          <p:nvPr/>
        </p:nvSpPr>
        <p:spPr>
          <a:xfrm>
            <a:off x="3200399" y="3785615"/>
            <a:ext cx="2788922" cy="969265"/>
          </a:xfrm>
          <a:prstGeom prst="rect">
            <a:avLst/>
          </a:prstGeom>
          <a:solidFill>
            <a:srgbClr val="E8F4EC"/>
          </a:solidFill>
          <a:ln w="15240">
            <a:solidFill>
              <a:srgbClr val="2E6B3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9" name="Shape 52"/>
          <p:cNvSpPr/>
          <p:nvPr/>
        </p:nvSpPr>
        <p:spPr>
          <a:xfrm>
            <a:off x="3200399" y="3785615"/>
            <a:ext cx="2788922" cy="237744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0" name="Text 53"/>
          <p:cNvSpPr txBox="1"/>
          <p:nvPr/>
        </p:nvSpPr>
        <p:spPr>
          <a:xfrm>
            <a:off x="3291840" y="3828287"/>
            <a:ext cx="260604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λ = 1</a:t>
            </a:r>
          </a:p>
        </p:txBody>
      </p:sp>
      <p:sp>
        <p:nvSpPr>
          <p:cNvPr id="421" name="Text 54"/>
          <p:cNvSpPr txBox="1"/>
          <p:nvPr/>
        </p:nvSpPr>
        <p:spPr>
          <a:xfrm>
            <a:off x="3291840" y="4152899"/>
            <a:ext cx="260604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800">
                <a:solidFill>
                  <a:srgbClr val="1C2B33"/>
                </a:solidFill>
              </a:defRPr>
            </a:pPr>
            <a:r>
              <a:t>Ât = Σl≥0 γl δt+l  =  Gt − Vθ(st)</a:t>
            </a:r>
          </a:p>
          <a:p>
            <a:pPr>
              <a:defRPr sz="800">
                <a:solidFill>
                  <a:srgbClr val="1C2B33"/>
                </a:solidFill>
              </a:defRPr>
            </a:pPr>
            <a:r>
              <a:t>Full Monte Carlo advantage — zero bias, maximum variance</a:t>
            </a:r>
          </a:p>
        </p:txBody>
      </p:sp>
      <p:sp>
        <p:nvSpPr>
          <p:cNvPr id="422" name="Shape 55"/>
          <p:cNvSpPr/>
          <p:nvPr/>
        </p:nvSpPr>
        <p:spPr>
          <a:xfrm>
            <a:off x="6126479" y="3785615"/>
            <a:ext cx="2788921" cy="969265"/>
          </a:xfrm>
          <a:prstGeom prst="rect">
            <a:avLst/>
          </a:prstGeom>
          <a:solidFill>
            <a:srgbClr val="FDF6DC"/>
          </a:solidFill>
          <a:ln w="15240">
            <a:solidFill>
              <a:srgbClr val="B886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3" name="Shape 56"/>
          <p:cNvSpPr/>
          <p:nvPr/>
        </p:nvSpPr>
        <p:spPr>
          <a:xfrm>
            <a:off x="6126479" y="3785615"/>
            <a:ext cx="2788921" cy="23774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4" name="Text 57"/>
          <p:cNvSpPr txBox="1"/>
          <p:nvPr/>
        </p:nvSpPr>
        <p:spPr>
          <a:xfrm>
            <a:off x="6217920" y="3828287"/>
            <a:ext cx="260604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λ = 0.95</a:t>
            </a:r>
          </a:p>
        </p:txBody>
      </p:sp>
      <p:sp>
        <p:nvSpPr>
          <p:cNvPr id="425" name="Text 58"/>
          <p:cNvSpPr txBox="1"/>
          <p:nvPr/>
        </p:nvSpPr>
        <p:spPr>
          <a:xfrm>
            <a:off x="6217920" y="4152899"/>
            <a:ext cx="260604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800">
                <a:solidFill>
                  <a:srgbClr val="1C2B33"/>
                </a:solidFill>
              </a:defRPr>
            </a:pPr>
            <a:r>
              <a:t>PPO default:  gentle exponential average</a:t>
            </a:r>
          </a:p>
          <a:p>
            <a:pPr>
              <a:defRPr sz="800">
                <a:solidFill>
                  <a:srgbClr val="1C2B33"/>
                </a:solidFill>
              </a:defRPr>
            </a:pPr>
            <a:r>
              <a:t>keeps variance low while accepting small bias from the value function error</a:t>
            </a:r>
          </a:p>
        </p:txBody>
      </p:sp>
      <p:sp>
        <p:nvSpPr>
          <p:cNvPr id="426" name="Shape 59"/>
          <p:cNvSpPr/>
          <p:nvPr/>
        </p:nvSpPr>
        <p:spPr>
          <a:xfrm>
            <a:off x="274320" y="4828032"/>
            <a:ext cx="8595360" cy="274321"/>
          </a:xfrm>
          <a:prstGeom prst="rect">
            <a:avLst/>
          </a:prstGeom>
          <a:solidFill>
            <a:srgbClr val="E8F4EC"/>
          </a:solidFill>
          <a:ln w="10160">
            <a:solidFill>
              <a:srgbClr val="2E6B3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7" name="Shape 60"/>
          <p:cNvSpPr/>
          <p:nvPr/>
        </p:nvSpPr>
        <p:spPr>
          <a:xfrm>
            <a:off x="274320" y="4828032"/>
            <a:ext cx="54865" cy="274321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8" name="Text 61"/>
          <p:cNvSpPr txBox="1"/>
          <p:nvPr/>
        </p:nvSpPr>
        <p:spPr>
          <a:xfrm>
            <a:off x="457200" y="4767071"/>
            <a:ext cx="8229600" cy="396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Physics analogy — GAE ↔ Exponential moving average in signal processing.  Each δt+l is a noisy one-step signal; weights (γλ)^l suppress variance at the cost of lag. λ plays the role of the correlation length.</a:t>
            </a:r>
          </a:p>
        </p:txBody>
      </p:sp>
      <p:sp>
        <p:nvSpPr>
          <p:cNvPr id="429" name="Text 62"/>
          <p:cNvSpPr txBox="1"/>
          <p:nvPr/>
        </p:nvSpPr>
        <p:spPr>
          <a:xfrm>
            <a:off x="0" y="4917694"/>
            <a:ext cx="9144000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6B7C85"/>
                </a:solidFill>
              </a:defRPr>
            </a:lvl1pPr>
          </a:lstStyle>
          <a:p>
            <a:pPr/>
            <a:r>
              <a:t>From Conway to LangGraph  ·  Università di Bologna  ·  Week 6  ·  §7 GAE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A6EA5"/>
          </a:solidFill>
          <a:ln w="1270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2" name="Text 1"/>
          <p:cNvSpPr txBox="1"/>
          <p:nvPr/>
        </p:nvSpPr>
        <p:spPr>
          <a:xfrm>
            <a:off x="548640" y="657411"/>
            <a:ext cx="1828801" cy="605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600">
                <a:solidFill>
                  <a:srgbClr val="3A6EA5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§8</a:t>
            </a:r>
          </a:p>
        </p:txBody>
      </p:sp>
      <p:sp>
        <p:nvSpPr>
          <p:cNvPr id="433" name="Text 2"/>
          <p:cNvSpPr txBox="1"/>
          <p:nvPr/>
        </p:nvSpPr>
        <p:spPr>
          <a:xfrm>
            <a:off x="548640" y="1553873"/>
            <a:ext cx="8046719" cy="4584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The Complete PPO Algorithm</a:t>
            </a:r>
          </a:p>
        </p:txBody>
      </p:sp>
      <p:sp>
        <p:nvSpPr>
          <p:cNvPr id="434" name="Text 3"/>
          <p:cNvSpPr txBox="1"/>
          <p:nvPr/>
        </p:nvSpPr>
        <p:spPr>
          <a:xfrm>
            <a:off x="548640" y="2425699"/>
            <a:ext cx="8046719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200">
                <a:solidFill>
                  <a:srgbClr val="8BAFC4"/>
                </a:solidFill>
              </a:defRPr>
            </a:lvl1pPr>
          </a:lstStyle>
          <a:p>
            <a:pPr/>
            <a:r>
              <a:t>Actor-Critic with GAE — full pseudocode</a:t>
            </a:r>
          </a:p>
        </p:txBody>
      </p:sp>
      <p:sp>
        <p:nvSpPr>
          <p:cNvPr id="435" name="Text 4"/>
          <p:cNvSpPr txBox="1"/>
          <p:nvPr/>
        </p:nvSpPr>
        <p:spPr>
          <a:xfrm>
            <a:off x="0" y="4917694"/>
            <a:ext cx="9144000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4A6880"/>
                </a:solidFill>
              </a:defRPr>
            </a:lvl1pPr>
          </a:lstStyle>
          <a:p>
            <a:pPr/>
            <a:r>
              <a:t>From Conway to LangGraph  ·  Università di Bologna  ·  Week 6  ·  PPO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Shape 0"/>
          <p:cNvSpPr/>
          <p:nvPr/>
        </p:nvSpPr>
        <p:spPr>
          <a:xfrm>
            <a:off x="0" y="-1"/>
            <a:ext cx="9144000" cy="74981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8" name="Text 1"/>
          <p:cNvSpPr txBox="1"/>
          <p:nvPr/>
        </p:nvSpPr>
        <p:spPr>
          <a:xfrm>
            <a:off x="301752" y="240329"/>
            <a:ext cx="8503920" cy="269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9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§8 — PPO Algorithm (Actor-Critic + GAE)</a:t>
            </a:r>
          </a:p>
        </p:txBody>
      </p:sp>
      <p:sp>
        <p:nvSpPr>
          <p:cNvPr id="439" name="Shape 2"/>
          <p:cNvSpPr/>
          <p:nvPr/>
        </p:nvSpPr>
        <p:spPr>
          <a:xfrm>
            <a:off x="274320" y="868679"/>
            <a:ext cx="5486401" cy="4224530"/>
          </a:xfrm>
          <a:prstGeom prst="rect">
            <a:avLst/>
          </a:prstGeom>
          <a:solidFill>
            <a:srgbClr val="F0F4F6"/>
          </a:solidFill>
          <a:ln w="1270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0" name="Shape 3"/>
          <p:cNvSpPr/>
          <p:nvPr/>
        </p:nvSpPr>
        <p:spPr>
          <a:xfrm>
            <a:off x="274320" y="868680"/>
            <a:ext cx="5486401" cy="237744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1" name="Text 4"/>
          <p:cNvSpPr txBox="1"/>
          <p:nvPr/>
        </p:nvSpPr>
        <p:spPr>
          <a:xfrm>
            <a:off x="384047" y="924051"/>
            <a:ext cx="2743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8BAFC4"/>
                </a:solidFill>
              </a:defRPr>
            </a:lvl1pPr>
          </a:lstStyle>
          <a:p>
            <a:pPr/>
            <a:r>
              <a:t>PPO Pseudocode</a:t>
            </a:r>
          </a:p>
        </p:txBody>
      </p:sp>
      <p:sp>
        <p:nvSpPr>
          <p:cNvPr id="442" name="Text 5"/>
          <p:cNvSpPr txBox="1"/>
          <p:nvPr/>
        </p:nvSpPr>
        <p:spPr>
          <a:xfrm>
            <a:off x="411480" y="1175512"/>
            <a:ext cx="52120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36454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Input: πθ (actor), Vθ (critic), γ, λ, ε, K, M, T</a:t>
            </a:r>
          </a:p>
        </p:txBody>
      </p:sp>
      <p:sp>
        <p:nvSpPr>
          <p:cNvPr id="443" name="Text 7"/>
          <p:cNvSpPr txBox="1"/>
          <p:nvPr/>
        </p:nvSpPr>
        <p:spPr>
          <a:xfrm>
            <a:off x="411480" y="1533956"/>
            <a:ext cx="52120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36454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Repeat until convergence:</a:t>
            </a:r>
          </a:p>
        </p:txBody>
      </p:sp>
      <p:sp>
        <p:nvSpPr>
          <p:cNvPr id="444" name="Text 8"/>
          <p:cNvSpPr txBox="1"/>
          <p:nvPr/>
        </p:nvSpPr>
        <p:spPr>
          <a:xfrm>
            <a:off x="685799" y="1713179"/>
            <a:ext cx="4937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2E3D4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1. Collect T-step rollout with πθold</a:t>
            </a:r>
          </a:p>
        </p:txBody>
      </p:sp>
      <p:sp>
        <p:nvSpPr>
          <p:cNvPr id="445" name="Text 9"/>
          <p:cNvSpPr txBox="1"/>
          <p:nvPr/>
        </p:nvSpPr>
        <p:spPr>
          <a:xfrm>
            <a:off x="914400" y="1892401"/>
            <a:ext cx="47091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2E3D4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   store {st, at, rt, st+1}</a:t>
            </a:r>
          </a:p>
        </p:txBody>
      </p:sp>
      <p:sp>
        <p:nvSpPr>
          <p:cNvPr id="446" name="Text 10"/>
          <p:cNvSpPr txBox="1"/>
          <p:nvPr/>
        </p:nvSpPr>
        <p:spPr>
          <a:xfrm>
            <a:off x="685799" y="2071623"/>
            <a:ext cx="4937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2E3D4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2. Compute δt = rt + γVθ(st+1) − Vθ(st)</a:t>
            </a:r>
          </a:p>
        </p:txBody>
      </p:sp>
      <p:sp>
        <p:nvSpPr>
          <p:cNvPr id="447" name="Text 11"/>
          <p:cNvSpPr txBox="1"/>
          <p:nvPr/>
        </p:nvSpPr>
        <p:spPr>
          <a:xfrm>
            <a:off x="685799" y="2250845"/>
            <a:ext cx="4937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2E3D4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3. GAE:  Ât = Σl≥0 (γλ)^l δt+l</a:t>
            </a:r>
          </a:p>
        </p:txBody>
      </p:sp>
      <p:sp>
        <p:nvSpPr>
          <p:cNvPr id="448" name="Text 12"/>
          <p:cNvSpPr txBox="1"/>
          <p:nvPr/>
        </p:nvSpPr>
        <p:spPr>
          <a:xfrm>
            <a:off x="685799" y="2430068"/>
            <a:ext cx="4937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2E3D4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4. Targets: V^targ_t = Ât + Vθold(st)</a:t>
            </a:r>
          </a:p>
        </p:txBody>
      </p:sp>
      <p:sp>
        <p:nvSpPr>
          <p:cNvPr id="449" name="Text 13"/>
          <p:cNvSpPr txBox="1"/>
          <p:nvPr/>
        </p:nvSpPr>
        <p:spPr>
          <a:xfrm>
            <a:off x="685799" y="2609290"/>
            <a:ext cx="4937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2E3D4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5. Normalise: Ât ← (Ât − μ) / σ</a:t>
            </a:r>
          </a:p>
        </p:txBody>
      </p:sp>
      <p:sp>
        <p:nvSpPr>
          <p:cNvPr id="450" name="Text 14"/>
          <p:cNvSpPr txBox="1"/>
          <p:nvPr/>
        </p:nvSpPr>
        <p:spPr>
          <a:xfrm>
            <a:off x="685799" y="2788513"/>
            <a:ext cx="4937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2E3D4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6. Set θold ← θ</a:t>
            </a:r>
          </a:p>
        </p:txBody>
      </p:sp>
      <p:sp>
        <p:nvSpPr>
          <p:cNvPr id="451" name="Text 16"/>
          <p:cNvSpPr txBox="1"/>
          <p:nvPr/>
        </p:nvSpPr>
        <p:spPr>
          <a:xfrm>
            <a:off x="685799" y="3146957"/>
            <a:ext cx="4937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2E3D4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7. For epoch k = 1, ..., K:</a:t>
            </a:r>
          </a:p>
        </p:txBody>
      </p:sp>
      <p:sp>
        <p:nvSpPr>
          <p:cNvPr id="452" name="Text 17"/>
          <p:cNvSpPr txBox="1"/>
          <p:nvPr/>
        </p:nvSpPr>
        <p:spPr>
          <a:xfrm>
            <a:off x="914400" y="3326181"/>
            <a:ext cx="47091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2E3D4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  For mini-batch B (size M) from rollout:</a:t>
            </a:r>
          </a:p>
        </p:txBody>
      </p:sp>
      <p:sp>
        <p:nvSpPr>
          <p:cNvPr id="453" name="Text 18"/>
          <p:cNvSpPr txBox="1"/>
          <p:nvPr/>
        </p:nvSpPr>
        <p:spPr>
          <a:xfrm>
            <a:off x="914400" y="3505403"/>
            <a:ext cx="47091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2E3D4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    rt(θ) = πθ(at|st) / πθold(at|st)</a:t>
            </a:r>
          </a:p>
        </p:txBody>
      </p:sp>
      <p:sp>
        <p:nvSpPr>
          <p:cNvPr id="454" name="Text 19"/>
          <p:cNvSpPr txBox="1"/>
          <p:nvPr/>
        </p:nvSpPr>
        <p:spPr>
          <a:xfrm>
            <a:off x="914400" y="3684625"/>
            <a:ext cx="47091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2E3D4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    L^CLIP = Et[min(rt Ât, clip(rt,1−ε,1+ε)Ât)]</a:t>
            </a:r>
          </a:p>
        </p:txBody>
      </p:sp>
      <p:sp>
        <p:nvSpPr>
          <p:cNvPr id="455" name="Text 20"/>
          <p:cNvSpPr txBox="1"/>
          <p:nvPr/>
        </p:nvSpPr>
        <p:spPr>
          <a:xfrm>
            <a:off x="914400" y="3863847"/>
            <a:ext cx="47091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2E3D4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    L^VF = Et[(Vθ(st) − V^targ_t)²]</a:t>
            </a:r>
          </a:p>
        </p:txBody>
      </p:sp>
      <p:sp>
        <p:nvSpPr>
          <p:cNvPr id="456" name="Text 21"/>
          <p:cNvSpPr txBox="1"/>
          <p:nvPr/>
        </p:nvSpPr>
        <p:spPr>
          <a:xfrm>
            <a:off x="914400" y="4043069"/>
            <a:ext cx="47091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2E3D4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    L = L^CLIP − c₁L^VF + c₂H[πθ]</a:t>
            </a:r>
          </a:p>
        </p:txBody>
      </p:sp>
      <p:sp>
        <p:nvSpPr>
          <p:cNvPr id="457" name="Text 22"/>
          <p:cNvSpPr txBox="1"/>
          <p:nvPr/>
        </p:nvSpPr>
        <p:spPr>
          <a:xfrm>
            <a:off x="914400" y="4222293"/>
            <a:ext cx="47091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2E3D4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    θ ← θ + α ∇θ L   (Adam)</a:t>
            </a:r>
          </a:p>
        </p:txBody>
      </p:sp>
      <p:sp>
        <p:nvSpPr>
          <p:cNvPr id="458" name="Shape 23"/>
          <p:cNvSpPr/>
          <p:nvPr/>
        </p:nvSpPr>
        <p:spPr>
          <a:xfrm>
            <a:off x="5943599" y="868680"/>
            <a:ext cx="2926082" cy="987553"/>
          </a:xfrm>
          <a:prstGeom prst="rect">
            <a:avLst/>
          </a:prstGeom>
          <a:solidFill>
            <a:srgbClr val="F0F2F4"/>
          </a:solidFill>
          <a:ln w="12700">
            <a:solidFill>
              <a:srgbClr val="3645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9" name="Shape 24"/>
          <p:cNvSpPr/>
          <p:nvPr/>
        </p:nvSpPr>
        <p:spPr>
          <a:xfrm>
            <a:off x="5943599" y="868680"/>
            <a:ext cx="2926082" cy="219457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0" name="Text 25"/>
          <p:cNvSpPr txBox="1"/>
          <p:nvPr/>
        </p:nvSpPr>
        <p:spPr>
          <a:xfrm>
            <a:off x="6035040" y="914908"/>
            <a:ext cx="2743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Data collection</a:t>
            </a:r>
          </a:p>
        </p:txBody>
      </p:sp>
      <p:sp>
        <p:nvSpPr>
          <p:cNvPr id="461" name="Text 26"/>
          <p:cNvSpPr txBox="1"/>
          <p:nvPr/>
        </p:nvSpPr>
        <p:spPr>
          <a:xfrm>
            <a:off x="6035040" y="1299463"/>
            <a:ext cx="274320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T steps with the current policy.  T = n_steps (default 2048).  Store full trajectories for GAE computation.</a:t>
            </a:r>
          </a:p>
        </p:txBody>
      </p:sp>
      <p:sp>
        <p:nvSpPr>
          <p:cNvPr id="462" name="Shape 27"/>
          <p:cNvSpPr/>
          <p:nvPr/>
        </p:nvSpPr>
        <p:spPr>
          <a:xfrm>
            <a:off x="5943599" y="1911095"/>
            <a:ext cx="2926082" cy="987553"/>
          </a:xfrm>
          <a:prstGeom prst="rect">
            <a:avLst/>
          </a:prstGeom>
          <a:solidFill>
            <a:srgbClr val="E8F0F8"/>
          </a:solidFill>
          <a:ln w="1270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3" name="Shape 28"/>
          <p:cNvSpPr/>
          <p:nvPr/>
        </p:nvSpPr>
        <p:spPr>
          <a:xfrm>
            <a:off x="5943599" y="1911095"/>
            <a:ext cx="2926082" cy="219457"/>
          </a:xfrm>
          <a:prstGeom prst="rect">
            <a:avLst/>
          </a:prstGeom>
          <a:solidFill>
            <a:srgbClr val="3A6EA5"/>
          </a:solidFill>
          <a:ln w="1270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4" name="Text 29"/>
          <p:cNvSpPr txBox="1"/>
          <p:nvPr/>
        </p:nvSpPr>
        <p:spPr>
          <a:xfrm>
            <a:off x="6035040" y="1957323"/>
            <a:ext cx="2743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Advantage (step 3)</a:t>
            </a:r>
          </a:p>
        </p:txBody>
      </p:sp>
      <p:sp>
        <p:nvSpPr>
          <p:cNvPr id="465" name="Text 30"/>
          <p:cNvSpPr txBox="1"/>
          <p:nvPr/>
        </p:nvSpPr>
        <p:spPr>
          <a:xfrm>
            <a:off x="6035040" y="2341879"/>
            <a:ext cx="274320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GAE(γ,λ) — exponentially weighted TD residuals.  λ=0.95 balances bias and variance.</a:t>
            </a:r>
          </a:p>
        </p:txBody>
      </p:sp>
      <p:sp>
        <p:nvSpPr>
          <p:cNvPr id="466" name="Shape 31"/>
          <p:cNvSpPr/>
          <p:nvPr/>
        </p:nvSpPr>
        <p:spPr>
          <a:xfrm>
            <a:off x="5943599" y="2953511"/>
            <a:ext cx="2926082" cy="987553"/>
          </a:xfrm>
          <a:prstGeom prst="rect">
            <a:avLst/>
          </a:prstGeom>
          <a:solidFill>
            <a:srgbClr val="E8F4EC"/>
          </a:solidFill>
          <a:ln w="12700">
            <a:solidFill>
              <a:srgbClr val="2E6B3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7" name="Shape 32"/>
          <p:cNvSpPr/>
          <p:nvPr/>
        </p:nvSpPr>
        <p:spPr>
          <a:xfrm>
            <a:off x="5943599" y="2953511"/>
            <a:ext cx="2926082" cy="219457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8" name="Text 33"/>
          <p:cNvSpPr txBox="1"/>
          <p:nvPr/>
        </p:nvSpPr>
        <p:spPr>
          <a:xfrm>
            <a:off x="6035040" y="2999739"/>
            <a:ext cx="2743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Data reuse (step 7)</a:t>
            </a:r>
          </a:p>
        </p:txBody>
      </p:sp>
      <p:sp>
        <p:nvSpPr>
          <p:cNvPr id="469" name="Text 34"/>
          <p:cNvSpPr txBox="1"/>
          <p:nvPr/>
        </p:nvSpPr>
        <p:spPr>
          <a:xfrm>
            <a:off x="6035040" y="3384296"/>
            <a:ext cx="274320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K = n_epochs = 10 SGD passes over the same rollout.  This is what makes PPO sample-efficient vs A2C (K=1).</a:t>
            </a:r>
          </a:p>
        </p:txBody>
      </p:sp>
      <p:sp>
        <p:nvSpPr>
          <p:cNvPr id="470" name="Shape 35"/>
          <p:cNvSpPr/>
          <p:nvPr/>
        </p:nvSpPr>
        <p:spPr>
          <a:xfrm>
            <a:off x="5943599" y="3995928"/>
            <a:ext cx="2926082" cy="987553"/>
          </a:xfrm>
          <a:prstGeom prst="rect">
            <a:avLst/>
          </a:prstGeom>
          <a:solidFill>
            <a:srgbClr val="FDF6DC"/>
          </a:solidFill>
          <a:ln w="12700">
            <a:solidFill>
              <a:srgbClr val="B886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1" name="Shape 36"/>
          <p:cNvSpPr/>
          <p:nvPr/>
        </p:nvSpPr>
        <p:spPr>
          <a:xfrm>
            <a:off x="5943599" y="3995928"/>
            <a:ext cx="2926082" cy="219457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2" name="Text 37"/>
          <p:cNvSpPr txBox="1"/>
          <p:nvPr/>
        </p:nvSpPr>
        <p:spPr>
          <a:xfrm>
            <a:off x="6035040" y="4042156"/>
            <a:ext cx="2743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Shared network</a:t>
            </a:r>
          </a:p>
        </p:txBody>
      </p:sp>
      <p:sp>
        <p:nvSpPr>
          <p:cNvPr id="473" name="Text 38"/>
          <p:cNvSpPr txBox="1"/>
          <p:nvPr/>
        </p:nvSpPr>
        <p:spPr>
          <a:xfrm>
            <a:off x="6035040" y="4426711"/>
            <a:ext cx="274320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Actor πθ and critic Vθ share a common MLP backbone.  Both improve from the same batch.</a:t>
            </a:r>
          </a:p>
        </p:txBody>
      </p:sp>
      <p:sp>
        <p:nvSpPr>
          <p:cNvPr id="474" name="Shape 39"/>
          <p:cNvSpPr/>
          <p:nvPr/>
        </p:nvSpPr>
        <p:spPr>
          <a:xfrm>
            <a:off x="5943599" y="5047488"/>
            <a:ext cx="2926082" cy="329185"/>
          </a:xfrm>
          <a:prstGeom prst="rect">
            <a:avLst/>
          </a:prstGeom>
          <a:solidFill>
            <a:srgbClr val="F0F4F6"/>
          </a:solidFill>
          <a:ln w="1270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5" name="Text 40"/>
          <p:cNvSpPr txBox="1"/>
          <p:nvPr/>
        </p:nvSpPr>
        <p:spPr>
          <a:xfrm>
            <a:off x="6016752" y="5064760"/>
            <a:ext cx="2779777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700">
                <a:solidFill>
                  <a:srgbClr val="1C2B33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model = PPO('MlpPolicy', env, n_steps=2048, n_epochs=10, gamma=0.99, clip_range=0.2)</a:t>
            </a:r>
          </a:p>
        </p:txBody>
      </p:sp>
      <p:sp>
        <p:nvSpPr>
          <p:cNvPr id="476" name="Text 41"/>
          <p:cNvSpPr txBox="1"/>
          <p:nvPr/>
        </p:nvSpPr>
        <p:spPr>
          <a:xfrm>
            <a:off x="0" y="4917694"/>
            <a:ext cx="9144000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6B7C85"/>
                </a:solidFill>
              </a:defRPr>
            </a:lvl1pPr>
          </a:lstStyle>
          <a:p>
            <a:pPr/>
            <a:r>
              <a:t>From Conway to LangGraph  ·  Università di Bologna  ·  Week 6  ·  §8 Algorithm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A6EA5"/>
          </a:solidFill>
          <a:ln w="1270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9" name="Text 1"/>
          <p:cNvSpPr txBox="1"/>
          <p:nvPr/>
        </p:nvSpPr>
        <p:spPr>
          <a:xfrm>
            <a:off x="548640" y="657411"/>
            <a:ext cx="1828801" cy="605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600">
                <a:solidFill>
                  <a:srgbClr val="3A6EA5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§9</a:t>
            </a:r>
          </a:p>
        </p:txBody>
      </p:sp>
      <p:sp>
        <p:nvSpPr>
          <p:cNvPr id="480" name="Text 2"/>
          <p:cNvSpPr txBox="1"/>
          <p:nvPr/>
        </p:nvSpPr>
        <p:spPr>
          <a:xfrm>
            <a:off x="548640" y="1553873"/>
            <a:ext cx="8046719" cy="4584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Hyperparameters and Practical Guidance</a:t>
            </a:r>
          </a:p>
        </p:txBody>
      </p:sp>
      <p:sp>
        <p:nvSpPr>
          <p:cNvPr id="481" name="Text 3"/>
          <p:cNvSpPr txBox="1"/>
          <p:nvPr/>
        </p:nvSpPr>
        <p:spPr>
          <a:xfrm>
            <a:off x="548640" y="2425699"/>
            <a:ext cx="8046719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200">
                <a:solidFill>
                  <a:srgbClr val="8BAFC4"/>
                </a:solidFill>
              </a:defRPr>
            </a:lvl1pPr>
          </a:lstStyle>
          <a:p>
            <a:pPr/>
            <a:r>
              <a:t>What to set, what to watch, how to diagnose</a:t>
            </a:r>
          </a:p>
        </p:txBody>
      </p:sp>
      <p:sp>
        <p:nvSpPr>
          <p:cNvPr id="482" name="Text 4"/>
          <p:cNvSpPr txBox="1"/>
          <p:nvPr/>
        </p:nvSpPr>
        <p:spPr>
          <a:xfrm>
            <a:off x="0" y="4917694"/>
            <a:ext cx="9144000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4A6880"/>
                </a:solidFill>
              </a:defRPr>
            </a:lvl1pPr>
          </a:lstStyle>
          <a:p>
            <a:pPr/>
            <a:r>
              <a:t>From Conway to LangGraph  ·  Università di Bologna  ·  Week 6  ·  PPO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Shape 0"/>
          <p:cNvSpPr/>
          <p:nvPr/>
        </p:nvSpPr>
        <p:spPr>
          <a:xfrm>
            <a:off x="0" y="-1"/>
            <a:ext cx="9144000" cy="74981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85" name="Text 1"/>
          <p:cNvSpPr txBox="1"/>
          <p:nvPr/>
        </p:nvSpPr>
        <p:spPr>
          <a:xfrm>
            <a:off x="301751" y="240329"/>
            <a:ext cx="6583682" cy="269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9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§9 — Key Hyperparameters  (SB3 defaults)</a:t>
            </a:r>
          </a:p>
        </p:txBody>
      </p:sp>
      <p:sp>
        <p:nvSpPr>
          <p:cNvPr id="486" name="Text 2"/>
          <p:cNvSpPr txBox="1"/>
          <p:nvPr/>
        </p:nvSpPr>
        <p:spPr>
          <a:xfrm>
            <a:off x="6903719" y="311404"/>
            <a:ext cx="21031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ABBC3"/>
                </a:solidFill>
              </a:defRPr>
            </a:lvl1pPr>
          </a:lstStyle>
          <a:p>
            <a:pPr/>
            <a:r>
              <a:t>CartPole-v1</a:t>
            </a:r>
          </a:p>
        </p:txBody>
      </p:sp>
      <p:sp>
        <p:nvSpPr>
          <p:cNvPr id="487" name="Shape 3"/>
          <p:cNvSpPr/>
          <p:nvPr/>
        </p:nvSpPr>
        <p:spPr>
          <a:xfrm>
            <a:off x="274320" y="868680"/>
            <a:ext cx="1828801" cy="256033"/>
          </a:xfrm>
          <a:prstGeom prst="rect">
            <a:avLst/>
          </a:prstGeom>
          <a:solidFill>
            <a:srgbClr val="36454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88" name="Text 4"/>
          <p:cNvSpPr txBox="1"/>
          <p:nvPr/>
        </p:nvSpPr>
        <p:spPr>
          <a:xfrm>
            <a:off x="329183" y="933196"/>
            <a:ext cx="171907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Hyperparameter</a:t>
            </a:r>
          </a:p>
        </p:txBody>
      </p:sp>
      <p:sp>
        <p:nvSpPr>
          <p:cNvPr id="489" name="Shape 5"/>
          <p:cNvSpPr/>
          <p:nvPr/>
        </p:nvSpPr>
        <p:spPr>
          <a:xfrm>
            <a:off x="2103120" y="868680"/>
            <a:ext cx="1097281" cy="256033"/>
          </a:xfrm>
          <a:prstGeom prst="rect">
            <a:avLst/>
          </a:prstGeom>
          <a:solidFill>
            <a:srgbClr val="36454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0" name="Text 6"/>
          <p:cNvSpPr txBox="1"/>
          <p:nvPr/>
        </p:nvSpPr>
        <p:spPr>
          <a:xfrm>
            <a:off x="2157983" y="933196"/>
            <a:ext cx="98755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SB3 default</a:t>
            </a:r>
          </a:p>
        </p:txBody>
      </p:sp>
      <p:sp>
        <p:nvSpPr>
          <p:cNvPr id="491" name="Shape 7"/>
          <p:cNvSpPr/>
          <p:nvPr/>
        </p:nvSpPr>
        <p:spPr>
          <a:xfrm>
            <a:off x="3200400" y="868680"/>
            <a:ext cx="2377440" cy="256033"/>
          </a:xfrm>
          <a:prstGeom prst="rect">
            <a:avLst/>
          </a:prstGeom>
          <a:solidFill>
            <a:srgbClr val="36454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2" name="Text 8"/>
          <p:cNvSpPr txBox="1"/>
          <p:nvPr/>
        </p:nvSpPr>
        <p:spPr>
          <a:xfrm>
            <a:off x="3255264" y="933196"/>
            <a:ext cx="226771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Meaning</a:t>
            </a:r>
          </a:p>
        </p:txBody>
      </p:sp>
      <p:sp>
        <p:nvSpPr>
          <p:cNvPr id="493" name="Shape 9"/>
          <p:cNvSpPr/>
          <p:nvPr/>
        </p:nvSpPr>
        <p:spPr>
          <a:xfrm>
            <a:off x="5577840" y="868680"/>
            <a:ext cx="3657601" cy="256033"/>
          </a:xfrm>
          <a:prstGeom prst="rect">
            <a:avLst/>
          </a:prstGeom>
          <a:solidFill>
            <a:srgbClr val="36454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4" name="Text 10"/>
          <p:cNvSpPr txBox="1"/>
          <p:nvPr/>
        </p:nvSpPr>
        <p:spPr>
          <a:xfrm>
            <a:off x="5632703" y="933196"/>
            <a:ext cx="35478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Practical guidance</a:t>
            </a:r>
          </a:p>
        </p:txBody>
      </p:sp>
      <p:sp>
        <p:nvSpPr>
          <p:cNvPr id="495" name="Shape 11"/>
          <p:cNvSpPr/>
          <p:nvPr/>
        </p:nvSpPr>
        <p:spPr>
          <a:xfrm>
            <a:off x="274320" y="1161288"/>
            <a:ext cx="1828801" cy="338329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6" name="Text 12"/>
          <p:cNvSpPr txBox="1"/>
          <p:nvPr/>
        </p:nvSpPr>
        <p:spPr>
          <a:xfrm>
            <a:off x="329183" y="1214881"/>
            <a:ext cx="1719074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3A6EA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n_steps (T)</a:t>
            </a:r>
          </a:p>
        </p:txBody>
      </p:sp>
      <p:sp>
        <p:nvSpPr>
          <p:cNvPr id="497" name="Shape 13"/>
          <p:cNvSpPr/>
          <p:nvPr/>
        </p:nvSpPr>
        <p:spPr>
          <a:xfrm>
            <a:off x="2103120" y="1161288"/>
            <a:ext cx="1097281" cy="338329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8" name="Text 14"/>
          <p:cNvSpPr txBox="1"/>
          <p:nvPr/>
        </p:nvSpPr>
        <p:spPr>
          <a:xfrm>
            <a:off x="2157983" y="1221232"/>
            <a:ext cx="987553" cy="218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2048</a:t>
            </a:r>
          </a:p>
        </p:txBody>
      </p:sp>
      <p:sp>
        <p:nvSpPr>
          <p:cNvPr id="499" name="Shape 15"/>
          <p:cNvSpPr/>
          <p:nvPr/>
        </p:nvSpPr>
        <p:spPr>
          <a:xfrm>
            <a:off x="3200400" y="1161288"/>
            <a:ext cx="2377440" cy="338329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0" name="Text 16"/>
          <p:cNvSpPr txBox="1"/>
          <p:nvPr/>
        </p:nvSpPr>
        <p:spPr>
          <a:xfrm>
            <a:off x="3255264" y="1221232"/>
            <a:ext cx="2267713" cy="218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Rollout length per update</a:t>
            </a:r>
          </a:p>
        </p:txBody>
      </p:sp>
      <p:sp>
        <p:nvSpPr>
          <p:cNvPr id="501" name="Shape 17"/>
          <p:cNvSpPr/>
          <p:nvPr/>
        </p:nvSpPr>
        <p:spPr>
          <a:xfrm>
            <a:off x="5577840" y="1161288"/>
            <a:ext cx="3657601" cy="338329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2" name="Text 18"/>
          <p:cNvSpPr txBox="1"/>
          <p:nvPr/>
        </p:nvSpPr>
        <p:spPr>
          <a:xfrm>
            <a:off x="5632703" y="1220661"/>
            <a:ext cx="3547872" cy="219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Longer T → lower-variance gradient, more memory.  4096 smooths curves.</a:t>
            </a:r>
          </a:p>
        </p:txBody>
      </p:sp>
      <p:sp>
        <p:nvSpPr>
          <p:cNvPr id="503" name="Shape 19"/>
          <p:cNvSpPr/>
          <p:nvPr/>
        </p:nvSpPr>
        <p:spPr>
          <a:xfrm>
            <a:off x="274320" y="1527047"/>
            <a:ext cx="1828801" cy="338329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4" name="Text 20"/>
          <p:cNvSpPr txBox="1"/>
          <p:nvPr/>
        </p:nvSpPr>
        <p:spPr>
          <a:xfrm>
            <a:off x="329183" y="1580642"/>
            <a:ext cx="1719074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3A6EA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batch_size (M)</a:t>
            </a:r>
          </a:p>
        </p:txBody>
      </p:sp>
      <p:sp>
        <p:nvSpPr>
          <p:cNvPr id="505" name="Shape 21"/>
          <p:cNvSpPr/>
          <p:nvPr/>
        </p:nvSpPr>
        <p:spPr>
          <a:xfrm>
            <a:off x="2103120" y="1527047"/>
            <a:ext cx="1097281" cy="338329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6" name="Text 22"/>
          <p:cNvSpPr txBox="1"/>
          <p:nvPr/>
        </p:nvSpPr>
        <p:spPr>
          <a:xfrm>
            <a:off x="2157983" y="1586992"/>
            <a:ext cx="98755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64</a:t>
            </a:r>
          </a:p>
        </p:txBody>
      </p:sp>
      <p:sp>
        <p:nvSpPr>
          <p:cNvPr id="507" name="Shape 23"/>
          <p:cNvSpPr/>
          <p:nvPr/>
        </p:nvSpPr>
        <p:spPr>
          <a:xfrm>
            <a:off x="3200400" y="1527047"/>
            <a:ext cx="2377440" cy="338329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8" name="Text 24"/>
          <p:cNvSpPr txBox="1"/>
          <p:nvPr/>
        </p:nvSpPr>
        <p:spPr>
          <a:xfrm>
            <a:off x="3255264" y="1586992"/>
            <a:ext cx="226771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SGD mini-batch size</a:t>
            </a:r>
          </a:p>
        </p:txBody>
      </p:sp>
      <p:sp>
        <p:nvSpPr>
          <p:cNvPr id="509" name="Shape 25"/>
          <p:cNvSpPr/>
          <p:nvPr/>
        </p:nvSpPr>
        <p:spPr>
          <a:xfrm>
            <a:off x="5577840" y="1527047"/>
            <a:ext cx="3657601" cy="338329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0" name="Text 26"/>
          <p:cNvSpPr txBox="1"/>
          <p:nvPr/>
        </p:nvSpPr>
        <p:spPr>
          <a:xfrm>
            <a:off x="5632703" y="1586992"/>
            <a:ext cx="354787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Must divide n_steps.  Larger = more stable, slower per step.</a:t>
            </a:r>
          </a:p>
        </p:txBody>
      </p:sp>
      <p:sp>
        <p:nvSpPr>
          <p:cNvPr id="511" name="Shape 27"/>
          <p:cNvSpPr/>
          <p:nvPr/>
        </p:nvSpPr>
        <p:spPr>
          <a:xfrm>
            <a:off x="274320" y="1892807"/>
            <a:ext cx="1828801" cy="338329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2" name="Text 28"/>
          <p:cNvSpPr txBox="1"/>
          <p:nvPr/>
        </p:nvSpPr>
        <p:spPr>
          <a:xfrm>
            <a:off x="329183" y="1946401"/>
            <a:ext cx="1719074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3A6EA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n_epochs (K)</a:t>
            </a:r>
          </a:p>
        </p:txBody>
      </p:sp>
      <p:sp>
        <p:nvSpPr>
          <p:cNvPr id="513" name="Shape 29"/>
          <p:cNvSpPr/>
          <p:nvPr/>
        </p:nvSpPr>
        <p:spPr>
          <a:xfrm>
            <a:off x="2103120" y="1892807"/>
            <a:ext cx="1097281" cy="338329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4" name="Text 30"/>
          <p:cNvSpPr txBox="1"/>
          <p:nvPr/>
        </p:nvSpPr>
        <p:spPr>
          <a:xfrm>
            <a:off x="2157983" y="1952751"/>
            <a:ext cx="98755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515" name="Shape 31"/>
          <p:cNvSpPr/>
          <p:nvPr/>
        </p:nvSpPr>
        <p:spPr>
          <a:xfrm>
            <a:off x="3200400" y="1892807"/>
            <a:ext cx="2377440" cy="338329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6" name="Text 32"/>
          <p:cNvSpPr txBox="1"/>
          <p:nvPr/>
        </p:nvSpPr>
        <p:spPr>
          <a:xfrm>
            <a:off x="3255264" y="1952751"/>
            <a:ext cx="226771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SGD passes per rollout</a:t>
            </a:r>
          </a:p>
        </p:txBody>
      </p:sp>
      <p:sp>
        <p:nvSpPr>
          <p:cNvPr id="517" name="Shape 33"/>
          <p:cNvSpPr/>
          <p:nvPr/>
        </p:nvSpPr>
        <p:spPr>
          <a:xfrm>
            <a:off x="5577840" y="1892807"/>
            <a:ext cx="3657601" cy="338329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8" name="Text 34"/>
          <p:cNvSpPr txBox="1"/>
          <p:nvPr/>
        </p:nvSpPr>
        <p:spPr>
          <a:xfrm>
            <a:off x="5632703" y="1952751"/>
            <a:ext cx="354787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Increase to 15 for efficiency; &gt;20 violates importance-sampling validity.</a:t>
            </a:r>
          </a:p>
        </p:txBody>
      </p:sp>
      <p:sp>
        <p:nvSpPr>
          <p:cNvPr id="519" name="Shape 35"/>
          <p:cNvSpPr/>
          <p:nvPr/>
        </p:nvSpPr>
        <p:spPr>
          <a:xfrm>
            <a:off x="274320" y="2258567"/>
            <a:ext cx="1828801" cy="338329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20" name="Text 36"/>
          <p:cNvSpPr txBox="1"/>
          <p:nvPr/>
        </p:nvSpPr>
        <p:spPr>
          <a:xfrm>
            <a:off x="329183" y="2312162"/>
            <a:ext cx="1719074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3A6EA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gamma (γ)</a:t>
            </a:r>
          </a:p>
        </p:txBody>
      </p:sp>
      <p:sp>
        <p:nvSpPr>
          <p:cNvPr id="521" name="Shape 37"/>
          <p:cNvSpPr/>
          <p:nvPr/>
        </p:nvSpPr>
        <p:spPr>
          <a:xfrm>
            <a:off x="2103120" y="2258567"/>
            <a:ext cx="1097281" cy="338329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22" name="Text 38"/>
          <p:cNvSpPr txBox="1"/>
          <p:nvPr/>
        </p:nvSpPr>
        <p:spPr>
          <a:xfrm>
            <a:off x="2157983" y="2318512"/>
            <a:ext cx="98755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0.99</a:t>
            </a:r>
          </a:p>
        </p:txBody>
      </p:sp>
      <p:sp>
        <p:nvSpPr>
          <p:cNvPr id="523" name="Shape 39"/>
          <p:cNvSpPr/>
          <p:nvPr/>
        </p:nvSpPr>
        <p:spPr>
          <a:xfrm>
            <a:off x="3200400" y="2258567"/>
            <a:ext cx="2377440" cy="338329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24" name="Text 40"/>
          <p:cNvSpPr txBox="1"/>
          <p:nvPr/>
        </p:nvSpPr>
        <p:spPr>
          <a:xfrm>
            <a:off x="3255264" y="2318512"/>
            <a:ext cx="226771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Discount factor</a:t>
            </a:r>
          </a:p>
        </p:txBody>
      </p:sp>
      <p:sp>
        <p:nvSpPr>
          <p:cNvPr id="525" name="Shape 41"/>
          <p:cNvSpPr/>
          <p:nvPr/>
        </p:nvSpPr>
        <p:spPr>
          <a:xfrm>
            <a:off x="5577840" y="2258567"/>
            <a:ext cx="3657601" cy="338329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26" name="Text 42"/>
          <p:cNvSpPr txBox="1"/>
          <p:nvPr/>
        </p:nvSpPr>
        <p:spPr>
          <a:xfrm>
            <a:off x="5632703" y="2318512"/>
            <a:ext cx="354787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0.99 for long horizons (CartPole-500).  Lower for short episodes.</a:t>
            </a:r>
          </a:p>
        </p:txBody>
      </p:sp>
      <p:sp>
        <p:nvSpPr>
          <p:cNvPr id="527" name="Shape 43"/>
          <p:cNvSpPr/>
          <p:nvPr/>
        </p:nvSpPr>
        <p:spPr>
          <a:xfrm>
            <a:off x="274320" y="2624327"/>
            <a:ext cx="1828801" cy="338330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28" name="Text 44"/>
          <p:cNvSpPr txBox="1"/>
          <p:nvPr/>
        </p:nvSpPr>
        <p:spPr>
          <a:xfrm>
            <a:off x="329183" y="2677922"/>
            <a:ext cx="1719074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3A6EA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gae_lambda (λ)</a:t>
            </a:r>
          </a:p>
        </p:txBody>
      </p:sp>
      <p:sp>
        <p:nvSpPr>
          <p:cNvPr id="529" name="Shape 45"/>
          <p:cNvSpPr/>
          <p:nvPr/>
        </p:nvSpPr>
        <p:spPr>
          <a:xfrm>
            <a:off x="2103120" y="2624327"/>
            <a:ext cx="1097281" cy="338330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0" name="Text 46"/>
          <p:cNvSpPr txBox="1"/>
          <p:nvPr/>
        </p:nvSpPr>
        <p:spPr>
          <a:xfrm>
            <a:off x="2157983" y="2684272"/>
            <a:ext cx="98755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0.95</a:t>
            </a:r>
          </a:p>
        </p:txBody>
      </p:sp>
      <p:sp>
        <p:nvSpPr>
          <p:cNvPr id="531" name="Shape 47"/>
          <p:cNvSpPr/>
          <p:nvPr/>
        </p:nvSpPr>
        <p:spPr>
          <a:xfrm>
            <a:off x="3200400" y="2624327"/>
            <a:ext cx="2377440" cy="338330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2" name="Text 48"/>
          <p:cNvSpPr txBox="1"/>
          <p:nvPr/>
        </p:nvSpPr>
        <p:spPr>
          <a:xfrm>
            <a:off x="3255264" y="2684272"/>
            <a:ext cx="226771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GAE trace decay</a:t>
            </a:r>
          </a:p>
        </p:txBody>
      </p:sp>
      <p:sp>
        <p:nvSpPr>
          <p:cNvPr id="533" name="Shape 49"/>
          <p:cNvSpPr/>
          <p:nvPr/>
        </p:nvSpPr>
        <p:spPr>
          <a:xfrm>
            <a:off x="5577840" y="2624327"/>
            <a:ext cx="3657601" cy="338330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4" name="Text 50"/>
          <p:cNvSpPr txBox="1"/>
          <p:nvPr/>
        </p:nvSpPr>
        <p:spPr>
          <a:xfrm>
            <a:off x="5632703" y="2684272"/>
            <a:ext cx="354787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1.0 = Monte Carlo (max variance); 0 = 1-step TD (max bias).</a:t>
            </a:r>
          </a:p>
        </p:txBody>
      </p:sp>
      <p:sp>
        <p:nvSpPr>
          <p:cNvPr id="535" name="Shape 51"/>
          <p:cNvSpPr/>
          <p:nvPr/>
        </p:nvSpPr>
        <p:spPr>
          <a:xfrm>
            <a:off x="274320" y="2990088"/>
            <a:ext cx="1828801" cy="338329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6" name="Text 52"/>
          <p:cNvSpPr txBox="1"/>
          <p:nvPr/>
        </p:nvSpPr>
        <p:spPr>
          <a:xfrm>
            <a:off x="329183" y="3043682"/>
            <a:ext cx="1719074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3A6EA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clip_range (ε)</a:t>
            </a:r>
          </a:p>
        </p:txBody>
      </p:sp>
      <p:sp>
        <p:nvSpPr>
          <p:cNvPr id="537" name="Shape 53"/>
          <p:cNvSpPr/>
          <p:nvPr/>
        </p:nvSpPr>
        <p:spPr>
          <a:xfrm>
            <a:off x="2103120" y="2990088"/>
            <a:ext cx="1097281" cy="338329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8" name="Text 54"/>
          <p:cNvSpPr txBox="1"/>
          <p:nvPr/>
        </p:nvSpPr>
        <p:spPr>
          <a:xfrm>
            <a:off x="2157983" y="3050032"/>
            <a:ext cx="98755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0.2</a:t>
            </a:r>
          </a:p>
        </p:txBody>
      </p:sp>
      <p:sp>
        <p:nvSpPr>
          <p:cNvPr id="539" name="Shape 55"/>
          <p:cNvSpPr/>
          <p:nvPr/>
        </p:nvSpPr>
        <p:spPr>
          <a:xfrm>
            <a:off x="3200400" y="2990088"/>
            <a:ext cx="2377440" cy="338329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0" name="Text 56"/>
          <p:cNvSpPr txBox="1"/>
          <p:nvPr/>
        </p:nvSpPr>
        <p:spPr>
          <a:xfrm>
            <a:off x="3255264" y="3050032"/>
            <a:ext cx="226771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PPO clip threshold</a:t>
            </a:r>
          </a:p>
        </p:txBody>
      </p:sp>
      <p:sp>
        <p:nvSpPr>
          <p:cNvPr id="541" name="Shape 57"/>
          <p:cNvSpPr/>
          <p:nvPr/>
        </p:nvSpPr>
        <p:spPr>
          <a:xfrm>
            <a:off x="5577840" y="2990088"/>
            <a:ext cx="3657601" cy="338329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2" name="Text 58"/>
          <p:cNvSpPr txBox="1"/>
          <p:nvPr/>
        </p:nvSpPr>
        <p:spPr>
          <a:xfrm>
            <a:off x="5632703" y="3050032"/>
            <a:ext cx="354787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0.1–0.3.  Smaller = more conservative.  Rarely needs tuning.</a:t>
            </a:r>
          </a:p>
        </p:txBody>
      </p:sp>
      <p:sp>
        <p:nvSpPr>
          <p:cNvPr id="543" name="Shape 59"/>
          <p:cNvSpPr/>
          <p:nvPr/>
        </p:nvSpPr>
        <p:spPr>
          <a:xfrm>
            <a:off x="274320" y="3355847"/>
            <a:ext cx="1828801" cy="338329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4" name="Text 60"/>
          <p:cNvSpPr txBox="1"/>
          <p:nvPr/>
        </p:nvSpPr>
        <p:spPr>
          <a:xfrm>
            <a:off x="329183" y="3409441"/>
            <a:ext cx="1719074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3A6EA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ent_coef (c₂)</a:t>
            </a:r>
          </a:p>
        </p:txBody>
      </p:sp>
      <p:sp>
        <p:nvSpPr>
          <p:cNvPr id="545" name="Shape 61"/>
          <p:cNvSpPr/>
          <p:nvPr/>
        </p:nvSpPr>
        <p:spPr>
          <a:xfrm>
            <a:off x="2103120" y="3355847"/>
            <a:ext cx="1097281" cy="338329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6" name="Text 62"/>
          <p:cNvSpPr txBox="1"/>
          <p:nvPr/>
        </p:nvSpPr>
        <p:spPr>
          <a:xfrm>
            <a:off x="2157983" y="3415791"/>
            <a:ext cx="98755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0.0</a:t>
            </a:r>
          </a:p>
        </p:txBody>
      </p:sp>
      <p:sp>
        <p:nvSpPr>
          <p:cNvPr id="547" name="Shape 63"/>
          <p:cNvSpPr/>
          <p:nvPr/>
        </p:nvSpPr>
        <p:spPr>
          <a:xfrm>
            <a:off x="3200400" y="3355847"/>
            <a:ext cx="2377440" cy="338329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8" name="Text 64"/>
          <p:cNvSpPr txBox="1"/>
          <p:nvPr/>
        </p:nvSpPr>
        <p:spPr>
          <a:xfrm>
            <a:off x="3255264" y="3415791"/>
            <a:ext cx="226771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Entropy bonus weight</a:t>
            </a:r>
          </a:p>
        </p:txBody>
      </p:sp>
      <p:sp>
        <p:nvSpPr>
          <p:cNvPr id="549" name="Shape 65"/>
          <p:cNvSpPr/>
          <p:nvPr/>
        </p:nvSpPr>
        <p:spPr>
          <a:xfrm>
            <a:off x="5577840" y="3355847"/>
            <a:ext cx="3657601" cy="338329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0" name="Text 66"/>
          <p:cNvSpPr txBox="1"/>
          <p:nvPr/>
        </p:nvSpPr>
        <p:spPr>
          <a:xfrm>
            <a:off x="5632703" y="3415791"/>
            <a:ext cx="354787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0.01 helps sparse-reward tasks.  0 is correct for CartPole.</a:t>
            </a:r>
          </a:p>
        </p:txBody>
      </p:sp>
      <p:sp>
        <p:nvSpPr>
          <p:cNvPr id="551" name="Shape 67"/>
          <p:cNvSpPr/>
          <p:nvPr/>
        </p:nvSpPr>
        <p:spPr>
          <a:xfrm>
            <a:off x="274320" y="3721608"/>
            <a:ext cx="1828801" cy="338329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2" name="Text 68"/>
          <p:cNvSpPr txBox="1"/>
          <p:nvPr/>
        </p:nvSpPr>
        <p:spPr>
          <a:xfrm>
            <a:off x="329183" y="3775202"/>
            <a:ext cx="1719074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3A6EA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vf_coef (c₁)</a:t>
            </a:r>
          </a:p>
        </p:txBody>
      </p:sp>
      <p:sp>
        <p:nvSpPr>
          <p:cNvPr id="553" name="Shape 69"/>
          <p:cNvSpPr/>
          <p:nvPr/>
        </p:nvSpPr>
        <p:spPr>
          <a:xfrm>
            <a:off x="2103120" y="3721608"/>
            <a:ext cx="1097281" cy="338329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4" name="Text 70"/>
          <p:cNvSpPr txBox="1"/>
          <p:nvPr/>
        </p:nvSpPr>
        <p:spPr>
          <a:xfrm>
            <a:off x="2157983" y="3781552"/>
            <a:ext cx="98755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0.5</a:t>
            </a:r>
          </a:p>
        </p:txBody>
      </p:sp>
      <p:sp>
        <p:nvSpPr>
          <p:cNvPr id="555" name="Shape 71"/>
          <p:cNvSpPr/>
          <p:nvPr/>
        </p:nvSpPr>
        <p:spPr>
          <a:xfrm>
            <a:off x="3200400" y="3721608"/>
            <a:ext cx="2377440" cy="338329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6" name="Text 72"/>
          <p:cNvSpPr txBox="1"/>
          <p:nvPr/>
        </p:nvSpPr>
        <p:spPr>
          <a:xfrm>
            <a:off x="3255264" y="3781552"/>
            <a:ext cx="226771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Value function loss weight</a:t>
            </a:r>
          </a:p>
        </p:txBody>
      </p:sp>
      <p:sp>
        <p:nvSpPr>
          <p:cNvPr id="557" name="Shape 73"/>
          <p:cNvSpPr/>
          <p:nvPr/>
        </p:nvSpPr>
        <p:spPr>
          <a:xfrm>
            <a:off x="5577840" y="3721608"/>
            <a:ext cx="3657601" cy="338329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8" name="Text 74"/>
          <p:cNvSpPr txBox="1"/>
          <p:nvPr/>
        </p:nvSpPr>
        <p:spPr>
          <a:xfrm>
            <a:off x="5632703" y="3781552"/>
            <a:ext cx="354787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0.5 standard.  Increase if critic is consistently wrong.</a:t>
            </a:r>
          </a:p>
        </p:txBody>
      </p:sp>
      <p:sp>
        <p:nvSpPr>
          <p:cNvPr id="559" name="Shape 75"/>
          <p:cNvSpPr/>
          <p:nvPr/>
        </p:nvSpPr>
        <p:spPr>
          <a:xfrm>
            <a:off x="274320" y="4087367"/>
            <a:ext cx="1828801" cy="338329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0" name="Text 76"/>
          <p:cNvSpPr txBox="1"/>
          <p:nvPr/>
        </p:nvSpPr>
        <p:spPr>
          <a:xfrm>
            <a:off x="329183" y="4140962"/>
            <a:ext cx="1719074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3A6EA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learning_rate (α)</a:t>
            </a:r>
          </a:p>
        </p:txBody>
      </p:sp>
      <p:sp>
        <p:nvSpPr>
          <p:cNvPr id="561" name="Shape 77"/>
          <p:cNvSpPr/>
          <p:nvPr/>
        </p:nvSpPr>
        <p:spPr>
          <a:xfrm>
            <a:off x="2103120" y="4087367"/>
            <a:ext cx="1097281" cy="338329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2" name="Text 78"/>
          <p:cNvSpPr txBox="1"/>
          <p:nvPr/>
        </p:nvSpPr>
        <p:spPr>
          <a:xfrm>
            <a:off x="2157983" y="4147312"/>
            <a:ext cx="98755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3e-4</a:t>
            </a:r>
          </a:p>
        </p:txBody>
      </p:sp>
      <p:sp>
        <p:nvSpPr>
          <p:cNvPr id="563" name="Shape 79"/>
          <p:cNvSpPr/>
          <p:nvPr/>
        </p:nvSpPr>
        <p:spPr>
          <a:xfrm>
            <a:off x="3200400" y="4087367"/>
            <a:ext cx="2377440" cy="338329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4" name="Text 80"/>
          <p:cNvSpPr txBox="1"/>
          <p:nvPr/>
        </p:nvSpPr>
        <p:spPr>
          <a:xfrm>
            <a:off x="3255264" y="4147312"/>
            <a:ext cx="226771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Adam step size</a:t>
            </a:r>
          </a:p>
        </p:txBody>
      </p:sp>
      <p:sp>
        <p:nvSpPr>
          <p:cNvPr id="565" name="Shape 81"/>
          <p:cNvSpPr/>
          <p:nvPr/>
        </p:nvSpPr>
        <p:spPr>
          <a:xfrm>
            <a:off x="5577840" y="4087367"/>
            <a:ext cx="3657601" cy="338329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6" name="Text 82"/>
          <p:cNvSpPr txBox="1"/>
          <p:nvPr/>
        </p:nvSpPr>
        <p:spPr>
          <a:xfrm>
            <a:off x="5632703" y="4147312"/>
            <a:ext cx="354787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3e-4 is robust.  Can schedule linearly to 0 for fine-tuning.</a:t>
            </a:r>
          </a:p>
        </p:txBody>
      </p:sp>
      <p:sp>
        <p:nvSpPr>
          <p:cNvPr id="567" name="Shape 83"/>
          <p:cNvSpPr/>
          <p:nvPr/>
        </p:nvSpPr>
        <p:spPr>
          <a:xfrm>
            <a:off x="274320" y="4453128"/>
            <a:ext cx="1828801" cy="338329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8" name="Text 84"/>
          <p:cNvSpPr txBox="1"/>
          <p:nvPr/>
        </p:nvSpPr>
        <p:spPr>
          <a:xfrm>
            <a:off x="329183" y="4506721"/>
            <a:ext cx="1719074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3A6EA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max_grad_norm</a:t>
            </a:r>
          </a:p>
        </p:txBody>
      </p:sp>
      <p:sp>
        <p:nvSpPr>
          <p:cNvPr id="569" name="Shape 85"/>
          <p:cNvSpPr/>
          <p:nvPr/>
        </p:nvSpPr>
        <p:spPr>
          <a:xfrm>
            <a:off x="2103120" y="4453128"/>
            <a:ext cx="1097281" cy="338329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0" name="Text 86"/>
          <p:cNvSpPr txBox="1"/>
          <p:nvPr/>
        </p:nvSpPr>
        <p:spPr>
          <a:xfrm>
            <a:off x="2157983" y="4513071"/>
            <a:ext cx="98755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0.5</a:t>
            </a:r>
          </a:p>
        </p:txBody>
      </p:sp>
      <p:sp>
        <p:nvSpPr>
          <p:cNvPr id="571" name="Shape 87"/>
          <p:cNvSpPr/>
          <p:nvPr/>
        </p:nvSpPr>
        <p:spPr>
          <a:xfrm>
            <a:off x="3200400" y="4453128"/>
            <a:ext cx="2377440" cy="338329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2" name="Text 88"/>
          <p:cNvSpPr txBox="1"/>
          <p:nvPr/>
        </p:nvSpPr>
        <p:spPr>
          <a:xfrm>
            <a:off x="3255264" y="4513071"/>
            <a:ext cx="226771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Gradient clipping norm</a:t>
            </a:r>
          </a:p>
        </p:txBody>
      </p:sp>
      <p:sp>
        <p:nvSpPr>
          <p:cNvPr id="573" name="Shape 89"/>
          <p:cNvSpPr/>
          <p:nvPr/>
        </p:nvSpPr>
        <p:spPr>
          <a:xfrm>
            <a:off x="5577840" y="4453128"/>
            <a:ext cx="3657601" cy="338329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4" name="Text 90"/>
          <p:cNvSpPr txBox="1"/>
          <p:nvPr/>
        </p:nvSpPr>
        <p:spPr>
          <a:xfrm>
            <a:off x="5632703" y="4513071"/>
            <a:ext cx="354787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Prevents exploding gradients.  Keep at 0.5.</a:t>
            </a:r>
          </a:p>
        </p:txBody>
      </p:sp>
      <p:sp>
        <p:nvSpPr>
          <p:cNvPr id="575" name="Shape 91"/>
          <p:cNvSpPr/>
          <p:nvPr/>
        </p:nvSpPr>
        <p:spPr>
          <a:xfrm>
            <a:off x="274320" y="4846320"/>
            <a:ext cx="8595360" cy="274321"/>
          </a:xfrm>
          <a:prstGeom prst="rect">
            <a:avLst/>
          </a:prstGeom>
          <a:solidFill>
            <a:srgbClr val="FCEEF0"/>
          </a:solidFill>
          <a:ln w="10160">
            <a:solidFill>
              <a:srgbClr val="9B233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6" name="Text 92"/>
          <p:cNvSpPr txBox="1"/>
          <p:nvPr/>
        </p:nvSpPr>
        <p:spPr>
          <a:xfrm>
            <a:off x="384047" y="4809619"/>
            <a:ext cx="8321042" cy="3477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9B2335"/>
                </a:solidFill>
              </a:defRPr>
            </a:lvl1pPr>
          </a:lstStyle>
          <a:p>
            <a:pPr/>
            <a:r>
              <a:t>Common issue:  reward plateau early → increase ent_coef, reduce clip_range  ·  reward oscillates → reduce n_epochs to 5  ·  slow initial learning → reduce n_steps  ·  value loss diverges → reduce vf_coef</a:t>
            </a:r>
          </a:p>
        </p:txBody>
      </p:sp>
      <p:sp>
        <p:nvSpPr>
          <p:cNvPr id="577" name="Text 93"/>
          <p:cNvSpPr txBox="1"/>
          <p:nvPr/>
        </p:nvSpPr>
        <p:spPr>
          <a:xfrm>
            <a:off x="0" y="4917694"/>
            <a:ext cx="9144000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6B7C85"/>
                </a:solidFill>
              </a:defRPr>
            </a:lvl1pPr>
          </a:lstStyle>
          <a:p>
            <a:pPr/>
            <a:r>
              <a:t>From Conway to LangGraph  ·  Università di Bologna  ·  Week 6  ·  §9 Hyperparameters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A6EA5"/>
          </a:solidFill>
          <a:ln w="1270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0" name="Text 1"/>
          <p:cNvSpPr txBox="1"/>
          <p:nvPr/>
        </p:nvSpPr>
        <p:spPr>
          <a:xfrm>
            <a:off x="548640" y="657411"/>
            <a:ext cx="1828801" cy="605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600">
                <a:solidFill>
                  <a:srgbClr val="3A6EA5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§10</a:t>
            </a:r>
          </a:p>
        </p:txBody>
      </p:sp>
      <p:sp>
        <p:nvSpPr>
          <p:cNvPr id="581" name="Text 2"/>
          <p:cNvSpPr txBox="1"/>
          <p:nvPr/>
        </p:nvSpPr>
        <p:spPr>
          <a:xfrm>
            <a:off x="548640" y="1553873"/>
            <a:ext cx="8046719" cy="4584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Physics Analogies — A Summary</a:t>
            </a:r>
          </a:p>
        </p:txBody>
      </p:sp>
      <p:sp>
        <p:nvSpPr>
          <p:cNvPr id="582" name="Text 3"/>
          <p:cNvSpPr txBox="1"/>
          <p:nvPr/>
        </p:nvSpPr>
        <p:spPr>
          <a:xfrm>
            <a:off x="548640" y="2425699"/>
            <a:ext cx="8046719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200">
                <a:solidFill>
                  <a:srgbClr val="8BAFC4"/>
                </a:solidFill>
              </a:defRPr>
            </a:lvl1pPr>
          </a:lstStyle>
          <a:p>
            <a:pPr/>
            <a:r>
              <a:t>Every PPO concept mapped to a physics counterpart</a:t>
            </a:r>
          </a:p>
        </p:txBody>
      </p:sp>
      <p:sp>
        <p:nvSpPr>
          <p:cNvPr id="583" name="Text 4"/>
          <p:cNvSpPr txBox="1"/>
          <p:nvPr/>
        </p:nvSpPr>
        <p:spPr>
          <a:xfrm>
            <a:off x="0" y="4917694"/>
            <a:ext cx="9144000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4A6880"/>
                </a:solidFill>
              </a:defRPr>
            </a:lvl1pPr>
          </a:lstStyle>
          <a:p>
            <a:pPr/>
            <a:r>
              <a:t>From Conway to LangGraph  ·  Università di Bologna  ·  Week 6  ·  PPO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Shape 0"/>
          <p:cNvSpPr/>
          <p:nvPr/>
        </p:nvSpPr>
        <p:spPr>
          <a:xfrm>
            <a:off x="0" y="-1"/>
            <a:ext cx="9144000" cy="74981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6" name="Text 1"/>
          <p:cNvSpPr txBox="1"/>
          <p:nvPr/>
        </p:nvSpPr>
        <p:spPr>
          <a:xfrm>
            <a:off x="301752" y="240329"/>
            <a:ext cx="8503920" cy="269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9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§10 — Physics Analogies Summary Table</a:t>
            </a:r>
          </a:p>
        </p:txBody>
      </p:sp>
      <p:sp>
        <p:nvSpPr>
          <p:cNvPr id="587" name="Shape 2"/>
          <p:cNvSpPr/>
          <p:nvPr/>
        </p:nvSpPr>
        <p:spPr>
          <a:xfrm>
            <a:off x="274319" y="841247"/>
            <a:ext cx="2468882" cy="256033"/>
          </a:xfrm>
          <a:prstGeom prst="rect">
            <a:avLst/>
          </a:prstGeom>
          <a:solidFill>
            <a:srgbClr val="36454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8" name="Text 3"/>
          <p:cNvSpPr txBox="1"/>
          <p:nvPr/>
        </p:nvSpPr>
        <p:spPr>
          <a:xfrm>
            <a:off x="329183" y="905763"/>
            <a:ext cx="235915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RL / PPO concept</a:t>
            </a:r>
          </a:p>
        </p:txBody>
      </p:sp>
      <p:sp>
        <p:nvSpPr>
          <p:cNvPr id="589" name="Shape 4"/>
          <p:cNvSpPr/>
          <p:nvPr/>
        </p:nvSpPr>
        <p:spPr>
          <a:xfrm>
            <a:off x="2743199" y="841247"/>
            <a:ext cx="2468882" cy="256033"/>
          </a:xfrm>
          <a:prstGeom prst="rect">
            <a:avLst/>
          </a:prstGeom>
          <a:solidFill>
            <a:srgbClr val="36454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0" name="Text 5"/>
          <p:cNvSpPr txBox="1"/>
          <p:nvPr/>
        </p:nvSpPr>
        <p:spPr>
          <a:xfrm>
            <a:off x="2798064" y="905763"/>
            <a:ext cx="235915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Physics analogue</a:t>
            </a:r>
          </a:p>
        </p:txBody>
      </p:sp>
      <p:sp>
        <p:nvSpPr>
          <p:cNvPr id="591" name="Shape 6"/>
          <p:cNvSpPr/>
          <p:nvPr/>
        </p:nvSpPr>
        <p:spPr>
          <a:xfrm>
            <a:off x="5212079" y="841247"/>
            <a:ext cx="4023360" cy="256033"/>
          </a:xfrm>
          <a:prstGeom prst="rect">
            <a:avLst/>
          </a:prstGeom>
          <a:solidFill>
            <a:srgbClr val="36454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2" name="Text 7"/>
          <p:cNvSpPr txBox="1"/>
          <p:nvPr/>
        </p:nvSpPr>
        <p:spPr>
          <a:xfrm>
            <a:off x="5266943" y="905763"/>
            <a:ext cx="39136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Formal link</a:t>
            </a:r>
          </a:p>
        </p:txBody>
      </p:sp>
      <p:sp>
        <p:nvSpPr>
          <p:cNvPr id="593" name="Shape 8"/>
          <p:cNvSpPr/>
          <p:nvPr/>
        </p:nvSpPr>
        <p:spPr>
          <a:xfrm>
            <a:off x="274319" y="1133855"/>
            <a:ext cx="2468882" cy="356617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4" name="Text 9"/>
          <p:cNvSpPr txBox="1"/>
          <p:nvPr/>
        </p:nvSpPr>
        <p:spPr>
          <a:xfrm>
            <a:off x="329183" y="1202944"/>
            <a:ext cx="2359154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800">
                <a:solidFill>
                  <a:srgbClr val="3A6EA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Policy  πθ(a|s)</a:t>
            </a:r>
          </a:p>
        </p:txBody>
      </p:sp>
      <p:sp>
        <p:nvSpPr>
          <p:cNvPr id="595" name="Shape 10"/>
          <p:cNvSpPr/>
          <p:nvPr/>
        </p:nvSpPr>
        <p:spPr>
          <a:xfrm>
            <a:off x="2743199" y="1133855"/>
            <a:ext cx="2468882" cy="356617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6" name="Text 11"/>
          <p:cNvSpPr txBox="1"/>
          <p:nvPr/>
        </p:nvSpPr>
        <p:spPr>
          <a:xfrm>
            <a:off x="2798064" y="1202944"/>
            <a:ext cx="235915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Trial wavefunction in variational QM</a:t>
            </a:r>
          </a:p>
        </p:txBody>
      </p:sp>
      <p:sp>
        <p:nvSpPr>
          <p:cNvPr id="597" name="Shape 12"/>
          <p:cNvSpPr/>
          <p:nvPr/>
        </p:nvSpPr>
        <p:spPr>
          <a:xfrm>
            <a:off x="5212079" y="1133855"/>
            <a:ext cx="4023360" cy="356617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8" name="Text 13"/>
          <p:cNvSpPr txBox="1"/>
          <p:nvPr/>
        </p:nvSpPr>
        <p:spPr>
          <a:xfrm>
            <a:off x="5266943" y="1201530"/>
            <a:ext cx="3913634" cy="221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J(θ) is the variational functional; θ* maximises ⟨ψ|H|ψ⟩ analogue</a:t>
            </a:r>
          </a:p>
        </p:txBody>
      </p:sp>
      <p:sp>
        <p:nvSpPr>
          <p:cNvPr id="599" name="Shape 14"/>
          <p:cNvSpPr/>
          <p:nvPr/>
        </p:nvSpPr>
        <p:spPr>
          <a:xfrm>
            <a:off x="274319" y="1517903"/>
            <a:ext cx="2468882" cy="356617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00" name="Text 15"/>
          <p:cNvSpPr txBox="1"/>
          <p:nvPr/>
        </p:nvSpPr>
        <p:spPr>
          <a:xfrm>
            <a:off x="329183" y="1586992"/>
            <a:ext cx="2359154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800">
                <a:solidFill>
                  <a:srgbClr val="3A6EA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Policy gradient  ∇θJ</a:t>
            </a:r>
          </a:p>
        </p:txBody>
      </p:sp>
      <p:sp>
        <p:nvSpPr>
          <p:cNvPr id="601" name="Shape 16"/>
          <p:cNvSpPr/>
          <p:nvPr/>
        </p:nvSpPr>
        <p:spPr>
          <a:xfrm>
            <a:off x="2743199" y="1517903"/>
            <a:ext cx="2468882" cy="356617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02" name="Text 17"/>
          <p:cNvSpPr txBox="1"/>
          <p:nvPr/>
        </p:nvSpPr>
        <p:spPr>
          <a:xfrm>
            <a:off x="2798064" y="1586992"/>
            <a:ext cx="235915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Functional derivative  δJ/δπ</a:t>
            </a:r>
          </a:p>
        </p:txBody>
      </p:sp>
      <p:sp>
        <p:nvSpPr>
          <p:cNvPr id="603" name="Shape 18"/>
          <p:cNvSpPr/>
          <p:nvPr/>
        </p:nvSpPr>
        <p:spPr>
          <a:xfrm>
            <a:off x="5212079" y="1517903"/>
            <a:ext cx="4023360" cy="356617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04" name="Text 19"/>
          <p:cNvSpPr txBox="1"/>
          <p:nvPr/>
        </p:nvSpPr>
        <p:spPr>
          <a:xfrm>
            <a:off x="5266943" y="1586992"/>
            <a:ext cx="3913634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Same mathematics; advantage A is the variational derivative</a:t>
            </a:r>
          </a:p>
        </p:txBody>
      </p:sp>
      <p:sp>
        <p:nvSpPr>
          <p:cNvPr id="605" name="Shape 20"/>
          <p:cNvSpPr/>
          <p:nvPr/>
        </p:nvSpPr>
        <p:spPr>
          <a:xfrm>
            <a:off x="274319" y="1901951"/>
            <a:ext cx="2468882" cy="356617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06" name="Text 21"/>
          <p:cNvSpPr txBox="1"/>
          <p:nvPr/>
        </p:nvSpPr>
        <p:spPr>
          <a:xfrm>
            <a:off x="329183" y="1971039"/>
            <a:ext cx="2359154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800">
                <a:solidFill>
                  <a:srgbClr val="3A6EA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Advantage  A(s,a)</a:t>
            </a:r>
          </a:p>
        </p:txBody>
      </p:sp>
      <p:sp>
        <p:nvSpPr>
          <p:cNvPr id="607" name="Shape 22"/>
          <p:cNvSpPr/>
          <p:nvPr/>
        </p:nvSpPr>
        <p:spPr>
          <a:xfrm>
            <a:off x="2743199" y="1901951"/>
            <a:ext cx="2468882" cy="356617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08" name="Text 23"/>
          <p:cNvSpPr txBox="1"/>
          <p:nvPr/>
        </p:nvSpPr>
        <p:spPr>
          <a:xfrm>
            <a:off x="2798064" y="1970643"/>
            <a:ext cx="2359153" cy="2192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Force field  F = −∇U(s)</a:t>
            </a:r>
          </a:p>
        </p:txBody>
      </p:sp>
      <p:sp>
        <p:nvSpPr>
          <p:cNvPr id="609" name="Shape 24"/>
          <p:cNvSpPr/>
          <p:nvPr/>
        </p:nvSpPr>
        <p:spPr>
          <a:xfrm>
            <a:off x="5212079" y="1901951"/>
            <a:ext cx="4023360" cy="356617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0" name="Text 25"/>
          <p:cNvSpPr txBox="1"/>
          <p:nvPr/>
        </p:nvSpPr>
        <p:spPr>
          <a:xfrm>
            <a:off x="5266943" y="1970643"/>
            <a:ext cx="3913634" cy="2192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A = −∇U where U = −V* is the potential landscape</a:t>
            </a:r>
          </a:p>
        </p:txBody>
      </p:sp>
      <p:sp>
        <p:nvSpPr>
          <p:cNvPr id="611" name="Shape 26"/>
          <p:cNvSpPr/>
          <p:nvPr/>
        </p:nvSpPr>
        <p:spPr>
          <a:xfrm>
            <a:off x="274319" y="2286000"/>
            <a:ext cx="2468882" cy="356616"/>
          </a:xfrm>
          <a:prstGeom prst="rect">
            <a:avLst/>
          </a:prstGeom>
          <a:solidFill>
            <a:srgbClr val="E8F4EC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2" name="Text 27"/>
          <p:cNvSpPr txBox="1"/>
          <p:nvPr/>
        </p:nvSpPr>
        <p:spPr>
          <a:xfrm>
            <a:off x="329183" y="2355088"/>
            <a:ext cx="2359154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800">
                <a:solidFill>
                  <a:srgbClr val="3A6EA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Bellman operator  T</a:t>
            </a:r>
          </a:p>
        </p:txBody>
      </p:sp>
      <p:sp>
        <p:nvSpPr>
          <p:cNvPr id="613" name="Shape 28"/>
          <p:cNvSpPr/>
          <p:nvPr/>
        </p:nvSpPr>
        <p:spPr>
          <a:xfrm>
            <a:off x="2743199" y="2286000"/>
            <a:ext cx="2468882" cy="356616"/>
          </a:xfrm>
          <a:prstGeom prst="rect">
            <a:avLst/>
          </a:prstGeom>
          <a:solidFill>
            <a:srgbClr val="E8F0F8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4" name="Text 29"/>
          <p:cNvSpPr txBox="1"/>
          <p:nvPr/>
        </p:nvSpPr>
        <p:spPr>
          <a:xfrm>
            <a:off x="2798064" y="2355088"/>
            <a:ext cx="235915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RG transformation (contraction)</a:t>
            </a:r>
          </a:p>
        </p:txBody>
      </p:sp>
      <p:sp>
        <p:nvSpPr>
          <p:cNvPr id="615" name="Shape 30"/>
          <p:cNvSpPr/>
          <p:nvPr/>
        </p:nvSpPr>
        <p:spPr>
          <a:xfrm>
            <a:off x="5212079" y="2286000"/>
            <a:ext cx="4023360" cy="356616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6" name="Text 31"/>
          <p:cNvSpPr txBox="1"/>
          <p:nvPr/>
        </p:nvSpPr>
        <p:spPr>
          <a:xfrm>
            <a:off x="5266943" y="2355088"/>
            <a:ext cx="3913634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Both are contractions; fixed point = optimal V* / IR fixed point</a:t>
            </a:r>
          </a:p>
        </p:txBody>
      </p:sp>
      <p:sp>
        <p:nvSpPr>
          <p:cNvPr id="617" name="Shape 32"/>
          <p:cNvSpPr/>
          <p:nvPr/>
        </p:nvSpPr>
        <p:spPr>
          <a:xfrm>
            <a:off x="274319" y="2670048"/>
            <a:ext cx="2468882" cy="356617"/>
          </a:xfrm>
          <a:prstGeom prst="rect">
            <a:avLst/>
          </a:prstGeom>
          <a:solidFill>
            <a:srgbClr val="E8F4EC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8" name="Text 33"/>
          <p:cNvSpPr txBox="1"/>
          <p:nvPr/>
        </p:nvSpPr>
        <p:spPr>
          <a:xfrm>
            <a:off x="329183" y="2739135"/>
            <a:ext cx="2359154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800">
                <a:solidFill>
                  <a:srgbClr val="3A6EA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Trust region  (TRPO)</a:t>
            </a:r>
          </a:p>
        </p:txBody>
      </p:sp>
      <p:sp>
        <p:nvSpPr>
          <p:cNvPr id="619" name="Shape 34"/>
          <p:cNvSpPr/>
          <p:nvPr/>
        </p:nvSpPr>
        <p:spPr>
          <a:xfrm>
            <a:off x="2743199" y="2670048"/>
            <a:ext cx="2468882" cy="356617"/>
          </a:xfrm>
          <a:prstGeom prst="rect">
            <a:avLst/>
          </a:prstGeom>
          <a:solidFill>
            <a:srgbClr val="E8F0F8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0" name="Text 35"/>
          <p:cNvSpPr txBox="1"/>
          <p:nvPr/>
        </p:nvSpPr>
        <p:spPr>
          <a:xfrm>
            <a:off x="2798064" y="2739135"/>
            <a:ext cx="235915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RG momentum shell  [Λ′, Λ]</a:t>
            </a:r>
          </a:p>
        </p:txBody>
      </p:sp>
      <p:sp>
        <p:nvSpPr>
          <p:cNvPr id="621" name="Shape 36"/>
          <p:cNvSpPr/>
          <p:nvPr/>
        </p:nvSpPr>
        <p:spPr>
          <a:xfrm>
            <a:off x="5212079" y="2670048"/>
            <a:ext cx="4023360" cy="356617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2" name="Text 37"/>
          <p:cNvSpPr txBox="1"/>
          <p:nvPr/>
        </p:nvSpPr>
        <p:spPr>
          <a:xfrm>
            <a:off x="5266943" y="2739135"/>
            <a:ext cx="3913634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Restrict updates to a shell for perturbative control each step</a:t>
            </a:r>
          </a:p>
        </p:txBody>
      </p:sp>
      <p:sp>
        <p:nvSpPr>
          <p:cNvPr id="623" name="Shape 38"/>
          <p:cNvSpPr/>
          <p:nvPr/>
        </p:nvSpPr>
        <p:spPr>
          <a:xfrm>
            <a:off x="274319" y="3054095"/>
            <a:ext cx="2468882" cy="356617"/>
          </a:xfrm>
          <a:prstGeom prst="rect">
            <a:avLst/>
          </a:prstGeom>
          <a:solidFill>
            <a:srgbClr val="E8F4EC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4" name="Text 39"/>
          <p:cNvSpPr txBox="1"/>
          <p:nvPr/>
        </p:nvSpPr>
        <p:spPr>
          <a:xfrm>
            <a:off x="329183" y="3123184"/>
            <a:ext cx="2359154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800">
                <a:solidFill>
                  <a:srgbClr val="3A6EA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PPO clipping</a:t>
            </a:r>
          </a:p>
        </p:txBody>
      </p:sp>
      <p:sp>
        <p:nvSpPr>
          <p:cNvPr id="625" name="Shape 40"/>
          <p:cNvSpPr/>
          <p:nvPr/>
        </p:nvSpPr>
        <p:spPr>
          <a:xfrm>
            <a:off x="2743199" y="3054095"/>
            <a:ext cx="2468882" cy="356617"/>
          </a:xfrm>
          <a:prstGeom prst="rect">
            <a:avLst/>
          </a:prstGeom>
          <a:solidFill>
            <a:srgbClr val="E8F0F8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6" name="Text 41"/>
          <p:cNvSpPr txBox="1"/>
          <p:nvPr/>
        </p:nvSpPr>
        <p:spPr>
          <a:xfrm>
            <a:off x="2798064" y="3123184"/>
            <a:ext cx="235915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Approximate trust region / soft cutoff</a:t>
            </a:r>
          </a:p>
        </p:txBody>
      </p:sp>
      <p:sp>
        <p:nvSpPr>
          <p:cNvPr id="627" name="Shape 42"/>
          <p:cNvSpPr/>
          <p:nvPr/>
        </p:nvSpPr>
        <p:spPr>
          <a:xfrm>
            <a:off x="5212079" y="3054095"/>
            <a:ext cx="4023360" cy="356617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8" name="Text 43"/>
          <p:cNvSpPr txBox="1"/>
          <p:nvPr/>
        </p:nvSpPr>
        <p:spPr>
          <a:xfrm>
            <a:off x="5266943" y="3123184"/>
            <a:ext cx="3913634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Gradient zeroed beyond the shell — no KL Hessian needed</a:t>
            </a:r>
          </a:p>
        </p:txBody>
      </p:sp>
      <p:sp>
        <p:nvSpPr>
          <p:cNvPr id="629" name="Shape 44"/>
          <p:cNvSpPr/>
          <p:nvPr/>
        </p:nvSpPr>
        <p:spPr>
          <a:xfrm>
            <a:off x="274319" y="3438144"/>
            <a:ext cx="2468882" cy="356617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30" name="Text 45"/>
          <p:cNvSpPr txBox="1"/>
          <p:nvPr/>
        </p:nvSpPr>
        <p:spPr>
          <a:xfrm>
            <a:off x="329183" y="3507232"/>
            <a:ext cx="2359154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800">
                <a:solidFill>
                  <a:srgbClr val="3A6EA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Discount factor γ</a:t>
            </a:r>
          </a:p>
        </p:txBody>
      </p:sp>
      <p:sp>
        <p:nvSpPr>
          <p:cNvPr id="631" name="Shape 46"/>
          <p:cNvSpPr/>
          <p:nvPr/>
        </p:nvSpPr>
        <p:spPr>
          <a:xfrm>
            <a:off x="2743199" y="3438144"/>
            <a:ext cx="2468882" cy="356617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32" name="Text 47"/>
          <p:cNvSpPr txBox="1"/>
          <p:nvPr/>
        </p:nvSpPr>
        <p:spPr>
          <a:xfrm>
            <a:off x="2798064" y="3507232"/>
            <a:ext cx="235915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Temporal correlation length</a:t>
            </a:r>
          </a:p>
        </p:txBody>
      </p:sp>
      <p:sp>
        <p:nvSpPr>
          <p:cNvPr id="633" name="Shape 48"/>
          <p:cNvSpPr/>
          <p:nvPr/>
        </p:nvSpPr>
        <p:spPr>
          <a:xfrm>
            <a:off x="5212079" y="3438144"/>
            <a:ext cx="4023360" cy="356617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34" name="Text 49"/>
          <p:cNvSpPr txBox="1"/>
          <p:nvPr/>
        </p:nvSpPr>
        <p:spPr>
          <a:xfrm>
            <a:off x="5266943" y="3506661"/>
            <a:ext cx="3913634" cy="219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γ→0: nearest-neighbour only; γ→1: full long-range interactions</a:t>
            </a:r>
          </a:p>
        </p:txBody>
      </p:sp>
      <p:sp>
        <p:nvSpPr>
          <p:cNvPr id="635" name="Shape 50"/>
          <p:cNvSpPr/>
          <p:nvPr/>
        </p:nvSpPr>
        <p:spPr>
          <a:xfrm>
            <a:off x="274319" y="3822191"/>
            <a:ext cx="2468882" cy="356617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36" name="Text 51"/>
          <p:cNvSpPr txBox="1"/>
          <p:nvPr/>
        </p:nvSpPr>
        <p:spPr>
          <a:xfrm>
            <a:off x="329183" y="3891279"/>
            <a:ext cx="2359154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800">
                <a:solidFill>
                  <a:srgbClr val="3A6EA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GAE parameter λ</a:t>
            </a:r>
          </a:p>
        </p:txBody>
      </p:sp>
      <p:sp>
        <p:nvSpPr>
          <p:cNvPr id="637" name="Shape 52"/>
          <p:cNvSpPr/>
          <p:nvPr/>
        </p:nvSpPr>
        <p:spPr>
          <a:xfrm>
            <a:off x="2743199" y="3822191"/>
            <a:ext cx="2468882" cy="356617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38" name="Text 53"/>
          <p:cNvSpPr txBox="1"/>
          <p:nvPr/>
        </p:nvSpPr>
        <p:spPr>
          <a:xfrm>
            <a:off x="2798064" y="3891279"/>
            <a:ext cx="235915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Exponential MA window / correlation length</a:t>
            </a:r>
          </a:p>
        </p:txBody>
      </p:sp>
      <p:sp>
        <p:nvSpPr>
          <p:cNvPr id="639" name="Shape 54"/>
          <p:cNvSpPr/>
          <p:nvPr/>
        </p:nvSpPr>
        <p:spPr>
          <a:xfrm>
            <a:off x="5212079" y="3822191"/>
            <a:ext cx="4023360" cy="356617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40" name="Text 55"/>
          <p:cNvSpPr txBox="1"/>
          <p:nvPr/>
        </p:nvSpPr>
        <p:spPr>
          <a:xfrm>
            <a:off x="5266943" y="3890709"/>
            <a:ext cx="3913634" cy="219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λ→0: 1-step (short range); λ→1: MC (long range)</a:t>
            </a:r>
          </a:p>
        </p:txBody>
      </p:sp>
      <p:sp>
        <p:nvSpPr>
          <p:cNvPr id="641" name="Shape 56"/>
          <p:cNvSpPr/>
          <p:nvPr/>
        </p:nvSpPr>
        <p:spPr>
          <a:xfrm>
            <a:off x="274319" y="4206240"/>
            <a:ext cx="2468882" cy="356617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42" name="Text 57"/>
          <p:cNvSpPr txBox="1"/>
          <p:nvPr/>
        </p:nvSpPr>
        <p:spPr>
          <a:xfrm>
            <a:off x="329183" y="4275327"/>
            <a:ext cx="2359154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800">
                <a:solidFill>
                  <a:srgbClr val="3A6EA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Entropy bonus H</a:t>
            </a:r>
          </a:p>
        </p:txBody>
      </p:sp>
      <p:sp>
        <p:nvSpPr>
          <p:cNvPr id="643" name="Shape 58"/>
          <p:cNvSpPr/>
          <p:nvPr/>
        </p:nvSpPr>
        <p:spPr>
          <a:xfrm>
            <a:off x="2743199" y="4206240"/>
            <a:ext cx="2468882" cy="356617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44" name="Text 59"/>
          <p:cNvSpPr txBox="1"/>
          <p:nvPr/>
        </p:nvSpPr>
        <p:spPr>
          <a:xfrm>
            <a:off x="2798064" y="4275327"/>
            <a:ext cx="235915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Temperature T / free energy</a:t>
            </a:r>
          </a:p>
        </p:txBody>
      </p:sp>
      <p:sp>
        <p:nvSpPr>
          <p:cNvPr id="645" name="Shape 60"/>
          <p:cNvSpPr/>
          <p:nvPr/>
        </p:nvSpPr>
        <p:spPr>
          <a:xfrm>
            <a:off x="5212079" y="4206240"/>
            <a:ext cx="4023360" cy="356617"/>
          </a:xfrm>
          <a:prstGeom prst="rect">
            <a:avLst/>
          </a:prstGeom>
          <a:solidFill>
            <a:srgbClr val="F5F8FA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46" name="Text 61"/>
          <p:cNvSpPr txBox="1"/>
          <p:nvPr/>
        </p:nvSpPr>
        <p:spPr>
          <a:xfrm>
            <a:off x="5266943" y="4273343"/>
            <a:ext cx="3913634" cy="222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Max-entropy RL: π* ∝ exp(Q*/β); entropy → exploration</a:t>
            </a:r>
          </a:p>
        </p:txBody>
      </p:sp>
      <p:sp>
        <p:nvSpPr>
          <p:cNvPr id="647" name="Shape 62"/>
          <p:cNvSpPr/>
          <p:nvPr/>
        </p:nvSpPr>
        <p:spPr>
          <a:xfrm>
            <a:off x="274319" y="4590288"/>
            <a:ext cx="2468882" cy="356617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48" name="Text 63"/>
          <p:cNvSpPr txBox="1"/>
          <p:nvPr/>
        </p:nvSpPr>
        <p:spPr>
          <a:xfrm>
            <a:off x="329183" y="4659376"/>
            <a:ext cx="2359154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800">
                <a:solidFill>
                  <a:srgbClr val="3A6EA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CartPole  V*(θ) profile</a:t>
            </a:r>
          </a:p>
        </p:txBody>
      </p:sp>
      <p:sp>
        <p:nvSpPr>
          <p:cNvPr id="649" name="Shape 64"/>
          <p:cNvSpPr/>
          <p:nvPr/>
        </p:nvSpPr>
        <p:spPr>
          <a:xfrm>
            <a:off x="2743199" y="4590288"/>
            <a:ext cx="2468882" cy="356617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0" name="Text 65"/>
          <p:cNvSpPr txBox="1"/>
          <p:nvPr/>
        </p:nvSpPr>
        <p:spPr>
          <a:xfrm>
            <a:off x="2798064" y="4659376"/>
            <a:ext cx="235915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Harmonic oscillator potential  V = kx²/2</a:t>
            </a:r>
          </a:p>
        </p:txBody>
      </p:sp>
      <p:sp>
        <p:nvSpPr>
          <p:cNvPr id="651" name="Shape 66"/>
          <p:cNvSpPr/>
          <p:nvPr/>
        </p:nvSpPr>
        <p:spPr>
          <a:xfrm>
            <a:off x="5212079" y="4590288"/>
            <a:ext cx="4023360" cy="356617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2" name="Text 67"/>
          <p:cNvSpPr txBox="1"/>
          <p:nvPr/>
        </p:nvSpPr>
        <p:spPr>
          <a:xfrm>
            <a:off x="5266943" y="4659376"/>
            <a:ext cx="3913634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Linearised pendulum near equilibrium is exactly a harmonic oscillator</a:t>
            </a:r>
          </a:p>
        </p:txBody>
      </p:sp>
      <p:sp>
        <p:nvSpPr>
          <p:cNvPr id="653" name="Shape 68"/>
          <p:cNvSpPr/>
          <p:nvPr/>
        </p:nvSpPr>
        <p:spPr>
          <a:xfrm>
            <a:off x="274320" y="4992623"/>
            <a:ext cx="8595360" cy="201169"/>
          </a:xfrm>
          <a:prstGeom prst="rect">
            <a:avLst/>
          </a:prstGeom>
          <a:solidFill>
            <a:srgbClr val="FDF6DC"/>
          </a:solidFill>
          <a:ln w="10160">
            <a:solidFill>
              <a:srgbClr val="B886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4" name="Shape 69"/>
          <p:cNvSpPr/>
          <p:nvPr/>
        </p:nvSpPr>
        <p:spPr>
          <a:xfrm>
            <a:off x="274320" y="4992623"/>
            <a:ext cx="54865" cy="201169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5" name="Text 70"/>
          <p:cNvSpPr txBox="1"/>
          <p:nvPr/>
        </p:nvSpPr>
        <p:spPr>
          <a:xfrm>
            <a:off x="457200" y="4983417"/>
            <a:ext cx="8229600" cy="219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1C2B33"/>
                </a:solidFill>
              </a:defRPr>
            </a:lvl1pPr>
          </a:lstStyle>
          <a:p>
            <a:pPr/>
            <a:r>
              <a:t>Grim Trigger threshold δ ≥ (T−R)/(T−P)  ↔  Q-learning γ*  ↔  PPO GAE — all are the same recursive present-value argument (Week 5 → Week 7 bridge).</a:t>
            </a:r>
          </a:p>
        </p:txBody>
      </p:sp>
      <p:sp>
        <p:nvSpPr>
          <p:cNvPr id="656" name="Text 71"/>
          <p:cNvSpPr txBox="1"/>
          <p:nvPr/>
        </p:nvSpPr>
        <p:spPr>
          <a:xfrm>
            <a:off x="0" y="4917694"/>
            <a:ext cx="9144000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6B7C85"/>
                </a:solidFill>
              </a:defRPr>
            </a:lvl1pPr>
          </a:lstStyle>
          <a:p>
            <a:pPr/>
            <a:r>
              <a:t>From Conway to LangGraph  ·  Università di Bologna  ·  Week 6  ·  §10 Physics Analogies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A6EA5"/>
          </a:solidFill>
          <a:ln w="1270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9" name="Text 1"/>
          <p:cNvSpPr txBox="1"/>
          <p:nvPr/>
        </p:nvSpPr>
        <p:spPr>
          <a:xfrm>
            <a:off x="548640" y="252314"/>
            <a:ext cx="8046719" cy="409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PPO — Key Takeaways</a:t>
            </a:r>
          </a:p>
        </p:txBody>
      </p:sp>
      <p:sp>
        <p:nvSpPr>
          <p:cNvPr id="660" name="Shape 2"/>
          <p:cNvSpPr/>
          <p:nvPr/>
        </p:nvSpPr>
        <p:spPr>
          <a:xfrm>
            <a:off x="320039" y="868680"/>
            <a:ext cx="4160522" cy="896113"/>
          </a:xfrm>
          <a:prstGeom prst="rect">
            <a:avLst/>
          </a:prstGeom>
          <a:solidFill>
            <a:srgbClr val="273545"/>
          </a:solidFill>
          <a:ln w="10160">
            <a:solidFill>
              <a:srgbClr val="3A506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1" name="Shape 3"/>
          <p:cNvSpPr/>
          <p:nvPr/>
        </p:nvSpPr>
        <p:spPr>
          <a:xfrm>
            <a:off x="320040" y="868680"/>
            <a:ext cx="45721" cy="896113"/>
          </a:xfrm>
          <a:prstGeom prst="rect">
            <a:avLst/>
          </a:prstGeom>
          <a:solidFill>
            <a:srgbClr val="3A6EA5"/>
          </a:solidFill>
          <a:ln w="1270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2" name="Text 4"/>
          <p:cNvSpPr txBox="1"/>
          <p:nvPr/>
        </p:nvSpPr>
        <p:spPr>
          <a:xfrm>
            <a:off x="448055" y="975263"/>
            <a:ext cx="3931922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9ABFD8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Log-derivative trick</a:t>
            </a:r>
          </a:p>
        </p:txBody>
      </p:sp>
      <p:sp>
        <p:nvSpPr>
          <p:cNvPr id="663" name="Text 5"/>
          <p:cNvSpPr txBox="1"/>
          <p:nvPr/>
        </p:nvSpPr>
        <p:spPr>
          <a:xfrm>
            <a:off x="448055" y="1326499"/>
            <a:ext cx="3931922" cy="2547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C8D8E0"/>
                </a:solidFill>
              </a:defRPr>
            </a:lvl1pPr>
          </a:lstStyle>
          <a:p>
            <a:pPr/>
            <a:r>
              <a:t>∇θJ doesn't need the environment dynamics — only ∇θ log πθ(a|s), which is computed by backprop.</a:t>
            </a:r>
          </a:p>
        </p:txBody>
      </p:sp>
      <p:sp>
        <p:nvSpPr>
          <p:cNvPr id="664" name="Shape 6"/>
          <p:cNvSpPr/>
          <p:nvPr/>
        </p:nvSpPr>
        <p:spPr>
          <a:xfrm>
            <a:off x="4754879" y="868680"/>
            <a:ext cx="4160521" cy="896113"/>
          </a:xfrm>
          <a:prstGeom prst="rect">
            <a:avLst/>
          </a:prstGeom>
          <a:solidFill>
            <a:srgbClr val="273545"/>
          </a:solidFill>
          <a:ln w="10160">
            <a:solidFill>
              <a:srgbClr val="3A506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5" name="Shape 7"/>
          <p:cNvSpPr/>
          <p:nvPr/>
        </p:nvSpPr>
        <p:spPr>
          <a:xfrm>
            <a:off x="4754879" y="868680"/>
            <a:ext cx="45721" cy="896113"/>
          </a:xfrm>
          <a:prstGeom prst="rect">
            <a:avLst/>
          </a:prstGeom>
          <a:solidFill>
            <a:srgbClr val="3A6EA5"/>
          </a:solidFill>
          <a:ln w="1270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6" name="Text 8"/>
          <p:cNvSpPr txBox="1"/>
          <p:nvPr/>
        </p:nvSpPr>
        <p:spPr>
          <a:xfrm>
            <a:off x="4882896" y="975263"/>
            <a:ext cx="3931921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9ABFD8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Policy gradient theorem</a:t>
            </a:r>
          </a:p>
        </p:txBody>
      </p:sp>
      <p:sp>
        <p:nvSpPr>
          <p:cNvPr id="667" name="Text 9"/>
          <p:cNvSpPr txBox="1"/>
          <p:nvPr/>
        </p:nvSpPr>
        <p:spPr>
          <a:xfrm>
            <a:off x="4882896" y="1326499"/>
            <a:ext cx="3931921" cy="2547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C8D8E0"/>
                </a:solidFill>
              </a:defRPr>
            </a:lvl1pPr>
          </a:lstStyle>
          <a:p>
            <a:pPr/>
            <a:r>
              <a:t>∇θJ = Eπ[∇θ log π · A] — advantage replaces raw return; zero-mean baseline reduces variance.</a:t>
            </a:r>
          </a:p>
        </p:txBody>
      </p:sp>
      <p:sp>
        <p:nvSpPr>
          <p:cNvPr id="668" name="Shape 10"/>
          <p:cNvSpPr/>
          <p:nvPr/>
        </p:nvSpPr>
        <p:spPr>
          <a:xfrm>
            <a:off x="320039" y="1837944"/>
            <a:ext cx="4160522" cy="896112"/>
          </a:xfrm>
          <a:prstGeom prst="rect">
            <a:avLst/>
          </a:prstGeom>
          <a:solidFill>
            <a:srgbClr val="273545"/>
          </a:solidFill>
          <a:ln w="10160">
            <a:solidFill>
              <a:srgbClr val="3A506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9" name="Shape 11"/>
          <p:cNvSpPr/>
          <p:nvPr/>
        </p:nvSpPr>
        <p:spPr>
          <a:xfrm>
            <a:off x="320040" y="1837944"/>
            <a:ext cx="45721" cy="896112"/>
          </a:xfrm>
          <a:prstGeom prst="rect">
            <a:avLst/>
          </a:prstGeom>
          <a:solidFill>
            <a:srgbClr val="3A6EA5"/>
          </a:solidFill>
          <a:ln w="1270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0" name="Text 12"/>
          <p:cNvSpPr txBox="1"/>
          <p:nvPr/>
        </p:nvSpPr>
        <p:spPr>
          <a:xfrm>
            <a:off x="448055" y="1944526"/>
            <a:ext cx="3931922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9ABFD8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Importance sampling</a:t>
            </a:r>
          </a:p>
        </p:txBody>
      </p:sp>
      <p:sp>
        <p:nvSpPr>
          <p:cNvPr id="671" name="Text 13"/>
          <p:cNvSpPr txBox="1"/>
          <p:nvPr/>
        </p:nvSpPr>
        <p:spPr>
          <a:xfrm>
            <a:off x="448055" y="2296159"/>
            <a:ext cx="3931922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C8D8E0"/>
                </a:solidFill>
              </a:defRPr>
            </a:lvl1pPr>
          </a:lstStyle>
          <a:p>
            <a:pPr/>
            <a:r>
              <a:t>rt(θ) = πθ/πθold allows data reuse. Valid only near θold — diverging rt catastrophically collapses the policy.</a:t>
            </a:r>
          </a:p>
        </p:txBody>
      </p:sp>
      <p:sp>
        <p:nvSpPr>
          <p:cNvPr id="672" name="Shape 14"/>
          <p:cNvSpPr/>
          <p:nvPr/>
        </p:nvSpPr>
        <p:spPr>
          <a:xfrm>
            <a:off x="4754879" y="1837944"/>
            <a:ext cx="4160521" cy="896112"/>
          </a:xfrm>
          <a:prstGeom prst="rect">
            <a:avLst/>
          </a:prstGeom>
          <a:solidFill>
            <a:srgbClr val="273545"/>
          </a:solidFill>
          <a:ln w="10160">
            <a:solidFill>
              <a:srgbClr val="3A506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3" name="Shape 15"/>
          <p:cNvSpPr/>
          <p:nvPr/>
        </p:nvSpPr>
        <p:spPr>
          <a:xfrm>
            <a:off x="4754879" y="1837944"/>
            <a:ext cx="45721" cy="896112"/>
          </a:xfrm>
          <a:prstGeom prst="rect">
            <a:avLst/>
          </a:prstGeom>
          <a:solidFill>
            <a:srgbClr val="3A6EA5"/>
          </a:solidFill>
          <a:ln w="1270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4" name="Text 16"/>
          <p:cNvSpPr txBox="1"/>
          <p:nvPr/>
        </p:nvSpPr>
        <p:spPr>
          <a:xfrm>
            <a:off x="4882896" y="1944526"/>
            <a:ext cx="3931921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9ABFD8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PPO clipping</a:t>
            </a:r>
          </a:p>
        </p:txBody>
      </p:sp>
      <p:sp>
        <p:nvSpPr>
          <p:cNvPr id="675" name="Text 17"/>
          <p:cNvSpPr txBox="1"/>
          <p:nvPr/>
        </p:nvSpPr>
        <p:spPr>
          <a:xfrm>
            <a:off x="4882896" y="2296159"/>
            <a:ext cx="393192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C8D8E0"/>
                </a:solidFill>
              </a:defRPr>
            </a:lvl1pPr>
          </a:lstStyle>
          <a:p>
            <a:pPr/>
            <a:r>
              <a:t>L^CLIP clips rt to [1−ε,1+ε] via the min operator — automatic trust region, no Hessian, first-order optimiser only.</a:t>
            </a:r>
          </a:p>
        </p:txBody>
      </p:sp>
      <p:sp>
        <p:nvSpPr>
          <p:cNvPr id="676" name="Shape 18"/>
          <p:cNvSpPr/>
          <p:nvPr/>
        </p:nvSpPr>
        <p:spPr>
          <a:xfrm>
            <a:off x="320039" y="2807207"/>
            <a:ext cx="4160522" cy="896113"/>
          </a:xfrm>
          <a:prstGeom prst="rect">
            <a:avLst/>
          </a:prstGeom>
          <a:solidFill>
            <a:srgbClr val="273545"/>
          </a:solidFill>
          <a:ln w="10160">
            <a:solidFill>
              <a:srgbClr val="3A506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7" name="Shape 19"/>
          <p:cNvSpPr/>
          <p:nvPr/>
        </p:nvSpPr>
        <p:spPr>
          <a:xfrm>
            <a:off x="320040" y="2807207"/>
            <a:ext cx="45721" cy="896113"/>
          </a:xfrm>
          <a:prstGeom prst="rect">
            <a:avLst/>
          </a:prstGeom>
          <a:solidFill>
            <a:srgbClr val="3A6EA5"/>
          </a:solidFill>
          <a:ln w="1270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8" name="Text 20"/>
          <p:cNvSpPr txBox="1"/>
          <p:nvPr/>
        </p:nvSpPr>
        <p:spPr>
          <a:xfrm>
            <a:off x="448055" y="2913791"/>
            <a:ext cx="3931922" cy="134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9ABFD8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GAE</a:t>
            </a:r>
          </a:p>
        </p:txBody>
      </p:sp>
      <p:sp>
        <p:nvSpPr>
          <p:cNvPr id="679" name="Text 21"/>
          <p:cNvSpPr txBox="1"/>
          <p:nvPr/>
        </p:nvSpPr>
        <p:spPr>
          <a:xfrm>
            <a:off x="448055" y="3265027"/>
            <a:ext cx="3931922" cy="2547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C8D8E0"/>
                </a:solidFill>
              </a:defRPr>
            </a:lvl1pPr>
          </a:lstStyle>
          <a:p>
            <a:pPr/>
            <a:r>
              <a:t>Âtˢ = Σl (γλ)^l δt+l — exponential blend of TD residuals. λ interpolates between 1-step TD (λ=0) and MC (λ=1).</a:t>
            </a:r>
          </a:p>
        </p:txBody>
      </p:sp>
      <p:sp>
        <p:nvSpPr>
          <p:cNvPr id="680" name="Shape 22"/>
          <p:cNvSpPr/>
          <p:nvPr/>
        </p:nvSpPr>
        <p:spPr>
          <a:xfrm>
            <a:off x="4754879" y="2807207"/>
            <a:ext cx="4160521" cy="896113"/>
          </a:xfrm>
          <a:prstGeom prst="rect">
            <a:avLst/>
          </a:prstGeom>
          <a:solidFill>
            <a:srgbClr val="273545"/>
          </a:solidFill>
          <a:ln w="10160">
            <a:solidFill>
              <a:srgbClr val="3A506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1" name="Shape 23"/>
          <p:cNvSpPr/>
          <p:nvPr/>
        </p:nvSpPr>
        <p:spPr>
          <a:xfrm>
            <a:off x="4754879" y="2807207"/>
            <a:ext cx="45721" cy="896113"/>
          </a:xfrm>
          <a:prstGeom prst="rect">
            <a:avLst/>
          </a:prstGeom>
          <a:solidFill>
            <a:srgbClr val="3A6EA5"/>
          </a:solidFill>
          <a:ln w="1270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2" name="Text 24"/>
          <p:cNvSpPr txBox="1"/>
          <p:nvPr/>
        </p:nvSpPr>
        <p:spPr>
          <a:xfrm>
            <a:off x="4882896" y="2913791"/>
            <a:ext cx="3931921" cy="134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9ABFD8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Full objective</a:t>
            </a:r>
          </a:p>
        </p:txBody>
      </p:sp>
      <p:sp>
        <p:nvSpPr>
          <p:cNvPr id="683" name="Text 25"/>
          <p:cNvSpPr txBox="1"/>
          <p:nvPr/>
        </p:nvSpPr>
        <p:spPr>
          <a:xfrm>
            <a:off x="4882896" y="3265027"/>
            <a:ext cx="3931921" cy="2547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C8D8E0"/>
                </a:solidFill>
              </a:defRPr>
            </a:lvl1pPr>
          </a:lstStyle>
          <a:p>
            <a:pPr/>
            <a:r>
              <a:t>L^PPO = L^CLIP − c₁ L^VF + c₂ H — clip + value function regression + entropy bonus in one forward pass.</a:t>
            </a:r>
          </a:p>
        </p:txBody>
      </p:sp>
      <p:sp>
        <p:nvSpPr>
          <p:cNvPr id="684" name="Shape 26"/>
          <p:cNvSpPr/>
          <p:nvPr/>
        </p:nvSpPr>
        <p:spPr>
          <a:xfrm>
            <a:off x="320039" y="3776471"/>
            <a:ext cx="4160522" cy="896113"/>
          </a:xfrm>
          <a:prstGeom prst="rect">
            <a:avLst/>
          </a:prstGeom>
          <a:solidFill>
            <a:srgbClr val="273545"/>
          </a:solidFill>
          <a:ln w="10160">
            <a:solidFill>
              <a:srgbClr val="3A506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5" name="Shape 27"/>
          <p:cNvSpPr/>
          <p:nvPr/>
        </p:nvSpPr>
        <p:spPr>
          <a:xfrm>
            <a:off x="320040" y="3776471"/>
            <a:ext cx="45721" cy="896113"/>
          </a:xfrm>
          <a:prstGeom prst="rect">
            <a:avLst/>
          </a:prstGeom>
          <a:solidFill>
            <a:srgbClr val="3A6EA5"/>
          </a:solidFill>
          <a:ln w="1270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6" name="Text 28"/>
          <p:cNvSpPr txBox="1"/>
          <p:nvPr/>
        </p:nvSpPr>
        <p:spPr>
          <a:xfrm>
            <a:off x="448055" y="3883054"/>
            <a:ext cx="3931922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9ABFD8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Data reuse</a:t>
            </a:r>
          </a:p>
        </p:txBody>
      </p:sp>
      <p:sp>
        <p:nvSpPr>
          <p:cNvPr id="687" name="Text 29"/>
          <p:cNvSpPr txBox="1"/>
          <p:nvPr/>
        </p:nvSpPr>
        <p:spPr>
          <a:xfrm>
            <a:off x="448055" y="4234687"/>
            <a:ext cx="3931922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C8D8E0"/>
                </a:solidFill>
              </a:defRPr>
            </a:lvl1pPr>
          </a:lstStyle>
          <a:p>
            <a:pPr/>
            <a:r>
              <a:t>K epochs of SGD per rollout — this is the key efficiency gain over REINFORCE (K=1) and A2C (K=1).</a:t>
            </a:r>
          </a:p>
        </p:txBody>
      </p:sp>
      <p:sp>
        <p:nvSpPr>
          <p:cNvPr id="688" name="Shape 30"/>
          <p:cNvSpPr/>
          <p:nvPr/>
        </p:nvSpPr>
        <p:spPr>
          <a:xfrm>
            <a:off x="4754879" y="3776471"/>
            <a:ext cx="4160521" cy="896113"/>
          </a:xfrm>
          <a:prstGeom prst="rect">
            <a:avLst/>
          </a:prstGeom>
          <a:solidFill>
            <a:srgbClr val="273545"/>
          </a:solidFill>
          <a:ln w="10160">
            <a:solidFill>
              <a:srgbClr val="3A506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9" name="Shape 31"/>
          <p:cNvSpPr/>
          <p:nvPr/>
        </p:nvSpPr>
        <p:spPr>
          <a:xfrm>
            <a:off x="4754879" y="3776471"/>
            <a:ext cx="45721" cy="896113"/>
          </a:xfrm>
          <a:prstGeom prst="rect">
            <a:avLst/>
          </a:prstGeom>
          <a:solidFill>
            <a:srgbClr val="3A6EA5"/>
          </a:solidFill>
          <a:ln w="12700">
            <a:solidFill>
              <a:srgbClr val="3A6E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0" name="Text 32"/>
          <p:cNvSpPr txBox="1"/>
          <p:nvPr/>
        </p:nvSpPr>
        <p:spPr>
          <a:xfrm>
            <a:off x="4882896" y="3883054"/>
            <a:ext cx="3931921" cy="134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9ABFD8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Physics summary</a:t>
            </a:r>
          </a:p>
        </p:txBody>
      </p:sp>
      <p:sp>
        <p:nvSpPr>
          <p:cNvPr id="691" name="Text 33"/>
          <p:cNvSpPr txBox="1"/>
          <p:nvPr/>
        </p:nvSpPr>
        <p:spPr>
          <a:xfrm>
            <a:off x="4882896" y="4209287"/>
            <a:ext cx="3931921" cy="304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C8D8E0"/>
                </a:solidFill>
              </a:defRPr>
            </a:lvl1pPr>
          </a:lstStyle>
          <a:p>
            <a:pPr/>
            <a:r>
              <a:t>πθ ↔ trial wavefunction · trust region ↔ RG shell · Bellman ↔ RG flow · CartPole V*(θ) ↔ harmonic potential.</a:t>
            </a:r>
          </a:p>
        </p:txBody>
      </p:sp>
      <p:sp>
        <p:nvSpPr>
          <p:cNvPr id="692" name="Text 34"/>
          <p:cNvSpPr txBox="1"/>
          <p:nvPr/>
        </p:nvSpPr>
        <p:spPr>
          <a:xfrm>
            <a:off x="0" y="4901691"/>
            <a:ext cx="9144000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4A6880"/>
                </a:solidFill>
              </a:defRPr>
            </a:lvl1pPr>
          </a:lstStyle>
          <a:p>
            <a:pPr/>
            <a:r>
              <a:t>From Conway to LangGraph  ·  Università di Bologna  ·  Dipartimento di Fisica  ·  Week 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