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17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iggsmass.medium.com/the-science-of-complexity-9940e0f902c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BTW Sandpile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642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Abelian structure &amp; the identity configuration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502920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252374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order of topplings does not matter — and what the neutral element looks like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 (1990)  ·  Levine &amp; Peres (2010)  ·  </a:t>
            </a: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Levine &amp; Propp (2010)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abelian property — Dhar's theorem (1990)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Dhar, Phys. Rev. Lett. 64, 1613 (1990)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12064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(Dhar 1990)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466344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σ be any configuration and let grains be added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sites i₁, i₂, …, iₙ (with repetition allowed).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full relaxation, the final stable configuration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depend on the order of topplings.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+ eᵢ₁ + eᵢ₂ + … + eᵢₙ  =  σ + eᵢ_π(1) + … + eᵢ_π(n)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permutation π of {1, …, n}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466344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stable configurations forms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commutative monoid under grain-wise addition + relaxation.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1051560"/>
            <a:ext cx="320040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85216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intuition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1554480"/>
            <a:ext cx="274320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852160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9933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toppling only moves grains to neighbours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2615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Commuting topplings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8895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non-adjacent topplings are independent and commute trivially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35112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sites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37856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site topples the same total number of times regardless of order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sandpile group  𝒢(Λ)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 (1990)  ·  Björner, Lovász &amp; Shor (1991)  ·  Levine &amp; Peres (2010)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84632" y="1207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554480"/>
            <a:ext cx="2322576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84632" y="166420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elements are the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0848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configurations  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50545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lattice Λ with 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92608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sink node at the boundary.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376732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|𝒢| = |ℛ| = det 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265176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410712" y="1207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law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10712" y="1554480"/>
            <a:ext cx="2322576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410712" y="166420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a, b ∈ ℛ 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0712" y="250545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⊕ b  :=  (a + b)°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10712" y="334670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grain-wise, then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10712" y="376732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to the stable recurrent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10712" y="418795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051560"/>
            <a:ext cx="265176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336792" y="1207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axioms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36792" y="1554480"/>
            <a:ext cx="2322576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336792" y="166420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Closure: (a+b)° ∈ ℛ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36792" y="20848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Associativity: from abelian property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6792" y="250545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Commutativity: from abelian property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36792" y="292608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∃! e ∈ ℛ  (see next slides)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36792" y="334670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Inverse: ∃ a⁻¹ ∈ ℛ  for every 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4654296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order |𝒢| = det Δ grows exponentially with the grid size N — e.g. for a 4×4 grid |𝒢| = 4,096,000.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the identity — algorithm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Creutz (1991)  ·  Levine &amp; Peres (2010)  ·  Also: Caracciolo et al. (2008)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84632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 (Creutz 1991)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438912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1664208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all-2 configuration   σ_max = 2·𝟏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22576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2322576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σ_max to itself, relax:   σ₁ = (σ_max + σ_max)°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8094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" y="2980944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σ_max again, relax:   σ₂ = (σ₁ + σ_max)°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" y="363931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σ_k = σ_{k+1}   (fixed point)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0956" y="4160520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point is the identity  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1051560"/>
            <a:ext cx="347472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577840" y="1207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1554480"/>
            <a:ext cx="301752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577840" y="16642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all-2 configuration is the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stable element (all sites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z_crit − 1 = 3 for 2D BTW).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5054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it to itself produces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 because: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3090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⊕ σ_max = σ_max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354787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fixed point must satisfy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axiom  e ⊕ a = 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46542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O(N⁴) topplings for an N×N grid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configuration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965960" cy="3291840"/>
          </a:xfrm>
          <a:prstGeom prst="rect">
            <a:avLst/>
          </a:prstGeom>
          <a:solidFill>
            <a:srgbClr val="E8E8E8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20040" y="2496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43982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23160" y="2496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43982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46451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i="1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B8432040-6AFE-6C2C-5B68-D1A702CC9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1288"/>
            <a:ext cx="3705122" cy="3586368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177D46B-ECE7-6E49-ED59-748575560775}"/>
              </a:ext>
            </a:extLst>
          </p:cNvPr>
          <p:cNvSpPr txBox="1"/>
          <p:nvPr/>
        </p:nvSpPr>
        <p:spPr>
          <a:xfrm>
            <a:off x="3806282" y="1161288"/>
            <a:ext cx="5226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https://</a:t>
            </a:r>
            <a:r>
              <a:rPr lang="it-IT" dirty="0" err="1"/>
              <a:t>eavan.blog</a:t>
            </a:r>
            <a:r>
              <a:rPr lang="it-IT" dirty="0"/>
              <a:t>/posts/</a:t>
            </a:r>
            <a:r>
              <a:rPr lang="it-IT" dirty="0" err="1"/>
              <a:t>big-identity-sandpiles.html?utm_source</a:t>
            </a:r>
            <a:r>
              <a:rPr lang="it-IT" dirty="0"/>
              <a:t>=</a:t>
            </a:r>
            <a:r>
              <a:rPr lang="it-IT" dirty="0" err="1"/>
              <a:t>hnblogs.substack.com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A5D63AF-0974-344C-437F-35511DBB0DDE}"/>
              </a:ext>
            </a:extLst>
          </p:cNvPr>
          <p:cNvSpPr txBox="1"/>
          <p:nvPr/>
        </p:nvSpPr>
        <p:spPr>
          <a:xfrm>
            <a:off x="3705122" y="2504884"/>
            <a:ext cx="51667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linkClick r:id="rId4"/>
              </a:rPr>
              <a:t>https://higgsmass.medium.com/the-science-of-complexity-9940e0f902c1</a:t>
            </a:r>
            <a:endParaRPr lang="it-IT" dirty="0"/>
          </a:p>
          <a:p>
            <a:endParaRPr lang="it-IT" dirty="0"/>
          </a:p>
          <a:p>
            <a:r>
              <a:rPr lang="it-IT" dirty="0"/>
              <a:t>https://</a:t>
            </a:r>
            <a:r>
              <a:rPr lang="it-IT" dirty="0" err="1"/>
              <a:t>www.pawelmandera.com</a:t>
            </a:r>
            <a:r>
              <a:rPr lang="it-IT" dirty="0"/>
              <a:t>/2017/12/24/</a:t>
            </a:r>
            <a:r>
              <a:rPr lang="it-IT" dirty="0" err="1"/>
              <a:t>sandpile</a:t>
            </a:r>
            <a:r>
              <a:rPr lang="it-IT" dirty="0"/>
              <a:t>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structure of the identity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Levine &amp; Peres (2010)  ·  Caracciolo, Paoletti &amp; Sportiello (2008)  ·  Sadhu &amp; Dhar (2009)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4672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on N = 1000 grid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60520" cy="1627632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892040" y="1207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Self-similarity (Levine &amp; Peres 2010)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1554480"/>
            <a:ext cx="370332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892040" y="1627632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on a grid of size 2N is related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identity on a grid of size N by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scaling + superposition rule.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16352"/>
            <a:ext cx="4160520" cy="182880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892040" y="29718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dimension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3319272"/>
            <a:ext cx="370332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892040" y="33832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between regions of constant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has fractal dimension: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9319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d_f  ≈  1.21  ±  0.01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43159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(Ostojic 2003, numerical estimate)</a:t>
            </a:r>
            <a:endParaRPr lang="en-US" sz="1000" dirty="0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7FE30E74-3C73-F942-AC3D-5C4F4A080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0592"/>
            <a:ext cx="3855700" cy="38738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from abelian property to fractal identity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 (1990)  ·  Creutz (1991)  ·  Levine &amp; Peres (2010)  ·  Pegden &amp; Smart (2013)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097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33872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453896"/>
            <a:ext cx="8503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20040" y="157276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15727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Abelian property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state independent of toppling order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33872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 (1990)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8503920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20040" y="218541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Sandpile group  𝒢(Λ)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21854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Recurrent configs form a finite abelian group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33872" y="21854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 (1990), Björner et al. (1991)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679192"/>
            <a:ext cx="8503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20040" y="279806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27980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order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27980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|𝒢| = det Δ  (matrix-tree theorem)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33872" y="27980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Kirchhoff; Dhar (1990)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291840"/>
            <a:ext cx="8503920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20040" y="341071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34107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algorithm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4107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point of  σ ↦ (σ + σ_max)°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33872" y="34107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Creutz (1991)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904488"/>
            <a:ext cx="8503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320040" y="402336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" y="4023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identity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34640" y="4023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Self-similar pattern; d_f ≈ 1.21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33872" y="4023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Ostojic (2003); Levine &amp; Peres (2010)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517136"/>
            <a:ext cx="8503920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320040" y="463600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" y="46360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limit (PDE)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834640" y="4636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Odometer → obstacle PDE  Δu = −2·𝟏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33872" y="4636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Levine &amp; Peres (2010); Pegden &amp; Smart (2013)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874</Words>
  <Application>Microsoft Macintosh PowerPoint</Application>
  <PresentationFormat>Presentazione su schermo (16:9)</PresentationFormat>
  <Paragraphs>125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BTW Sandpile — Abelian Group &amp; Identity</dc:title>
  <dc:subject>PptxGenJS Presentation</dc:subject>
  <dc:creator>PptxGenJS</dc:creator>
  <cp:lastModifiedBy>Mirko Degli Esposti</cp:lastModifiedBy>
  <cp:revision>4</cp:revision>
  <dcterms:created xsi:type="dcterms:W3CDTF">2026-03-17T17:42:48Z</dcterms:created>
  <dcterms:modified xsi:type="dcterms:W3CDTF">2026-03-17T18:02:14Z</dcterms:modified>
</cp:coreProperties>
</file>