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190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BTW Sandpile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Mean Height  ⟨z⟩∞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578608"/>
            <a:ext cx="502920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simulation to spanning trees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Bak, Tang &amp; Wiesenfeld (1987)  ·  </a:t>
            </a: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Priezzhev (1994)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puzzle: simulation vs. naive estimate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Bak, Tang &amp; Wiesenfeld, Phys. Rev. Lett. 59, 381 (1987)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749040" cy="338328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329184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⟨z⟩sim ≈ 2.100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 grid, steady 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 z ∈ {0, 1, 2, 3}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boundary conditions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00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grain added per 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097280"/>
            <a:ext cx="3749040" cy="338328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257800" y="1261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estimate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57800" y="1572768"/>
            <a:ext cx="329184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2578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⟨z⟩naive = 1.5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0352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uniform distribution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all values {0, 1, 2, 3}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 + 1 + 2 + 3) / 4 = 1.5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all configs. are reachable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33088" y="2514600"/>
            <a:ext cx="877824" cy="2743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315968" y="221284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2062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configurations — Majumdar &amp; Dhar (1992)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Majumdar &amp; Dhar, Physica A 185, 129 (1992)  ·  FSC characterization theorem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352044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84632" y="12070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463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stationary distribution 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1031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over recurrent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5420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 ℛ  —  not over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9809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4^N² possible configs.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352044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410712" y="12070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configs. (FSC)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1071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41071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S of sites is forbidden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21031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site i∈S has z(i) &lt;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25420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neighbours of i in 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0712" y="29809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config. in ℛ contains an FSC.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2651760" cy="352044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336792" y="12070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heights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3679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33679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with many z=0 or z=1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6792" y="21031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 to be FSC 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6792" y="25420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ℛ.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29809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shifts toward z=2,3.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617720"/>
            <a:ext cx="8503920" cy="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no-FSC condition systematically excludes low-height configurations → ⟨z⟩ rises well above 1.5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— Formal definition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Dhar, Phys. Rev. Lett. 64, 1613 (1990)  ·  Majumdar &amp; Dhar, Physica A 185, 129 (1992)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(Forbidden Sub-Configuration)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57200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 S ⊆ Λ  is an FSC if and only if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 i ∈ S :  z(i) &lt; |{ j ∈ S : j ~ i }|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j ~ i  denotes lattice adjacency.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358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words: every site in S has fewer grains than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its neighbours that lie inside 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124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is recurrent ⟺ it contains no FSC.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051560"/>
            <a:ext cx="324612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779008" y="1207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test (Dhar 1990)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79008" y="1554480"/>
            <a:ext cx="283464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779008" y="1664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Add a sink node at the boundary.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79008" y="2331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Burn sites iteratively: burn 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if z(i) ≥ unburnt neighbours.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79008" y="29992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All burnt → recurrent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79008" y="366674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Remaining S unburnable → S is FSC 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— Examples on the 2D lattice  (z_crit = 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2D lattice each bulk site has 4 neighbours; boundary sites have 2 or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365760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 i },  z(i) =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08176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408176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01952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901952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2505456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14400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08176" y="2505456"/>
            <a:ext cx="475488" cy="475488"/>
          </a:xfrm>
          <a:prstGeom prst="rect">
            <a:avLst/>
          </a:prstGeom>
          <a:solidFill>
            <a:srgbClr val="EEFFEE"/>
          </a:solidFill>
          <a:ln w="19050">
            <a:solidFill>
              <a:srgbClr val="44AA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408176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4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01952" y="2505456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901952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14400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08176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408176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901952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901952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|{j ∈ S : j~i}|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z(i) = 0  &lt;  0  ?   NO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142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 an FSC — isolated site at 0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4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has no neighbours in 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1051560"/>
            <a:ext cx="2743200" cy="365760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324612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46120" y="1581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 i, j },  z(i)=z(j)=0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566160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59936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059936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53712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553712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566160" y="2505456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3566160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59936" y="2505456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4059936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53712" y="2505456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553712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566160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3566160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59936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4059936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53712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4553712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24612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|{j∈S:j~i}| = 1  for both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z(i)=0  &lt;  1  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z(j)=0  &lt;  1  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46120" y="4233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Minimal FSC on the 2D lattice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52160" y="1051560"/>
            <a:ext cx="2926080" cy="365760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598932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89320" y="1581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2×2 cluster,  z=1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27648" y="2011680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6327648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821424" y="2011680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821424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15200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7315200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27648" y="2505456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6327648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821424" y="2505456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6821424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315200" y="2505456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7315200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27648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6327648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821424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6821424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315200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7315200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989320" y="3611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Corner sites: 1 neighbour in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sites: 2 neighbours in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z=1  &lt;  2  ✓  for edge sites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989320" y="4233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Connected cluster is forbidden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trees &amp; Green's function — Priezzhev (1994)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Priezzhev, J. Stat. Phys. 74, 955 (1994)  ·  Dhar, Phys. Rev. Lett. 64, 1613 (1990)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97764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bijection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2044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ℛ  ←→  spanning trees of the graph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sink node at boundary (Dhar's theorem)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|ℛ| is computed via the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980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matrix-tree theorem: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|ℛ| = det 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6941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discrete Laplacian (Dirichlet boundary)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051560"/>
            <a:ext cx="434340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709160" y="12070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via Green's function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554480"/>
            <a:ext cx="388620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09160" y="1691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⟨z⟩ over ℛ is obtained by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9933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log det Δ w.r.t. an auxiliary field.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2951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involves Catalan's constant: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70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≈ 0.9159656  (Σ (-1)^k/(2k+1)²)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1455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height distributions: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456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P(z=1) P(z=2) P(z=3)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749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expressible in terms of G/π²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result and comparison with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Priezzhev (1994)  ·  Finite-size corrections O(1/N) from boundary sites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115568"/>
            <a:ext cx="4572000" cy="1417320"/>
          </a:xfrm>
          <a:prstGeom prst="rect">
            <a:avLst/>
          </a:prstGeom>
          <a:solidFill>
            <a:srgbClr val="F7F7F7"/>
          </a:solidFill>
          <a:ln w="1524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286000" y="12618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⟨z⟩∞ ≈ 2.125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8600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limit  N → ∞   (Priezzhev, 1994)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2651760" cy="210312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estimate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36392"/>
            <a:ext cx="2377440" cy="20117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distribution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{0,1,2,3}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4315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ignores 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697480"/>
            <a:ext cx="2651760" cy="210312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Priezzhev (1994)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3136392"/>
            <a:ext cx="2377440" cy="20117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383280" y="32186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10712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trees +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Green's function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4315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 (N→∞)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697480"/>
            <a:ext cx="2651760" cy="210312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136392"/>
            <a:ext cx="2377440" cy="20117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309360" y="32186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36792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 grid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6792" y="4315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finite-size effects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681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2.125 → 2.100 reflects O(1/N) corrections: boundary sites have ⟨z⟩ systematically lower than the bulk value.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depth — from statistical physics to combinatorics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 (1990)  ·  Majumdar &amp; Dhar (1992)  ·  Priezzhev (1994)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0040" y="1124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124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124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1124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124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481328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20040" y="160934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argument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609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 &gt; 0, stationary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6093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6093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fix ⟨z⟩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139696"/>
            <a:ext cx="850392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20040" y="226771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dist. over {0..3}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22677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 = 1.5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267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267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ignores 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798064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20040" y="292608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2926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No-FSC condition (Majumdar-Dhar)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 &gt; 1.5, pushed upward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456432"/>
            <a:ext cx="850392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20040" y="358444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3584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trees + Green's function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3584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⟨z⟩∞ ≈ 2.125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584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584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(Priezzhev 1994)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114800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20040" y="424281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" y="4242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simulation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08960" y="4242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 ≈ 2.100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42428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2428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size N=100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Microsoft Macintosh PowerPoint</Application>
  <PresentationFormat>Presentazione su schermo (16:9)</PresentationFormat>
  <Paragraphs>177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BTW Sandpile — Steady-State Mean Height</dc:title>
  <dc:subject>PptxGenJS Presentation</dc:subject>
  <dc:creator>PptxGenJS</dc:creator>
  <cp:lastModifiedBy>Mirko Degli Esposti</cp:lastModifiedBy>
  <cp:revision>1</cp:revision>
  <dcterms:created xsi:type="dcterms:W3CDTF">2026-03-17T14:25:13Z</dcterms:created>
  <dcterms:modified xsi:type="dcterms:W3CDTF">2026-03-17T17:42:21Z</dcterms:modified>
</cp:coreProperties>
</file>